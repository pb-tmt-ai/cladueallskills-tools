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8"/>
  </p:sldIdLst>
  <p:sldSz cx="18288000" cy="10287000"/>
  <p:notesSz cx="6858000" cy="9144000"/>
  <p:embeddedFontLst>
    <p:embeddedFont>
      <p:font typeface="TT Interphases" charset="1" panose="02000503020000020004"/>
      <p:regular r:id="rId23"/>
    </p:embeddedFont>
    <p:embeddedFont>
      <p:font typeface="Cooper BT Light" charset="1" panose="0208050304030B020404"/>
      <p:regular r:id="rId24"/>
    </p:embeddedFont>
    <p:embeddedFont>
      <p:font typeface="TT Interphases Bold" charset="1" panose="02000803060000020004"/>
      <p:regular r:id="rId25"/>
    </p:embeddedFont>
    <p:embeddedFont>
      <p:font typeface="Cooper BT Medium" charset="1" panose="0208060305030B020404"/>
      <p:regular r:id="rId26"/>
    </p:embeddedFont>
    <p:embeddedFont>
      <p:font typeface="Cooper BT Bold" charset="1" panose="0208080404030B02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3941499"/>
            <a:chOff x="0" y="0"/>
            <a:chExt cx="11099800" cy="52553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7371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Strategic Analysis for Financial Services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4056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India GCC Landscape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[Professional Title]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 Name]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India hosts over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1800 GCCs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employing approximately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1.9 million professionals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generating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$65 billion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revenue, establishing itself as a key player in the global financial services landscape.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GCC Market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7917" y="828675"/>
            <a:ext cx="14055058" cy="2206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Location Comparison: Four Hubs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6390808"/>
            <a:ext cx="4010025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Pune boasts the highest retention rates and exceptional graduate employability at 84%, ensuring a skilled workforce that meets the demands of evolving financial services.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05400"/>
            <a:ext cx="40100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Talent Pool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6390754"/>
            <a:ext cx="3971925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Hyderabad offers competitive rents that are 20-30% lower than Bangalore, attracting new GCCs and fostering rapid growth in the region's financial services sector.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05454"/>
            <a:ext cx="39719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Cost Efficiency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6390808"/>
            <a:ext cx="4010025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Bangalore leads with 42% of the market share, hosting major financial institutions and a robust ecosystem for GCC operations, making it a top choice for investment.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05400"/>
            <a:ext cx="40100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Market Share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5027295"/>
            <a:chOff x="0" y="0"/>
            <a:chExt cx="11099800" cy="67030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1435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Bangalore is home to over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870 GCCs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commands a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42% market share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India's financial services, attracting major players like Goldman Sachs and JP Morgan.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4950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Bangalore: Established Leader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Hyderabad has become a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thriving hub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GCCs, attracting investments with competitive rents and rapid establishment of new centers, positioning itself as a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formidable challenger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the financial services landscape.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Hyderabad: Fastest Growing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827145"/>
            <a:chOff x="0" y="0"/>
            <a:chExt cx="11099800" cy="51028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Pune has over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250 GCCs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renowned for their exceptional retention rates and an impressive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84% graduate employability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making it a prime location for engineering talent in India.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Pune: High Retention Hub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Delhi NCR stands as a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financial services powerhouse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boasting over 300 GCCs, the best international airport, and an extensive 394 km metro network ensuring seamless connectivity across the region.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Delhi NCR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Hub and Spoke Model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emphasizes Bangalore and Hyderabad as primary hubs, ensuring operational resilience and efficient resource allocation across connected centers for financial services.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Strategic Location Model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2E86C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2E86C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19150"/>
            <a:ext cx="14077950" cy="21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GCC Model vs Third-Party Providers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3207946"/>
            <a:chOff x="0" y="0"/>
            <a:chExt cx="7670800" cy="42772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GCC model offers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greater cost efficiency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through direct management of operational expenses, enabling organizations to maintain tighter budget control compared to third-party service providers.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7670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Cost Control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3207946"/>
            <a:chOff x="0" y="0"/>
            <a:chExt cx="7607012" cy="42772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GCCs are positioned to foster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greater innovation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leveraging in-house talent and resources to accelerate development cycles and enhance technological capabilities, unlike third-party providers with limited integration.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760701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Innovation Capacity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2817495"/>
            <a:chOff x="0" y="0"/>
            <a:chExt cx="7264400" cy="3756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GCC model achieves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breakeven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within 2 to 3 years, enabling organizations to recover initial investments quickly while establishing a stable operational foundation.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0F3F5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Breakeven Timeline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5448300" cy="3208020"/>
            <a:chOff x="0" y="0"/>
            <a:chExt cx="7264400" cy="42773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726440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Following breakeven, companies can expect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annual cost reductions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approximately 20 percent, significantly enhancing financial performance and resource allocation for innovation and growth.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0F3F5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Cost Decline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5448300" cy="2817495"/>
            <a:chOff x="0" y="0"/>
            <a:chExt cx="7264400" cy="37566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GCC operations tend to generate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3.2x more patents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compared to traditional models, fostering a culture of innovation that drives competitive advantage and long-term sustainability.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0F3F5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Innovation Output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2639675" cy="1790700"/>
            <a:chOff x="0" y="0"/>
            <a:chExt cx="16852900" cy="2387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69440"/>
              <a:ext cx="168529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Strategic Advantages of the GCC Model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61925"/>
              <a:ext cx="16852900" cy="156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Long-Term Value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104761"/>
            <a:ext cx="9763125" cy="3846361"/>
            <a:chOff x="0" y="0"/>
            <a:chExt cx="13017500" cy="512848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048221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analyzes the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strategic risks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associated with third-party providers, highlighting the significant impact of outsourcing failures and data breaches on financial services organizations.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Third-Party Risks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373AD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4032251"/>
            <a:chOff x="0" y="0"/>
            <a:chExt cx="9182100" cy="537633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858175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Emphasizing a Hybrid Approach Strategy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52400"/>
              <a:ext cx="9182100" cy="431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50"/>
                </a:lnSpc>
                <a:spcBef>
                  <a:spcPct val="0"/>
                </a:spcBef>
              </a:pPr>
              <a:r>
                <a:rPr lang="en-US" sz="8250" spc="-165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Recommended Operating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Core Functions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Centralizing critical operations within the GCC framework.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1294130"/>
            <a:chOff x="0" y="0"/>
            <a:chExt cx="9182100" cy="1725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BOT Adoption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Increasing Build-Operate-Transfer models for efficiency gains.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Cost Control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Implementing strict budget management for resource optimization.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Talent Utilization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Enhancing skills through targeted training and development programs.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373AD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048001"/>
            <a:chOff x="0" y="0"/>
            <a:chExt cx="9182100" cy="40640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Addressing the Talent Acquisition Challenge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1925"/>
              <a:ext cx="9182100" cy="29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GCC Branding &amp; EVP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903605"/>
            <a:chOff x="0" y="0"/>
            <a:chExt cx="9182100" cy="12048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Talent Sourcing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60% of GCC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hiring is from other GCCs.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903605"/>
            <a:chOff x="0" y="0"/>
            <a:chExt cx="9182100" cy="12048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 &amp; ML Demand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Current AI/ML supply meets only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49%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demand.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Employee Retention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High turnover rates affect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operational stability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significantly.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Competitive Advantage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strong EVP increases </a:t>
              </a: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attraction and retention</a:t>
              </a: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talent.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886" y="6666563"/>
            <a:ext cx="8323430" cy="2953687"/>
            <a:chOff x="0" y="0"/>
            <a:chExt cx="2192179" cy="777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179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179">
                  <a:moveTo>
                    <a:pt x="37205" y="0"/>
                  </a:moveTo>
                  <a:lnTo>
                    <a:pt x="2154974" y="0"/>
                  </a:lnTo>
                  <a:cubicBezTo>
                    <a:pt x="2164841" y="0"/>
                    <a:pt x="2174305" y="3920"/>
                    <a:pt x="2181282" y="10897"/>
                  </a:cubicBezTo>
                  <a:cubicBezTo>
                    <a:pt x="2188259" y="17875"/>
                    <a:pt x="2192179" y="27338"/>
                    <a:pt x="2192179" y="37205"/>
                  </a:cubicBezTo>
                  <a:lnTo>
                    <a:pt x="2192179" y="740720"/>
                  </a:lnTo>
                  <a:cubicBezTo>
                    <a:pt x="2192179" y="750588"/>
                    <a:pt x="2188259" y="760051"/>
                    <a:pt x="2181282" y="767029"/>
                  </a:cubicBezTo>
                  <a:cubicBezTo>
                    <a:pt x="2174305" y="774006"/>
                    <a:pt x="2164841" y="777926"/>
                    <a:pt x="2154974" y="777926"/>
                  </a:cubicBezTo>
                  <a:lnTo>
                    <a:pt x="37205" y="777926"/>
                  </a:lnTo>
                  <a:cubicBezTo>
                    <a:pt x="16657" y="777926"/>
                    <a:pt x="0" y="761268"/>
                    <a:pt x="0" y="740720"/>
                  </a:cubicBezTo>
                  <a:lnTo>
                    <a:pt x="0" y="37205"/>
                  </a:lnTo>
                  <a:cubicBezTo>
                    <a:pt x="0" y="16657"/>
                    <a:pt x="16657" y="0"/>
                    <a:pt x="37205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179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6563"/>
            <a:ext cx="8324850" cy="2953687"/>
            <a:chOff x="0" y="0"/>
            <a:chExt cx="2192553" cy="777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40727"/>
                  </a:lnTo>
                  <a:cubicBezTo>
                    <a:pt x="2192553" y="750592"/>
                    <a:pt x="2188634" y="760054"/>
                    <a:pt x="2181658" y="767030"/>
                  </a:cubicBezTo>
                  <a:cubicBezTo>
                    <a:pt x="2174682" y="774007"/>
                    <a:pt x="2165220" y="777926"/>
                    <a:pt x="2155354" y="777926"/>
                  </a:cubicBezTo>
                  <a:lnTo>
                    <a:pt x="37199" y="777926"/>
                  </a:lnTo>
                  <a:cubicBezTo>
                    <a:pt x="27333" y="777926"/>
                    <a:pt x="17872" y="774007"/>
                    <a:pt x="10895" y="767030"/>
                  </a:cubicBezTo>
                  <a:cubicBezTo>
                    <a:pt x="3919" y="760054"/>
                    <a:pt x="0" y="750592"/>
                    <a:pt x="0" y="74072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7016" y="3352800"/>
            <a:ext cx="5448300" cy="2953687"/>
            <a:chOff x="0" y="0"/>
            <a:chExt cx="1434943" cy="7779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1296" y="3352800"/>
            <a:ext cx="5448300" cy="2953687"/>
            <a:chOff x="0" y="0"/>
            <a:chExt cx="1434943" cy="7779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52800"/>
            <a:ext cx="5448300" cy="2953687"/>
            <a:chOff x="0" y="0"/>
            <a:chExt cx="1434943" cy="7779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2396" y="3751897"/>
            <a:ext cx="4695294" cy="42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4" strike="noStrike" u="none">
                <a:solidFill>
                  <a:srgbClr val="2E86C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Clear Value Proposition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4109" y="5105400"/>
            <a:ext cx="4693581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Clearly articulate the unique value offered to employees.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109" y="7065661"/>
            <a:ext cx="7571844" cy="42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4" strike="noStrike" u="none">
                <a:solidFill>
                  <a:srgbClr val="2E86C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Work-Life Balance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399161"/>
            <a:ext cx="744835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Promote policies that support flexibility and employee well-being.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0346" y="5105400"/>
            <a:ext cx="475137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Provide structured pathways for career progression and growth.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6025" y="3772852"/>
            <a:ext cx="4745694" cy="85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4" strike="noStrike" u="none">
                <a:solidFill>
                  <a:srgbClr val="2E86C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Career Development Opportunities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2102" y="8399161"/>
            <a:ext cx="744835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Implement programs to acknowledge and reward employee contributions.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2102" y="7065661"/>
            <a:ext cx="5093571" cy="42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4" strike="noStrike" u="none">
                <a:solidFill>
                  <a:srgbClr val="2E86C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Recognition and Rewards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4921" y="3751897"/>
            <a:ext cx="4684379" cy="42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4" strike="noStrike" u="none">
                <a:solidFill>
                  <a:srgbClr val="2E86C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Inclusive Culture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6346" y="4714875"/>
            <a:ext cx="4712954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Foster a diverse workplace that values all perspectives and backgrounds.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5025" y="828675"/>
            <a:ext cx="1407795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Building a Compelling EVP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886" y="6666563"/>
            <a:ext cx="8323430" cy="2953687"/>
            <a:chOff x="0" y="0"/>
            <a:chExt cx="2192179" cy="777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179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179">
                  <a:moveTo>
                    <a:pt x="37205" y="0"/>
                  </a:moveTo>
                  <a:lnTo>
                    <a:pt x="2154974" y="0"/>
                  </a:lnTo>
                  <a:cubicBezTo>
                    <a:pt x="2164841" y="0"/>
                    <a:pt x="2174305" y="3920"/>
                    <a:pt x="2181282" y="10897"/>
                  </a:cubicBezTo>
                  <a:cubicBezTo>
                    <a:pt x="2188259" y="17875"/>
                    <a:pt x="2192179" y="27338"/>
                    <a:pt x="2192179" y="37205"/>
                  </a:cubicBezTo>
                  <a:lnTo>
                    <a:pt x="2192179" y="740720"/>
                  </a:lnTo>
                  <a:cubicBezTo>
                    <a:pt x="2192179" y="750588"/>
                    <a:pt x="2188259" y="760051"/>
                    <a:pt x="2181282" y="767029"/>
                  </a:cubicBezTo>
                  <a:cubicBezTo>
                    <a:pt x="2174305" y="774006"/>
                    <a:pt x="2164841" y="777926"/>
                    <a:pt x="2154974" y="777926"/>
                  </a:cubicBezTo>
                  <a:lnTo>
                    <a:pt x="37205" y="777926"/>
                  </a:lnTo>
                  <a:cubicBezTo>
                    <a:pt x="16657" y="777926"/>
                    <a:pt x="0" y="761268"/>
                    <a:pt x="0" y="740720"/>
                  </a:cubicBezTo>
                  <a:lnTo>
                    <a:pt x="0" y="37205"/>
                  </a:lnTo>
                  <a:cubicBezTo>
                    <a:pt x="0" y="16657"/>
                    <a:pt x="16657" y="0"/>
                    <a:pt x="37205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179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6563"/>
            <a:ext cx="8324850" cy="2953687"/>
            <a:chOff x="0" y="0"/>
            <a:chExt cx="2192553" cy="777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40727"/>
                  </a:lnTo>
                  <a:cubicBezTo>
                    <a:pt x="2192553" y="750592"/>
                    <a:pt x="2188634" y="760054"/>
                    <a:pt x="2181658" y="767030"/>
                  </a:cubicBezTo>
                  <a:cubicBezTo>
                    <a:pt x="2174682" y="774007"/>
                    <a:pt x="2165220" y="777926"/>
                    <a:pt x="2155354" y="777926"/>
                  </a:cubicBezTo>
                  <a:lnTo>
                    <a:pt x="37199" y="777926"/>
                  </a:lnTo>
                  <a:cubicBezTo>
                    <a:pt x="27333" y="777926"/>
                    <a:pt x="17872" y="774007"/>
                    <a:pt x="10895" y="767030"/>
                  </a:cubicBezTo>
                  <a:cubicBezTo>
                    <a:pt x="3919" y="760054"/>
                    <a:pt x="0" y="750592"/>
                    <a:pt x="0" y="74072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7016" y="3352800"/>
            <a:ext cx="5448300" cy="2953687"/>
            <a:chOff x="0" y="0"/>
            <a:chExt cx="1434943" cy="7779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1296" y="3352800"/>
            <a:ext cx="5448300" cy="2953687"/>
            <a:chOff x="0" y="0"/>
            <a:chExt cx="1434943" cy="7779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52800"/>
            <a:ext cx="5448300" cy="2953687"/>
            <a:chOff x="0" y="0"/>
            <a:chExt cx="1434943" cy="7779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0F3F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2396" y="3742372"/>
            <a:ext cx="46952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Employee Advocacy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4109" y="4752403"/>
            <a:ext cx="4693581" cy="11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Engaging employees to promote the brand enhances credibility and reach.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109" y="7056136"/>
            <a:ext cx="757184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Customer Experience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427164"/>
            <a:ext cx="7448355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Positive experiences lead to brand loyalty and favorable word-of-mouth.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0346" y="4752403"/>
            <a:ext cx="4751374" cy="11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Clear, uniform messages across platforms reinforce brand identity and values.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6025" y="3763327"/>
            <a:ext cx="474569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Consistent Messaging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2102" y="8427164"/>
            <a:ext cx="7448355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Active participation in community initiatives strengthens brand reputation and loyalty.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2102" y="7056136"/>
            <a:ext cx="50935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Community Engagement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4921" y="3742372"/>
            <a:ext cx="468437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E86C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Visual Identity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6346" y="4752403"/>
            <a:ext cx="4712954" cy="11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2E86C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Strong visual elements cultivate recognition and trust among stakeholders.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5025" y="809625"/>
            <a:ext cx="14077950" cy="201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6"/>
              </a:lnSpc>
              <a:spcBef>
                <a:spcPct val="0"/>
              </a:spcBef>
            </a:pPr>
            <a:r>
              <a:rPr lang="en-US" sz="7756" spc="-155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Strengthening Branding Strategies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86C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86C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2E86C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28675"/>
            <a:ext cx="16952821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Case Studies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3931808"/>
            <a:chOff x="0" y="0"/>
            <a:chExt cx="3429000" cy="52424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Goldman Sachs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203551"/>
              <a:ext cx="34290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Over 9,000 employees in India.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3827071"/>
            <a:chOff x="0" y="0"/>
            <a:chExt cx="3429000" cy="51027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39900"/>
              <a:ext cx="34290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JP Morgan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54320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Home to over 50,000 professionals.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3827219"/>
            <a:chOff x="0" y="0"/>
            <a:chExt cx="3429000" cy="51029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39900"/>
              <a:ext cx="34290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0F3F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Barclays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5433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Employing more than 14,000 individuals.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3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28675"/>
            <a:ext cx="8324850" cy="328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0F3F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 Recommendations &amp; Sources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143500"/>
            <a:ext cx="8324850" cy="1285875"/>
            <a:chOff x="0" y="0"/>
            <a:chExt cx="11099800" cy="17145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1. Optimize Multi-City Location Strategy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75640"/>
              <a:ext cx="110998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Hub-and-spoke model: Bangalore/Hyderabad primary + Pune/Delhi NCR satellite centers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934200"/>
            <a:ext cx="8324850" cy="1285875"/>
            <a:chOff x="0" y="0"/>
            <a:chExt cx="11099800" cy="17145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2. Establish GCC with Hybrid Operating Model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75640"/>
              <a:ext cx="110998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GCC for core strategic functions + selective outsourcing via BOT model for speed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8724900"/>
            <a:ext cx="8324850" cy="1676400"/>
            <a:chOff x="0" y="0"/>
            <a:chExt cx="11099800" cy="22352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0F3F5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3. Invest in Differentiated EVP &amp; Employer Brand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7564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0F3F5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Sources: Zinnov, NASSCOM, ANSR, McKinsey, EY, Gartner, Everest Group, JLL, CBRE, Aon, Mercer, Deloitte, Randstad, Colliers, Karat, FINMA, Securiti (44 references)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476250"/>
            <a:ext cx="9525000" cy="4812030"/>
            <a:chOff x="0" y="0"/>
            <a:chExt cx="12700000" cy="64160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1099800" cy="600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sz="3000">
                  <a:solidFill>
                    <a:srgbClr val="FFFFF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Sources and References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23950"/>
              <a:ext cx="12700000" cy="5292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GCC Landscape &amp; Market: Zinnov (zinnov.com) | NASSCOM (nasscom.in) | ANSR (ansr.com) | Everest Group (everestgrp.com) | Flexiple (flexiple.com) | JLL (jll.com) | CBRE (cbre.co.in)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Strategy &amp; Innovation: McKinsey (mckinsey.com) | EY (ey.com) | Deloitte (deloitte.com)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Salary &amp; Compensation: Aon (aon.com) | Mercer (mercer.com) | AIM Research (aimresearch.co) | Zyoin (zyoin.com)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Branding &amp; EVP: Gartner (gartner.com) | SPAG FINN Partners (spag.asia) | ANSR (ansr.com) | Randstad REBR 2025 (randstad.in) | Universum (universumglobal.com) | AIHR (aihr.com)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Real Estate: Anarock (anarock.com) | Brigade Group (brigadegroup.com) | Cushman &amp; Wakefield (cushmanwakefield.com)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Talent: Colliers (colliers.com) | Karat (karat.com) | Careernet (careernet.in) | Taggd (taggd.in) | Gallup (gallup.com)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Government Policies: Karnataka GCC Policy 2024-2029 | Telangana ICT Policy 2021-2026 | Maharashtra GCC Policy 2025 | UP GCC Policy 2024 | Haryana GCC Policy 2025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Regulatory: Securiti (securiti.ai) | FINMA (finma.ch) | Cyria Amarchand Mangaldas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Case Studies: Goldman Sachs (goldmansachs.com) | JP Morgan (jpmorgan.com) | Deutsche Bank (db.com) | Barclays (barclays.bank.in)</a:t>
              </a:r>
            </a:p>
            <a:p>
              <a:pPr algn="l" marL="0" indent="0" lvl="0">
                <a:lnSpc>
                  <a:spcPts val="1470"/>
                </a:lnSpc>
              </a:pPr>
            </a:p>
            <a:p>
              <a:pPr algn="l" marL="0" indent="0" lvl="0">
                <a:lnSpc>
                  <a:spcPts val="1470"/>
                </a:lnSpc>
              </a:pPr>
              <a:r>
                <a:rPr lang="en-US" sz="1050">
                  <a:solidFill>
                    <a:srgbClr val="DDDDDD"/>
                  </a:solidFill>
                  <a:latin typeface="DM Sans"/>
                  <a:ea typeface="DM Sans"/>
                  <a:cs typeface="DM Sans"/>
                  <a:sym typeface="DM Sans"/>
                </a:rPr>
                <a:t>Quality of Life: Mercer QoL Ranking 2024 | Numbeo (numbeo.com)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India GCC Landscape</dc:description>
  <dc:identifier>DAHDQoIaZo4</dc:identifier>
  <dcterms:modified xsi:type="dcterms:W3CDTF">2011-08-01T06:04:30Z</dcterms:modified>
  <cp:revision>1</cp:revision>
  <dc:title>Presentation - India GCC Landscape</dc:title>
</cp:coreProperties>
</file>