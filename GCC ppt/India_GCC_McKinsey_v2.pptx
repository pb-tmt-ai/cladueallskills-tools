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32720" cy="1097280"/>
          </a:xfrm>
          <a:prstGeom prst="rect">
            <a:avLst/>
          </a:prstGeom>
          <a:noFill/>
        </p:spPr>
        <p:txBody>
          <a:bodyPr wrap="square">
            <a:spAutoFit/>
          </a:bodyPr>
          <a:lstStyle/>
          <a:p>
            <a:pPr algn="l">
              <a:lnSpc>
                <a:spcPts val="4600"/>
              </a:lnSpc>
              <a:spcAft>
                <a:spcPts val="0"/>
              </a:spcAft>
              <a:defRPr sz="4000" b="1">
                <a:solidFill>
                  <a:srgbClr val="FFFFFF"/>
                </a:solidFill>
                <a:latin typeface="Arial"/>
              </a:defRPr>
            </a:pPr>
            <a:r>
              <a:t>India GCC Landscape</a:t>
            </a:r>
          </a:p>
        </p:txBody>
      </p:sp>
      <p:sp>
        <p:nvSpPr>
          <p:cNvPr id="5" name="TextBox 4"/>
          <p:cNvSpPr txBox="1"/>
          <p:nvPr/>
        </p:nvSpPr>
        <p:spPr>
          <a:xfrm>
            <a:off x="914400" y="3017520"/>
            <a:ext cx="10332720" cy="731520"/>
          </a:xfrm>
          <a:prstGeom prst="rect">
            <a:avLst/>
          </a:prstGeom>
          <a:noFill/>
        </p:spPr>
        <p:txBody>
          <a:bodyPr wrap="square">
            <a:spAutoFit/>
          </a:bodyPr>
          <a:lstStyle/>
          <a:p>
            <a:pPr algn="l">
              <a:lnSpc>
                <a:spcPts val="3219"/>
              </a:lnSpc>
              <a:spcAft>
                <a:spcPts val="0"/>
              </a:spcAft>
              <a:defRPr sz="2800" b="0">
                <a:solidFill>
                  <a:srgbClr val="E84D0E"/>
                </a:solidFill>
                <a:latin typeface="Arial"/>
              </a:defRPr>
            </a:pPr>
            <a:r>
              <a:t>Strategic Analysis for Financial Services</a:t>
            </a:r>
          </a:p>
        </p:txBody>
      </p:sp>
      <p:sp>
        <p:nvSpPr>
          <p:cNvPr id="6" name="TextBox 5"/>
          <p:cNvSpPr txBox="1"/>
          <p:nvPr/>
        </p:nvSpPr>
        <p:spPr>
          <a:xfrm>
            <a:off x="914400" y="4114800"/>
            <a:ext cx="9144000" cy="731520"/>
          </a:xfrm>
          <a:prstGeom prst="rect">
            <a:avLst/>
          </a:prstGeom>
          <a:noFill/>
        </p:spPr>
        <p:txBody>
          <a:bodyPr wrap="square">
            <a:spAutoFit/>
          </a:bodyPr>
          <a:lstStyle/>
          <a:p>
            <a:pPr algn="l">
              <a:lnSpc>
                <a:spcPts val="1609"/>
              </a:lnSpc>
              <a:spcAft>
                <a:spcPts val="0"/>
              </a:spcAft>
              <a:defRPr sz="1400" b="0">
                <a:solidFill>
                  <a:srgbClr val="AAAAAA"/>
                </a:solidFill>
                <a:latin typeface="Arial"/>
              </a:defRPr>
            </a:pPr>
            <a:r>
              <a:t>Location Strategy  |  Operating Model  |  Talent Playbook</a:t>
            </a:r>
          </a:p>
        </p:txBody>
      </p:sp>
      <p:sp>
        <p:nvSpPr>
          <p:cNvPr id="7" name="TextBox 6"/>
          <p:cNvSpPr txBox="1"/>
          <p:nvPr/>
        </p:nvSpPr>
        <p:spPr>
          <a:xfrm>
            <a:off x="914400" y="5303520"/>
            <a:ext cx="9144000" cy="365760"/>
          </a:xfrm>
          <a:prstGeom prst="rect">
            <a:avLst/>
          </a:prstGeom>
          <a:noFill/>
        </p:spPr>
        <p:txBody>
          <a:bodyPr wrap="square">
            <a:spAutoFit/>
          </a:bodyPr>
          <a:lstStyle/>
          <a:p>
            <a:pPr algn="l">
              <a:lnSpc>
                <a:spcPts val="1264"/>
              </a:lnSpc>
              <a:spcAft>
                <a:spcPts val="0"/>
              </a:spcAft>
              <a:defRPr sz="1100" b="0">
                <a:solidFill>
                  <a:srgbClr val="888888"/>
                </a:solidFill>
                <a:latin typeface="Arial"/>
              </a:defRPr>
            </a:pPr>
            <a:r>
              <a:t>Board-Ready Strategy Document  |  2025-2026 Decision Window</a:t>
            </a:r>
          </a:p>
        </p:txBody>
      </p:sp>
      <p:sp>
        <p:nvSpPr>
          <p:cNvPr id="8" name="Rectangle 7"/>
          <p:cNvSpPr/>
          <p:nvPr/>
        </p:nvSpPr>
        <p:spPr>
          <a:xfrm>
            <a:off x="0" y="6784848"/>
            <a:ext cx="12191695" cy="73152"/>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0" y="6446520"/>
            <a:ext cx="914400" cy="274320"/>
          </a:xfrm>
          <a:prstGeom prst="rect">
            <a:avLst/>
          </a:prstGeom>
          <a:noFill/>
        </p:spPr>
        <p:txBody>
          <a:bodyPr wrap="square">
            <a:spAutoFit/>
          </a:bodyPr>
          <a:lstStyle/>
          <a:p>
            <a:pPr algn="r">
              <a:lnSpc>
                <a:spcPts val="919"/>
              </a:lnSpc>
              <a:spcAft>
                <a:spcPts val="0"/>
              </a:spcAft>
              <a:defRPr sz="800" b="1">
                <a:solidFill>
                  <a:srgbClr val="888888"/>
                </a:solidFill>
                <a:latin typeface="Aria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ACT I: THE OPPORTUNITY</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The India GCC Market Has Reached an Inflection Point</a:t>
            </a:r>
          </a:p>
        </p:txBody>
      </p:sp>
      <p:sp>
        <p:nvSpPr>
          <p:cNvPr id="4" name="TextBox 3"/>
          <p:cNvSpPr txBox="1"/>
          <p:nvPr/>
        </p:nvSpPr>
        <p:spPr>
          <a:xfrm>
            <a:off x="548640" y="1280160"/>
            <a:ext cx="2011680" cy="640080"/>
          </a:xfrm>
          <a:prstGeom prst="rect">
            <a:avLst/>
          </a:prstGeom>
          <a:noFill/>
        </p:spPr>
        <p:txBody>
          <a:bodyPr wrap="square">
            <a:spAutoFit/>
          </a:bodyPr>
          <a:lstStyle/>
          <a:p>
            <a:pPr algn="ctr">
              <a:lnSpc>
                <a:spcPts val="3679"/>
              </a:lnSpc>
              <a:spcAft>
                <a:spcPts val="0"/>
              </a:spcAft>
              <a:defRPr sz="3200" b="1">
                <a:solidFill>
                  <a:srgbClr val="E84D0E"/>
                </a:solidFill>
                <a:latin typeface="Arial"/>
              </a:defRPr>
            </a:pPr>
            <a:r>
              <a:t>1,800+</a:t>
            </a:r>
          </a:p>
        </p:txBody>
      </p:sp>
      <p:sp>
        <p:nvSpPr>
          <p:cNvPr id="5" name="TextBox 4"/>
          <p:cNvSpPr txBox="1"/>
          <p:nvPr/>
        </p:nvSpPr>
        <p:spPr>
          <a:xfrm>
            <a:off x="548640" y="18288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GCCs in India</a:t>
            </a:r>
          </a:p>
        </p:txBody>
      </p:sp>
      <p:sp>
        <p:nvSpPr>
          <p:cNvPr id="6" name="TextBox 5"/>
          <p:cNvSpPr txBox="1"/>
          <p:nvPr/>
        </p:nvSpPr>
        <p:spPr>
          <a:xfrm>
            <a:off x="2468880" y="1280160"/>
            <a:ext cx="2011680" cy="640080"/>
          </a:xfrm>
          <a:prstGeom prst="rect">
            <a:avLst/>
          </a:prstGeom>
          <a:noFill/>
        </p:spPr>
        <p:txBody>
          <a:bodyPr wrap="square">
            <a:spAutoFit/>
          </a:bodyPr>
          <a:lstStyle/>
          <a:p>
            <a:pPr algn="ctr">
              <a:lnSpc>
                <a:spcPts val="3679"/>
              </a:lnSpc>
              <a:spcAft>
                <a:spcPts val="0"/>
              </a:spcAft>
              <a:defRPr sz="3200" b="1">
                <a:solidFill>
                  <a:srgbClr val="E84D0E"/>
                </a:solidFill>
                <a:latin typeface="Arial"/>
              </a:defRPr>
            </a:pPr>
            <a:r>
              <a:t>$65B</a:t>
            </a:r>
          </a:p>
        </p:txBody>
      </p:sp>
      <p:sp>
        <p:nvSpPr>
          <p:cNvPr id="7" name="TextBox 6"/>
          <p:cNvSpPr txBox="1"/>
          <p:nvPr/>
        </p:nvSpPr>
        <p:spPr>
          <a:xfrm>
            <a:off x="2468880" y="18288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Annual Revenue</a:t>
            </a:r>
          </a:p>
        </p:txBody>
      </p:sp>
      <p:sp>
        <p:nvSpPr>
          <p:cNvPr id="8" name="TextBox 7"/>
          <p:cNvSpPr txBox="1"/>
          <p:nvPr/>
        </p:nvSpPr>
        <p:spPr>
          <a:xfrm>
            <a:off x="4389120" y="1280160"/>
            <a:ext cx="2011680" cy="640080"/>
          </a:xfrm>
          <a:prstGeom prst="rect">
            <a:avLst/>
          </a:prstGeom>
          <a:noFill/>
        </p:spPr>
        <p:txBody>
          <a:bodyPr wrap="square">
            <a:spAutoFit/>
          </a:bodyPr>
          <a:lstStyle/>
          <a:p>
            <a:pPr algn="ctr">
              <a:lnSpc>
                <a:spcPts val="3679"/>
              </a:lnSpc>
              <a:spcAft>
                <a:spcPts val="0"/>
              </a:spcAft>
              <a:defRPr sz="3200" b="1">
                <a:solidFill>
                  <a:srgbClr val="E84D0E"/>
                </a:solidFill>
                <a:latin typeface="Arial"/>
              </a:defRPr>
            </a:pPr>
            <a:r>
              <a:t>230+</a:t>
            </a:r>
          </a:p>
        </p:txBody>
      </p:sp>
      <p:sp>
        <p:nvSpPr>
          <p:cNvPr id="9" name="TextBox 8"/>
          <p:cNvSpPr txBox="1"/>
          <p:nvPr/>
        </p:nvSpPr>
        <p:spPr>
          <a:xfrm>
            <a:off x="4389120" y="18288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BFSI GCCs</a:t>
            </a:r>
          </a:p>
        </p:txBody>
      </p:sp>
      <p:sp>
        <p:nvSpPr>
          <p:cNvPr id="10" name="TextBox 9"/>
          <p:cNvSpPr txBox="1"/>
          <p:nvPr/>
        </p:nvSpPr>
        <p:spPr>
          <a:xfrm>
            <a:off x="6309360" y="1280160"/>
            <a:ext cx="2011680" cy="640080"/>
          </a:xfrm>
          <a:prstGeom prst="rect">
            <a:avLst/>
          </a:prstGeom>
          <a:noFill/>
        </p:spPr>
        <p:txBody>
          <a:bodyPr wrap="square">
            <a:spAutoFit/>
          </a:bodyPr>
          <a:lstStyle/>
          <a:p>
            <a:pPr algn="ctr">
              <a:lnSpc>
                <a:spcPts val="3679"/>
              </a:lnSpc>
              <a:spcAft>
                <a:spcPts val="0"/>
              </a:spcAft>
              <a:defRPr sz="3200" b="1">
                <a:solidFill>
                  <a:srgbClr val="E84D0E"/>
                </a:solidFill>
                <a:latin typeface="Arial"/>
              </a:defRPr>
            </a:pPr>
            <a:r>
              <a:t>$40.4B</a:t>
            </a:r>
          </a:p>
        </p:txBody>
      </p:sp>
      <p:sp>
        <p:nvSpPr>
          <p:cNvPr id="11" name="TextBox 10"/>
          <p:cNvSpPr txBox="1"/>
          <p:nvPr/>
        </p:nvSpPr>
        <p:spPr>
          <a:xfrm>
            <a:off x="6309360" y="18288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BFSI Market Size</a:t>
            </a:r>
          </a:p>
        </p:txBody>
      </p:sp>
      <p:sp>
        <p:nvSpPr>
          <p:cNvPr id="12" name="TextBox 11"/>
          <p:cNvSpPr txBox="1"/>
          <p:nvPr/>
        </p:nvSpPr>
        <p:spPr>
          <a:xfrm>
            <a:off x="8229600" y="1280160"/>
            <a:ext cx="2011680" cy="640080"/>
          </a:xfrm>
          <a:prstGeom prst="rect">
            <a:avLst/>
          </a:prstGeom>
          <a:noFill/>
        </p:spPr>
        <p:txBody>
          <a:bodyPr wrap="square">
            <a:spAutoFit/>
          </a:bodyPr>
          <a:lstStyle/>
          <a:p>
            <a:pPr algn="ctr">
              <a:lnSpc>
                <a:spcPts val="3679"/>
              </a:lnSpc>
              <a:spcAft>
                <a:spcPts val="0"/>
              </a:spcAft>
              <a:defRPr sz="3200" b="1">
                <a:solidFill>
                  <a:srgbClr val="E84D0E"/>
                </a:solidFill>
                <a:latin typeface="Arial"/>
              </a:defRPr>
            </a:pPr>
            <a:r>
              <a:t>2,400+</a:t>
            </a:r>
          </a:p>
        </p:txBody>
      </p:sp>
      <p:sp>
        <p:nvSpPr>
          <p:cNvPr id="13" name="TextBox 12"/>
          <p:cNvSpPr txBox="1"/>
          <p:nvPr/>
        </p:nvSpPr>
        <p:spPr>
          <a:xfrm>
            <a:off x="8229600" y="18288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GCCs by 2030</a:t>
            </a:r>
          </a:p>
        </p:txBody>
      </p:sp>
      <p:sp>
        <p:nvSpPr>
          <p:cNvPr id="14" name="TextBox 13"/>
          <p:cNvSpPr txBox="1"/>
          <p:nvPr/>
        </p:nvSpPr>
        <p:spPr>
          <a:xfrm>
            <a:off x="10149840" y="1280160"/>
            <a:ext cx="2011680" cy="640080"/>
          </a:xfrm>
          <a:prstGeom prst="rect">
            <a:avLst/>
          </a:prstGeom>
          <a:noFill/>
        </p:spPr>
        <p:txBody>
          <a:bodyPr wrap="square">
            <a:spAutoFit/>
          </a:bodyPr>
          <a:lstStyle/>
          <a:p>
            <a:pPr algn="ctr">
              <a:lnSpc>
                <a:spcPts val="3679"/>
              </a:lnSpc>
              <a:spcAft>
                <a:spcPts val="0"/>
              </a:spcAft>
              <a:defRPr sz="3200" b="1">
                <a:solidFill>
                  <a:srgbClr val="E84D0E"/>
                </a:solidFill>
                <a:latin typeface="Arial"/>
              </a:defRPr>
            </a:pPr>
            <a:r>
              <a:t>$100B</a:t>
            </a:r>
          </a:p>
        </p:txBody>
      </p:sp>
      <p:sp>
        <p:nvSpPr>
          <p:cNvPr id="15" name="TextBox 14"/>
          <p:cNvSpPr txBox="1"/>
          <p:nvPr/>
        </p:nvSpPr>
        <p:spPr>
          <a:xfrm>
            <a:off x="10149840" y="18288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Revenue by 2030</a:t>
            </a:r>
          </a:p>
        </p:txBody>
      </p:sp>
      <p:sp>
        <p:nvSpPr>
          <p:cNvPr id="16" name="Rectangle 15"/>
          <p:cNvSpPr/>
          <p:nvPr/>
        </p:nvSpPr>
        <p:spPr>
          <a:xfrm>
            <a:off x="548640" y="274320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BFSI: THE LARGEST GCC VERTICAL</a:t>
            </a:r>
          </a:p>
        </p:txBody>
      </p:sp>
      <p:sp>
        <p:nvSpPr>
          <p:cNvPr id="17" name="TextBox 16"/>
          <p:cNvSpPr txBox="1"/>
          <p:nvPr/>
        </p:nvSpPr>
        <p:spPr>
          <a:xfrm>
            <a:off x="731520" y="3200400"/>
            <a:ext cx="10515600" cy="2286000"/>
          </a:xfrm>
          <a:prstGeom prst="rect">
            <a:avLst/>
          </a:prstGeom>
          <a:noFill/>
        </p:spPr>
        <p:txBody>
          <a:bodyPr wrap="square">
            <a:spAutoFit/>
          </a:bodyPr>
          <a:lstStyle/>
          <a:p>
            <a:pPr>
              <a:lnSpc>
                <a:spcPts val="1539"/>
              </a:lnSpc>
              <a:spcAft>
                <a:spcPts val="300"/>
              </a:spcAft>
              <a:defRPr sz="1100">
                <a:solidFill>
                  <a:srgbClr val="1A1A1A"/>
                </a:solidFill>
                <a:latin typeface="Arial"/>
              </a:defRPr>
            </a:pPr>
            <a:r>
              <a:t>• BFSI accounts for 35% of GCC market share with 450K+ professionals</a:t>
            </a:r>
          </a:p>
          <a:p>
            <a:pPr>
              <a:lnSpc>
                <a:spcPts val="1539"/>
              </a:lnSpc>
              <a:spcAft>
                <a:spcPts val="300"/>
              </a:spcAft>
              <a:defRPr sz="1100">
                <a:solidFill>
                  <a:srgbClr val="1A1A1A"/>
                </a:solidFill>
                <a:latin typeface="Arial"/>
              </a:defRPr>
            </a:pPr>
            <a:r>
              <a:t>• BFSI GCC market growing at 12.54% CAGR ($40.4B → $132.2B by 2032)</a:t>
            </a:r>
          </a:p>
          <a:p>
            <a:pPr>
              <a:lnSpc>
                <a:spcPts val="1539"/>
              </a:lnSpc>
              <a:spcAft>
                <a:spcPts val="300"/>
              </a:spcAft>
              <a:defRPr sz="1100">
                <a:solidFill>
                  <a:srgbClr val="1A1A1A"/>
                </a:solidFill>
                <a:latin typeface="Arial"/>
              </a:defRPr>
            </a:pPr>
            <a:r>
              <a:t>• 63% of global CXOs say GCCs are central to innovation strategy (McKinsey 2024)</a:t>
            </a:r>
          </a:p>
          <a:p>
            <a:pPr>
              <a:lnSpc>
                <a:spcPts val="1539"/>
              </a:lnSpc>
              <a:spcAft>
                <a:spcPts val="300"/>
              </a:spcAft>
              <a:defRPr sz="1100">
                <a:solidFill>
                  <a:srgbClr val="1A1A1A"/>
                </a:solidFill>
                <a:latin typeface="Arial"/>
              </a:defRPr>
            </a:pPr>
            <a:r>
              <a:t>• 80% of new GCCs prioritize AI/ML capabilities</a:t>
            </a:r>
          </a:p>
          <a:p>
            <a:pPr>
              <a:lnSpc>
                <a:spcPts val="1539"/>
              </a:lnSpc>
              <a:spcAft>
                <a:spcPts val="300"/>
              </a:spcAft>
              <a:defRPr sz="1100">
                <a:solidFill>
                  <a:srgbClr val="1A1A1A"/>
                </a:solidFill>
                <a:latin typeface="Arial"/>
              </a:defRPr>
            </a:pPr>
            <a:r>
              <a:t>• GCC AI investment growing at 52% CAGR (EY 2024)</a:t>
            </a:r>
          </a:p>
        </p:txBody>
      </p:sp>
      <p:sp>
        <p:nvSpPr>
          <p:cNvPr id="18" name="Rectangle 17"/>
          <p:cNvSpPr/>
          <p:nvPr/>
        </p:nvSpPr>
        <p:spPr>
          <a:xfrm>
            <a:off x="548640" y="5212080"/>
            <a:ext cx="5029200" cy="6858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C0392B"/>
                </a:solidFill>
                <a:latin typeface="Arial"/>
              </a:defRPr>
            </a:pPr>
            <a:r>
              <a:t>DECISION WINDOW: 2025-2026</a:t>
            </a:r>
          </a:p>
          <a:p>
            <a:pPr>
              <a:spcBef>
                <a:spcPts val="400"/>
              </a:spcBef>
              <a:defRPr sz="900">
                <a:solidFill>
                  <a:srgbClr val="1A1A1A"/>
                </a:solidFill>
                <a:latin typeface="Arial"/>
              </a:defRPr>
            </a:pPr>
            <a:r>
              <a:t>DORA enforcement (Jan 2025) + 10.4% salary inflation make this the optimal entry window. Delay = 10-15% higher costs per year.</a:t>
            </a:r>
          </a:p>
        </p:txBody>
      </p:sp>
      <p:sp>
        <p:nvSpPr>
          <p:cNvPr id="19" name="Rectangle 18"/>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BFSI is the largest GCC vertical growing 3x the market — this is table stakes, not optional</a:t>
            </a:r>
          </a:p>
        </p:txBody>
      </p:sp>
      <p:sp>
        <p:nvSpPr>
          <p:cNvPr id="20" name="TextBox 19"/>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2</a:t>
            </a:r>
          </a:p>
        </p:txBody>
      </p:sp>
      <p:sp>
        <p:nvSpPr>
          <p:cNvPr id="21" name="TextBox 20"/>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Zinnov, NASSCOM, ANSR, McKinsey, 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ACT II: LOCATION ANALYSIS</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BFSI-Weighted Location Scorecard Across Four Hubs</a:t>
            </a:r>
          </a:p>
        </p:txBody>
      </p:sp>
      <p:graphicFrame>
        <p:nvGraphicFramePr>
          <p:cNvPr id="4" name="Table 3"/>
          <p:cNvGraphicFramePr>
            <a:graphicFrameLocks noGrp="1"/>
          </p:cNvGraphicFramePr>
          <p:nvPr/>
        </p:nvGraphicFramePr>
        <p:xfrm>
          <a:off x="548640" y="1188720"/>
          <a:ext cx="11064240" cy="4206240"/>
        </p:xfrm>
        <a:graphic>
          <a:graphicData uri="http://schemas.openxmlformats.org/drawingml/2006/table">
            <a:tbl>
              <a:tblPr firstRow="1" bandRow="1">
                <a:tableStyleId>{5C22544A-7EE6-4342-B048-85BDC9FD1C3A}</a:tableStyleId>
              </a:tblPr>
              <a:tblGrid>
                <a:gridCol w="2286000"/>
                <a:gridCol w="914400"/>
                <a:gridCol w="1965960"/>
                <a:gridCol w="1965960"/>
                <a:gridCol w="1965960"/>
                <a:gridCol w="1965960"/>
              </a:tblGrid>
              <a:tr h="420624">
                <a:tc>
                  <a:txBody>
                    <a:bodyPr/>
                    <a:lstStyle/>
                    <a:p>
                      <a:pPr>
                        <a:defRPr sz="900" b="1">
                          <a:solidFill>
                            <a:srgbClr val="FFFFFF"/>
                          </a:solidFill>
                          <a:latin typeface="Arial"/>
                        </a:defRPr>
                      </a:pPr>
                      <a:r>
                        <a:t>Dimension</a:t>
                      </a:r>
                    </a:p>
                  </a:txBody>
                  <a:tcPr>
                    <a:solidFill>
                      <a:srgbClr val="2D2D2D"/>
                    </a:solidFill>
                  </a:tcPr>
                </a:tc>
                <a:tc>
                  <a:txBody>
                    <a:bodyPr/>
                    <a:lstStyle/>
                    <a:p>
                      <a:pPr>
                        <a:defRPr sz="900" b="1">
                          <a:solidFill>
                            <a:srgbClr val="FFFFFF"/>
                          </a:solidFill>
                          <a:latin typeface="Arial"/>
                        </a:defRPr>
                      </a:pPr>
                      <a:r>
                        <a:t>Weight</a:t>
                      </a:r>
                    </a:p>
                  </a:txBody>
                  <a:tcPr>
                    <a:solidFill>
                      <a:srgbClr val="2D2D2D"/>
                    </a:solidFill>
                  </a:tcPr>
                </a:tc>
                <a:tc>
                  <a:txBody>
                    <a:bodyPr/>
                    <a:lstStyle/>
                    <a:p>
                      <a:pPr>
                        <a:defRPr sz="900" b="1">
                          <a:solidFill>
                            <a:srgbClr val="FFFFFF"/>
                          </a:solidFill>
                          <a:latin typeface="Arial"/>
                        </a:defRPr>
                      </a:pPr>
                      <a:r>
                        <a:t>Bangalore</a:t>
                      </a:r>
                    </a:p>
                  </a:txBody>
                  <a:tcPr>
                    <a:solidFill>
                      <a:srgbClr val="2D2D2D"/>
                    </a:solidFill>
                  </a:tcPr>
                </a:tc>
                <a:tc>
                  <a:txBody>
                    <a:bodyPr/>
                    <a:lstStyle/>
                    <a:p>
                      <a:pPr>
                        <a:defRPr sz="900" b="1">
                          <a:solidFill>
                            <a:srgbClr val="FFFFFF"/>
                          </a:solidFill>
                          <a:latin typeface="Arial"/>
                        </a:defRPr>
                      </a:pPr>
                      <a:r>
                        <a:t>Hyderabad</a:t>
                      </a:r>
                    </a:p>
                  </a:txBody>
                  <a:tcPr>
                    <a:solidFill>
                      <a:srgbClr val="2D2D2D"/>
                    </a:solidFill>
                  </a:tcPr>
                </a:tc>
                <a:tc>
                  <a:txBody>
                    <a:bodyPr/>
                    <a:lstStyle/>
                    <a:p>
                      <a:pPr>
                        <a:defRPr sz="900" b="1">
                          <a:solidFill>
                            <a:srgbClr val="FFFFFF"/>
                          </a:solidFill>
                          <a:latin typeface="Arial"/>
                        </a:defRPr>
                      </a:pPr>
                      <a:r>
                        <a:t>Pune</a:t>
                      </a:r>
                    </a:p>
                  </a:txBody>
                  <a:tcPr>
                    <a:solidFill>
                      <a:srgbClr val="2D2D2D"/>
                    </a:solidFill>
                  </a:tcPr>
                </a:tc>
                <a:tc>
                  <a:txBody>
                    <a:bodyPr/>
                    <a:lstStyle/>
                    <a:p>
                      <a:pPr>
                        <a:defRPr sz="900" b="1">
                          <a:solidFill>
                            <a:srgbClr val="FFFFFF"/>
                          </a:solidFill>
                          <a:latin typeface="Arial"/>
                        </a:defRPr>
                      </a:pPr>
                      <a:r>
                        <a:t>Delhi NCR</a:t>
                      </a:r>
                    </a:p>
                  </a:txBody>
                  <a:tcPr>
                    <a:solidFill>
                      <a:srgbClr val="2D2D2D"/>
                    </a:solidFill>
                  </a:tcPr>
                </a:tc>
              </a:tr>
              <a:tr h="420624">
                <a:tc>
                  <a:txBody>
                    <a:bodyPr/>
                    <a:lstStyle/>
                    <a:p>
                      <a:pPr>
                        <a:defRPr sz="900">
                          <a:solidFill>
                            <a:srgbClr val="1A1A1A"/>
                          </a:solidFill>
                          <a:latin typeface="Arial"/>
                        </a:defRPr>
                      </a:pPr>
                      <a:r>
                        <a:t>Talent Pool (BFSI)</a:t>
                      </a:r>
                    </a:p>
                  </a:txBody>
                  <a:tcPr>
                    <a:solidFill>
                      <a:srgbClr val="FFFFFF"/>
                    </a:solidFill>
                  </a:tcPr>
                </a:tc>
                <a:tc>
                  <a:txBody>
                    <a:bodyPr/>
                    <a:lstStyle/>
                    <a:p>
                      <a:pPr>
                        <a:defRPr sz="900">
                          <a:solidFill>
                            <a:srgbClr val="1A1A1A"/>
                          </a:solidFill>
                          <a:latin typeface="Arial"/>
                        </a:defRPr>
                      </a:pPr>
                      <a:r>
                        <a:t>20%</a:t>
                      </a:r>
                    </a:p>
                  </a:txBody>
                  <a:tcPr>
                    <a:solidFill>
                      <a:srgbClr val="FFFFFF"/>
                    </a:solidFill>
                  </a:tcPr>
                </a:tc>
                <a:tc>
                  <a:txBody>
                    <a:bodyPr/>
                    <a:lstStyle/>
                    <a:p>
                      <a:pPr>
                        <a:defRPr sz="900">
                          <a:solidFill>
                            <a:srgbClr val="1A1A1A"/>
                          </a:solidFill>
                          <a:latin typeface="Arial"/>
                        </a:defRPr>
                      </a:pPr>
                      <a:r>
                        <a:t>10/10</a:t>
                      </a:r>
                    </a:p>
                  </a:txBody>
                  <a:tcPr>
                    <a:solidFill>
                      <a:srgbClr val="FFFFFF"/>
                    </a:solidFill>
                  </a:tcPr>
                </a:tc>
                <a:tc>
                  <a:txBody>
                    <a:bodyPr/>
                    <a:lstStyle/>
                    <a:p>
                      <a:pPr>
                        <a:defRPr sz="900">
                          <a:solidFill>
                            <a:srgbClr val="1A1A1A"/>
                          </a:solidFill>
                          <a:latin typeface="Arial"/>
                        </a:defRPr>
                      </a:pPr>
                      <a:r>
                        <a:t>7/10</a:t>
                      </a:r>
                    </a:p>
                  </a:txBody>
                  <a:tcPr>
                    <a:solidFill>
                      <a:srgbClr val="FFFFFF"/>
                    </a:solidFill>
                  </a:tcPr>
                </a:tc>
                <a:tc>
                  <a:txBody>
                    <a:bodyPr/>
                    <a:lstStyle/>
                    <a:p>
                      <a:pPr>
                        <a:defRPr sz="900">
                          <a:solidFill>
                            <a:srgbClr val="1A1A1A"/>
                          </a:solidFill>
                          <a:latin typeface="Arial"/>
                        </a:defRPr>
                      </a:pPr>
                      <a:r>
                        <a:t>6/10</a:t>
                      </a:r>
                    </a:p>
                  </a:txBody>
                  <a:tcPr>
                    <a:solidFill>
                      <a:srgbClr val="FFFFFF"/>
                    </a:solidFill>
                  </a:tcPr>
                </a:tc>
                <a:tc>
                  <a:txBody>
                    <a:bodyPr/>
                    <a:lstStyle/>
                    <a:p>
                      <a:pPr>
                        <a:defRPr sz="900">
                          <a:solidFill>
                            <a:srgbClr val="1A1A1A"/>
                          </a:solidFill>
                          <a:latin typeface="Arial"/>
                        </a:defRPr>
                      </a:pPr>
                      <a:r>
                        <a:t>7/10</a:t>
                      </a:r>
                    </a:p>
                  </a:txBody>
                  <a:tcPr>
                    <a:solidFill>
                      <a:srgbClr val="FFFFFF"/>
                    </a:solidFill>
                  </a:tcPr>
                </a:tc>
              </a:tr>
              <a:tr h="420624">
                <a:tc>
                  <a:txBody>
                    <a:bodyPr/>
                    <a:lstStyle/>
                    <a:p>
                      <a:pPr>
                        <a:defRPr sz="900">
                          <a:solidFill>
                            <a:srgbClr val="1A1A1A"/>
                          </a:solidFill>
                          <a:latin typeface="Arial"/>
                        </a:defRPr>
                      </a:pPr>
                      <a:r>
                        <a:t>GCC Ecosystem</a:t>
                      </a:r>
                    </a:p>
                  </a:txBody>
                  <a:tcPr>
                    <a:solidFill>
                      <a:srgbClr val="F2F2F2"/>
                    </a:solidFill>
                  </a:tcPr>
                </a:tc>
                <a:tc>
                  <a:txBody>
                    <a:bodyPr/>
                    <a:lstStyle/>
                    <a:p>
                      <a:pPr>
                        <a:defRPr sz="900">
                          <a:solidFill>
                            <a:srgbClr val="1A1A1A"/>
                          </a:solidFill>
                          <a:latin typeface="Arial"/>
                        </a:defRPr>
                      </a:pPr>
                      <a:r>
                        <a:t>15%</a:t>
                      </a:r>
                    </a:p>
                  </a:txBody>
                  <a:tcPr>
                    <a:solidFill>
                      <a:srgbClr val="F2F2F2"/>
                    </a:solidFill>
                  </a:tcPr>
                </a:tc>
                <a:tc>
                  <a:txBody>
                    <a:bodyPr/>
                    <a:lstStyle/>
                    <a:p>
                      <a:pPr>
                        <a:defRPr sz="900">
                          <a:solidFill>
                            <a:srgbClr val="1A1A1A"/>
                          </a:solidFill>
                          <a:latin typeface="Arial"/>
                        </a:defRPr>
                      </a:pPr>
                      <a:r>
                        <a:t>10/10</a:t>
                      </a:r>
                    </a:p>
                  </a:txBody>
                  <a:tcPr>
                    <a:solidFill>
                      <a:srgbClr val="F2F2F2"/>
                    </a:solidFill>
                  </a:tcPr>
                </a:tc>
                <a:tc>
                  <a:txBody>
                    <a:bodyPr/>
                    <a:lstStyle/>
                    <a:p>
                      <a:pPr>
                        <a:defRPr sz="900">
                          <a:solidFill>
                            <a:srgbClr val="1A1A1A"/>
                          </a:solidFill>
                          <a:latin typeface="Arial"/>
                        </a:defRPr>
                      </a:pPr>
                      <a:r>
                        <a:t>7/10</a:t>
                      </a:r>
                    </a:p>
                  </a:txBody>
                  <a:tcPr>
                    <a:solidFill>
                      <a:srgbClr val="F2F2F2"/>
                    </a:solidFill>
                  </a:tcPr>
                </a:tc>
                <a:tc>
                  <a:txBody>
                    <a:bodyPr/>
                    <a:lstStyle/>
                    <a:p>
                      <a:pPr>
                        <a:defRPr sz="900">
                          <a:solidFill>
                            <a:srgbClr val="1A1A1A"/>
                          </a:solidFill>
                          <a:latin typeface="Arial"/>
                        </a:defRPr>
                      </a:pPr>
                      <a:r>
                        <a:t>5/10</a:t>
                      </a:r>
                    </a:p>
                  </a:txBody>
                  <a:tcPr>
                    <a:solidFill>
                      <a:srgbClr val="F2F2F2"/>
                    </a:solidFill>
                  </a:tcPr>
                </a:tc>
                <a:tc>
                  <a:txBody>
                    <a:bodyPr/>
                    <a:lstStyle/>
                    <a:p>
                      <a:pPr>
                        <a:defRPr sz="900">
                          <a:solidFill>
                            <a:srgbClr val="1A1A1A"/>
                          </a:solidFill>
                          <a:latin typeface="Arial"/>
                        </a:defRPr>
                      </a:pPr>
                      <a:r>
                        <a:t>6/10</a:t>
                      </a:r>
                    </a:p>
                  </a:txBody>
                  <a:tcPr>
                    <a:solidFill>
                      <a:srgbClr val="F2F2F2"/>
                    </a:solidFill>
                  </a:tcPr>
                </a:tc>
              </a:tr>
              <a:tr h="420624">
                <a:tc>
                  <a:txBody>
                    <a:bodyPr/>
                    <a:lstStyle/>
                    <a:p>
                      <a:pPr>
                        <a:defRPr sz="900">
                          <a:solidFill>
                            <a:srgbClr val="1A1A1A"/>
                          </a:solidFill>
                          <a:latin typeface="Arial"/>
                        </a:defRPr>
                      </a:pPr>
                      <a:r>
                        <a:t>Cost Efficiency</a:t>
                      </a:r>
                    </a:p>
                  </a:txBody>
                  <a:tcPr>
                    <a:solidFill>
                      <a:srgbClr val="FFFFFF"/>
                    </a:solidFill>
                  </a:tcPr>
                </a:tc>
                <a:tc>
                  <a:txBody>
                    <a:bodyPr/>
                    <a:lstStyle/>
                    <a:p>
                      <a:pPr>
                        <a:defRPr sz="900">
                          <a:solidFill>
                            <a:srgbClr val="1A1A1A"/>
                          </a:solidFill>
                          <a:latin typeface="Arial"/>
                        </a:defRPr>
                      </a:pPr>
                      <a:r>
                        <a:t>15%</a:t>
                      </a:r>
                    </a:p>
                  </a:txBody>
                  <a:tcPr>
                    <a:solidFill>
                      <a:srgbClr val="FFFFFF"/>
                    </a:solidFill>
                  </a:tcPr>
                </a:tc>
                <a:tc>
                  <a:txBody>
                    <a:bodyPr/>
                    <a:lstStyle/>
                    <a:p>
                      <a:pPr>
                        <a:defRPr sz="900">
                          <a:solidFill>
                            <a:srgbClr val="1A1A1A"/>
                          </a:solidFill>
                          <a:latin typeface="Arial"/>
                        </a:defRPr>
                      </a:pPr>
                      <a:r>
                        <a:t>5/10</a:t>
                      </a:r>
                    </a:p>
                  </a:txBody>
                  <a:tcPr>
                    <a:solidFill>
                      <a:srgbClr val="FFFFFF"/>
                    </a:solidFill>
                  </a:tcPr>
                </a:tc>
                <a:tc>
                  <a:txBody>
                    <a:bodyPr/>
                    <a:lstStyle/>
                    <a:p>
                      <a:pPr>
                        <a:defRPr sz="900">
                          <a:solidFill>
                            <a:srgbClr val="1A1A1A"/>
                          </a:solidFill>
                          <a:latin typeface="Arial"/>
                        </a:defRPr>
                      </a:pPr>
                      <a:r>
                        <a:t>8/10</a:t>
                      </a:r>
                    </a:p>
                  </a:txBody>
                  <a:tcPr>
                    <a:solidFill>
                      <a:srgbClr val="FFFFFF"/>
                    </a:solidFill>
                  </a:tcPr>
                </a:tc>
                <a:tc>
                  <a:txBody>
                    <a:bodyPr/>
                    <a:lstStyle/>
                    <a:p>
                      <a:pPr>
                        <a:defRPr sz="900">
                          <a:solidFill>
                            <a:srgbClr val="1A1A1A"/>
                          </a:solidFill>
                          <a:latin typeface="Arial"/>
                        </a:defRPr>
                      </a:pPr>
                      <a:r>
                        <a:t>9/10</a:t>
                      </a:r>
                    </a:p>
                  </a:txBody>
                  <a:tcPr>
                    <a:solidFill>
                      <a:srgbClr val="FFFFFF"/>
                    </a:solidFill>
                  </a:tcPr>
                </a:tc>
                <a:tc>
                  <a:txBody>
                    <a:bodyPr/>
                    <a:lstStyle/>
                    <a:p>
                      <a:pPr>
                        <a:defRPr sz="900">
                          <a:solidFill>
                            <a:srgbClr val="1A1A1A"/>
                          </a:solidFill>
                          <a:latin typeface="Arial"/>
                        </a:defRPr>
                      </a:pPr>
                      <a:r>
                        <a:t>6/10</a:t>
                      </a:r>
                    </a:p>
                  </a:txBody>
                  <a:tcPr>
                    <a:solidFill>
                      <a:srgbClr val="FFFFFF"/>
                    </a:solidFill>
                  </a:tcPr>
                </a:tc>
              </a:tr>
              <a:tr h="420624">
                <a:tc>
                  <a:txBody>
                    <a:bodyPr/>
                    <a:lstStyle/>
                    <a:p>
                      <a:pPr>
                        <a:defRPr sz="900">
                          <a:solidFill>
                            <a:srgbClr val="1A1A1A"/>
                          </a:solidFill>
                          <a:latin typeface="Arial"/>
                        </a:defRPr>
                      </a:pPr>
                      <a:r>
                        <a:t>Retention</a:t>
                      </a:r>
                    </a:p>
                  </a:txBody>
                  <a:tcPr>
                    <a:solidFill>
                      <a:srgbClr val="F2F2F2"/>
                    </a:solidFill>
                  </a:tcPr>
                </a:tc>
                <a:tc>
                  <a:txBody>
                    <a:bodyPr/>
                    <a:lstStyle/>
                    <a:p>
                      <a:pPr>
                        <a:defRPr sz="900">
                          <a:solidFill>
                            <a:srgbClr val="1A1A1A"/>
                          </a:solidFill>
                          <a:latin typeface="Arial"/>
                        </a:defRPr>
                      </a:pPr>
                      <a:r>
                        <a:t>15%</a:t>
                      </a:r>
                    </a:p>
                  </a:txBody>
                  <a:tcPr>
                    <a:solidFill>
                      <a:srgbClr val="F2F2F2"/>
                    </a:solidFill>
                  </a:tcPr>
                </a:tc>
                <a:tc>
                  <a:txBody>
                    <a:bodyPr/>
                    <a:lstStyle/>
                    <a:p>
                      <a:pPr>
                        <a:defRPr sz="900">
                          <a:solidFill>
                            <a:srgbClr val="1A1A1A"/>
                          </a:solidFill>
                          <a:latin typeface="Arial"/>
                        </a:defRPr>
                      </a:pPr>
                      <a:r>
                        <a:t>4/10</a:t>
                      </a:r>
                    </a:p>
                  </a:txBody>
                  <a:tcPr>
                    <a:solidFill>
                      <a:srgbClr val="F2F2F2"/>
                    </a:solidFill>
                  </a:tcPr>
                </a:tc>
                <a:tc>
                  <a:txBody>
                    <a:bodyPr/>
                    <a:lstStyle/>
                    <a:p>
                      <a:pPr>
                        <a:defRPr sz="900">
                          <a:solidFill>
                            <a:srgbClr val="1A1A1A"/>
                          </a:solidFill>
                          <a:latin typeface="Arial"/>
                        </a:defRPr>
                      </a:pPr>
                      <a:r>
                        <a:t>7/10</a:t>
                      </a:r>
                    </a:p>
                  </a:txBody>
                  <a:tcPr>
                    <a:solidFill>
                      <a:srgbClr val="F2F2F2"/>
                    </a:solidFill>
                  </a:tcPr>
                </a:tc>
                <a:tc>
                  <a:txBody>
                    <a:bodyPr/>
                    <a:lstStyle/>
                    <a:p>
                      <a:pPr>
                        <a:defRPr sz="900">
                          <a:solidFill>
                            <a:srgbClr val="1A1A1A"/>
                          </a:solidFill>
                          <a:latin typeface="Arial"/>
                        </a:defRPr>
                      </a:pPr>
                      <a:r>
                        <a:t>9/10</a:t>
                      </a:r>
                    </a:p>
                  </a:txBody>
                  <a:tcPr>
                    <a:solidFill>
                      <a:srgbClr val="F2F2F2"/>
                    </a:solidFill>
                  </a:tcPr>
                </a:tc>
                <a:tc>
                  <a:txBody>
                    <a:bodyPr/>
                    <a:lstStyle/>
                    <a:p>
                      <a:pPr>
                        <a:defRPr sz="900">
                          <a:solidFill>
                            <a:srgbClr val="1A1A1A"/>
                          </a:solidFill>
                          <a:latin typeface="Arial"/>
                        </a:defRPr>
                      </a:pPr>
                      <a:r>
                        <a:t>6/10</a:t>
                      </a:r>
                    </a:p>
                  </a:txBody>
                  <a:tcPr>
                    <a:solidFill>
                      <a:srgbClr val="F2F2F2"/>
                    </a:solidFill>
                  </a:tcPr>
                </a:tc>
              </a:tr>
              <a:tr h="420624">
                <a:tc>
                  <a:txBody>
                    <a:bodyPr/>
                    <a:lstStyle/>
                    <a:p>
                      <a:pPr>
                        <a:defRPr sz="900">
                          <a:solidFill>
                            <a:srgbClr val="1A1A1A"/>
                          </a:solidFill>
                          <a:latin typeface="Arial"/>
                        </a:defRPr>
                      </a:pPr>
                      <a:r>
                        <a:t>Regulatory Proximity</a:t>
                      </a:r>
                    </a:p>
                  </a:txBody>
                  <a:tcPr>
                    <a:solidFill>
                      <a:srgbClr val="FFFFFF"/>
                    </a:solidFill>
                  </a:tcPr>
                </a:tc>
                <a:tc>
                  <a:txBody>
                    <a:bodyPr/>
                    <a:lstStyle/>
                    <a:p>
                      <a:pPr>
                        <a:defRPr sz="900">
                          <a:solidFill>
                            <a:srgbClr val="1A1A1A"/>
                          </a:solidFill>
                          <a:latin typeface="Arial"/>
                        </a:defRPr>
                      </a:pPr>
                      <a:r>
                        <a:t>10%</a:t>
                      </a:r>
                    </a:p>
                  </a:txBody>
                  <a:tcPr>
                    <a:solidFill>
                      <a:srgbClr val="FFFFFF"/>
                    </a:solidFill>
                  </a:tcPr>
                </a:tc>
                <a:tc>
                  <a:txBody>
                    <a:bodyPr/>
                    <a:lstStyle/>
                    <a:p>
                      <a:pPr>
                        <a:defRPr sz="900">
                          <a:solidFill>
                            <a:srgbClr val="1A1A1A"/>
                          </a:solidFill>
                          <a:latin typeface="Arial"/>
                        </a:defRPr>
                      </a:pPr>
                      <a:r>
                        <a:t>7/10</a:t>
                      </a:r>
                    </a:p>
                  </a:txBody>
                  <a:tcPr>
                    <a:solidFill>
                      <a:srgbClr val="FFFFFF"/>
                    </a:solidFill>
                  </a:tcPr>
                </a:tc>
                <a:tc>
                  <a:txBody>
                    <a:bodyPr/>
                    <a:lstStyle/>
                    <a:p>
                      <a:pPr>
                        <a:defRPr sz="900">
                          <a:solidFill>
                            <a:srgbClr val="1A1A1A"/>
                          </a:solidFill>
                          <a:latin typeface="Arial"/>
                        </a:defRPr>
                      </a:pPr>
                      <a:r>
                        <a:t>6/10</a:t>
                      </a:r>
                    </a:p>
                  </a:txBody>
                  <a:tcPr>
                    <a:solidFill>
                      <a:srgbClr val="FFFFFF"/>
                    </a:solidFill>
                  </a:tcPr>
                </a:tc>
                <a:tc>
                  <a:txBody>
                    <a:bodyPr/>
                    <a:lstStyle/>
                    <a:p>
                      <a:pPr>
                        <a:defRPr sz="900">
                          <a:solidFill>
                            <a:srgbClr val="1A1A1A"/>
                          </a:solidFill>
                          <a:latin typeface="Arial"/>
                        </a:defRPr>
                      </a:pPr>
                      <a:r>
                        <a:t>5/10</a:t>
                      </a:r>
                    </a:p>
                  </a:txBody>
                  <a:tcPr>
                    <a:solidFill>
                      <a:srgbClr val="FFFFFF"/>
                    </a:solidFill>
                  </a:tcPr>
                </a:tc>
                <a:tc>
                  <a:txBody>
                    <a:bodyPr/>
                    <a:lstStyle/>
                    <a:p>
                      <a:pPr>
                        <a:defRPr sz="900">
                          <a:solidFill>
                            <a:srgbClr val="1A1A1A"/>
                          </a:solidFill>
                          <a:latin typeface="Arial"/>
                        </a:defRPr>
                      </a:pPr>
                      <a:r>
                        <a:t>9/10</a:t>
                      </a:r>
                    </a:p>
                  </a:txBody>
                  <a:tcPr>
                    <a:solidFill>
                      <a:srgbClr val="FFFFFF"/>
                    </a:solidFill>
                  </a:tcPr>
                </a:tc>
              </a:tr>
              <a:tr h="420624">
                <a:tc>
                  <a:txBody>
                    <a:bodyPr/>
                    <a:lstStyle/>
                    <a:p>
                      <a:pPr>
                        <a:defRPr sz="900">
                          <a:solidFill>
                            <a:srgbClr val="1A1A1A"/>
                          </a:solidFill>
                          <a:latin typeface="Arial"/>
                        </a:defRPr>
                      </a:pPr>
                      <a:r>
                        <a:t>Infrastructure</a:t>
                      </a:r>
                    </a:p>
                  </a:txBody>
                  <a:tcPr>
                    <a:solidFill>
                      <a:srgbClr val="F2F2F2"/>
                    </a:solidFill>
                  </a:tcPr>
                </a:tc>
                <a:tc>
                  <a:txBody>
                    <a:bodyPr/>
                    <a:lstStyle/>
                    <a:p>
                      <a:pPr>
                        <a:defRPr sz="900">
                          <a:solidFill>
                            <a:srgbClr val="1A1A1A"/>
                          </a:solidFill>
                          <a:latin typeface="Arial"/>
                        </a:defRPr>
                      </a:pPr>
                      <a:r>
                        <a:t>10%</a:t>
                      </a:r>
                    </a:p>
                  </a:txBody>
                  <a:tcPr>
                    <a:solidFill>
                      <a:srgbClr val="F2F2F2"/>
                    </a:solidFill>
                  </a:tcPr>
                </a:tc>
                <a:tc>
                  <a:txBody>
                    <a:bodyPr/>
                    <a:lstStyle/>
                    <a:p>
                      <a:pPr>
                        <a:defRPr sz="900">
                          <a:solidFill>
                            <a:srgbClr val="1A1A1A"/>
                          </a:solidFill>
                          <a:latin typeface="Arial"/>
                        </a:defRPr>
                      </a:pPr>
                      <a:r>
                        <a:t>8/10</a:t>
                      </a:r>
                    </a:p>
                  </a:txBody>
                  <a:tcPr>
                    <a:solidFill>
                      <a:srgbClr val="F2F2F2"/>
                    </a:solidFill>
                  </a:tcPr>
                </a:tc>
                <a:tc>
                  <a:txBody>
                    <a:bodyPr/>
                    <a:lstStyle/>
                    <a:p>
                      <a:pPr>
                        <a:defRPr sz="900">
                          <a:solidFill>
                            <a:srgbClr val="1A1A1A"/>
                          </a:solidFill>
                          <a:latin typeface="Arial"/>
                        </a:defRPr>
                      </a:pPr>
                      <a:r>
                        <a:t>7/10</a:t>
                      </a:r>
                    </a:p>
                  </a:txBody>
                  <a:tcPr>
                    <a:solidFill>
                      <a:srgbClr val="F2F2F2"/>
                    </a:solidFill>
                  </a:tcPr>
                </a:tc>
                <a:tc>
                  <a:txBody>
                    <a:bodyPr/>
                    <a:lstStyle/>
                    <a:p>
                      <a:pPr>
                        <a:defRPr sz="900">
                          <a:solidFill>
                            <a:srgbClr val="1A1A1A"/>
                          </a:solidFill>
                          <a:latin typeface="Arial"/>
                        </a:defRPr>
                      </a:pPr>
                      <a:r>
                        <a:t>5/10</a:t>
                      </a:r>
                    </a:p>
                  </a:txBody>
                  <a:tcPr>
                    <a:solidFill>
                      <a:srgbClr val="F2F2F2"/>
                    </a:solidFill>
                  </a:tcPr>
                </a:tc>
                <a:tc>
                  <a:txBody>
                    <a:bodyPr/>
                    <a:lstStyle/>
                    <a:p>
                      <a:pPr>
                        <a:defRPr sz="900">
                          <a:solidFill>
                            <a:srgbClr val="1A1A1A"/>
                          </a:solidFill>
                          <a:latin typeface="Arial"/>
                        </a:defRPr>
                      </a:pPr>
                      <a:r>
                        <a:t>9/10</a:t>
                      </a:r>
                    </a:p>
                  </a:txBody>
                  <a:tcPr>
                    <a:solidFill>
                      <a:srgbClr val="F2F2F2"/>
                    </a:solidFill>
                  </a:tcPr>
                </a:tc>
              </a:tr>
              <a:tr h="420624">
                <a:tc>
                  <a:txBody>
                    <a:bodyPr/>
                    <a:lstStyle/>
                    <a:p>
                      <a:pPr>
                        <a:defRPr sz="900">
                          <a:solidFill>
                            <a:srgbClr val="1A1A1A"/>
                          </a:solidFill>
                          <a:latin typeface="Arial"/>
                        </a:defRPr>
                      </a:pPr>
                      <a:r>
                        <a:t>Intl Connectivity</a:t>
                      </a:r>
                    </a:p>
                  </a:txBody>
                  <a:tcPr>
                    <a:solidFill>
                      <a:srgbClr val="FFFFFF"/>
                    </a:solidFill>
                  </a:tcPr>
                </a:tc>
                <a:tc>
                  <a:txBody>
                    <a:bodyPr/>
                    <a:lstStyle/>
                    <a:p>
                      <a:pPr>
                        <a:defRPr sz="900">
                          <a:solidFill>
                            <a:srgbClr val="1A1A1A"/>
                          </a:solidFill>
                          <a:latin typeface="Arial"/>
                        </a:defRPr>
                      </a:pPr>
                      <a:r>
                        <a:t>8%</a:t>
                      </a:r>
                    </a:p>
                  </a:txBody>
                  <a:tcPr>
                    <a:solidFill>
                      <a:srgbClr val="FFFFFF"/>
                    </a:solidFill>
                  </a:tcPr>
                </a:tc>
                <a:tc>
                  <a:txBody>
                    <a:bodyPr/>
                    <a:lstStyle/>
                    <a:p>
                      <a:pPr>
                        <a:defRPr sz="900">
                          <a:solidFill>
                            <a:srgbClr val="1A1A1A"/>
                          </a:solidFill>
                          <a:latin typeface="Arial"/>
                        </a:defRPr>
                      </a:pPr>
                      <a:r>
                        <a:t>7/10</a:t>
                      </a:r>
                    </a:p>
                  </a:txBody>
                  <a:tcPr>
                    <a:solidFill>
                      <a:srgbClr val="FFFFFF"/>
                    </a:solidFill>
                  </a:tcPr>
                </a:tc>
                <a:tc>
                  <a:txBody>
                    <a:bodyPr/>
                    <a:lstStyle/>
                    <a:p>
                      <a:pPr>
                        <a:defRPr sz="900">
                          <a:solidFill>
                            <a:srgbClr val="1A1A1A"/>
                          </a:solidFill>
                          <a:latin typeface="Arial"/>
                        </a:defRPr>
                      </a:pPr>
                      <a:r>
                        <a:t>5/10</a:t>
                      </a:r>
                    </a:p>
                  </a:txBody>
                  <a:tcPr>
                    <a:solidFill>
                      <a:srgbClr val="FFFFFF"/>
                    </a:solidFill>
                  </a:tcPr>
                </a:tc>
                <a:tc>
                  <a:txBody>
                    <a:bodyPr/>
                    <a:lstStyle/>
                    <a:p>
                      <a:pPr>
                        <a:defRPr sz="900">
                          <a:solidFill>
                            <a:srgbClr val="1A1A1A"/>
                          </a:solidFill>
                          <a:latin typeface="Arial"/>
                        </a:defRPr>
                      </a:pPr>
                      <a:r>
                        <a:t>2/10</a:t>
                      </a:r>
                    </a:p>
                  </a:txBody>
                  <a:tcPr>
                    <a:solidFill>
                      <a:srgbClr val="FFFFFF"/>
                    </a:solidFill>
                  </a:tcPr>
                </a:tc>
                <a:tc>
                  <a:txBody>
                    <a:bodyPr/>
                    <a:lstStyle/>
                    <a:p>
                      <a:pPr>
                        <a:defRPr sz="900">
                          <a:solidFill>
                            <a:srgbClr val="1A1A1A"/>
                          </a:solidFill>
                          <a:latin typeface="Arial"/>
                        </a:defRPr>
                      </a:pPr>
                      <a:r>
                        <a:t>10/10</a:t>
                      </a:r>
                    </a:p>
                  </a:txBody>
                  <a:tcPr>
                    <a:solidFill>
                      <a:srgbClr val="FFFFFF"/>
                    </a:solidFill>
                  </a:tcPr>
                </a:tc>
              </a:tr>
              <a:tr h="420624">
                <a:tc>
                  <a:txBody>
                    <a:bodyPr/>
                    <a:lstStyle/>
                    <a:p>
                      <a:pPr>
                        <a:defRPr sz="900">
                          <a:solidFill>
                            <a:srgbClr val="1A1A1A"/>
                          </a:solidFill>
                          <a:latin typeface="Arial"/>
                        </a:defRPr>
                      </a:pPr>
                      <a:r>
                        <a:t>Quality of Life</a:t>
                      </a:r>
                    </a:p>
                  </a:txBody>
                  <a:tcPr>
                    <a:solidFill>
                      <a:srgbClr val="F2F2F2"/>
                    </a:solidFill>
                  </a:tcPr>
                </a:tc>
                <a:tc>
                  <a:txBody>
                    <a:bodyPr/>
                    <a:lstStyle/>
                    <a:p>
                      <a:pPr>
                        <a:defRPr sz="900">
                          <a:solidFill>
                            <a:srgbClr val="1A1A1A"/>
                          </a:solidFill>
                          <a:latin typeface="Arial"/>
                        </a:defRPr>
                      </a:pPr>
                      <a:r>
                        <a:t>7%</a:t>
                      </a:r>
                    </a:p>
                  </a:txBody>
                  <a:tcPr>
                    <a:solidFill>
                      <a:srgbClr val="F2F2F2"/>
                    </a:solidFill>
                  </a:tcPr>
                </a:tc>
                <a:tc>
                  <a:txBody>
                    <a:bodyPr/>
                    <a:lstStyle/>
                    <a:p>
                      <a:pPr>
                        <a:defRPr sz="900">
                          <a:solidFill>
                            <a:srgbClr val="1A1A1A"/>
                          </a:solidFill>
                          <a:latin typeface="Arial"/>
                        </a:defRPr>
                      </a:pPr>
                      <a:r>
                        <a:t>7/10</a:t>
                      </a:r>
                    </a:p>
                  </a:txBody>
                  <a:tcPr>
                    <a:solidFill>
                      <a:srgbClr val="F2F2F2"/>
                    </a:solidFill>
                  </a:tcPr>
                </a:tc>
                <a:tc>
                  <a:txBody>
                    <a:bodyPr/>
                    <a:lstStyle/>
                    <a:p>
                      <a:pPr>
                        <a:defRPr sz="900">
                          <a:solidFill>
                            <a:srgbClr val="1A1A1A"/>
                          </a:solidFill>
                          <a:latin typeface="Arial"/>
                        </a:defRPr>
                      </a:pPr>
                      <a:r>
                        <a:t>8/10</a:t>
                      </a:r>
                    </a:p>
                  </a:txBody>
                  <a:tcPr>
                    <a:solidFill>
                      <a:srgbClr val="F2F2F2"/>
                    </a:solidFill>
                  </a:tcPr>
                </a:tc>
                <a:tc>
                  <a:txBody>
                    <a:bodyPr/>
                    <a:lstStyle/>
                    <a:p>
                      <a:pPr>
                        <a:defRPr sz="900">
                          <a:solidFill>
                            <a:srgbClr val="1A1A1A"/>
                          </a:solidFill>
                          <a:latin typeface="Arial"/>
                        </a:defRPr>
                      </a:pPr>
                      <a:r>
                        <a:t>8/10</a:t>
                      </a:r>
                    </a:p>
                  </a:txBody>
                  <a:tcPr>
                    <a:solidFill>
                      <a:srgbClr val="F2F2F2"/>
                    </a:solidFill>
                  </a:tcPr>
                </a:tc>
                <a:tc>
                  <a:txBody>
                    <a:bodyPr/>
                    <a:lstStyle/>
                    <a:p>
                      <a:pPr>
                        <a:defRPr sz="900">
                          <a:solidFill>
                            <a:srgbClr val="1A1A1A"/>
                          </a:solidFill>
                          <a:latin typeface="Arial"/>
                        </a:defRPr>
                      </a:pPr>
                      <a:r>
                        <a:t>5/10</a:t>
                      </a:r>
                    </a:p>
                  </a:txBody>
                  <a:tcPr>
                    <a:solidFill>
                      <a:srgbClr val="F2F2F2"/>
                    </a:solidFill>
                  </a:tcPr>
                </a:tc>
              </a:tr>
              <a:tr h="420624">
                <a:tc>
                  <a:txBody>
                    <a:bodyPr/>
                    <a:lstStyle/>
                    <a:p>
                      <a:pPr>
                        <a:defRPr sz="900">
                          <a:solidFill>
                            <a:srgbClr val="1A1A1A"/>
                          </a:solidFill>
                          <a:latin typeface="Arial"/>
                        </a:defRPr>
                      </a:pPr>
                      <a:r>
                        <a:t>WEIGHTED TOTAL</a:t>
                      </a:r>
                    </a:p>
                  </a:txBody>
                  <a:tcPr>
                    <a:solidFill>
                      <a:srgbClr val="FFFFFF"/>
                    </a:solidFill>
                  </a:tcPr>
                </a:tc>
                <a:tc>
                  <a:txBody>
                    <a:bodyPr/>
                    <a:lstStyle/>
                    <a:p>
                      <a:pPr>
                        <a:defRPr sz="900">
                          <a:solidFill>
                            <a:srgbClr val="1A1A1A"/>
                          </a:solidFill>
                          <a:latin typeface="Arial"/>
                        </a:defRPr>
                      </a:pPr>
                      <a:r>
                        <a:t>100%</a:t>
                      </a:r>
                    </a:p>
                  </a:txBody>
                  <a:tcPr>
                    <a:solidFill>
                      <a:srgbClr val="FFFFFF"/>
                    </a:solidFill>
                  </a:tcPr>
                </a:tc>
                <a:tc>
                  <a:txBody>
                    <a:bodyPr/>
                    <a:lstStyle/>
                    <a:p>
                      <a:pPr>
                        <a:defRPr sz="900">
                          <a:solidFill>
                            <a:srgbClr val="1A1A1A"/>
                          </a:solidFill>
                          <a:latin typeface="Arial"/>
                        </a:defRPr>
                      </a:pPr>
                      <a:r>
                        <a:t>8.1/10</a:t>
                      </a:r>
                    </a:p>
                  </a:txBody>
                  <a:tcPr>
                    <a:solidFill>
                      <a:srgbClr val="FFFFFF"/>
                    </a:solidFill>
                  </a:tcPr>
                </a:tc>
                <a:tc>
                  <a:txBody>
                    <a:bodyPr/>
                    <a:lstStyle/>
                    <a:p>
                      <a:pPr>
                        <a:defRPr sz="900">
                          <a:solidFill>
                            <a:srgbClr val="1A1A1A"/>
                          </a:solidFill>
                          <a:latin typeface="Arial"/>
                        </a:defRPr>
                      </a:pPr>
                      <a:r>
                        <a:t>7.2/10</a:t>
                      </a:r>
                    </a:p>
                  </a:txBody>
                  <a:tcPr>
                    <a:solidFill>
                      <a:srgbClr val="FFFFFF"/>
                    </a:solidFill>
                  </a:tcPr>
                </a:tc>
                <a:tc>
                  <a:txBody>
                    <a:bodyPr/>
                    <a:lstStyle/>
                    <a:p>
                      <a:pPr>
                        <a:defRPr sz="900">
                          <a:solidFill>
                            <a:srgbClr val="1A1A1A"/>
                          </a:solidFill>
                          <a:latin typeface="Arial"/>
                        </a:defRPr>
                      </a:pPr>
                      <a:r>
                        <a:t>6.5/10</a:t>
                      </a:r>
                    </a:p>
                  </a:txBody>
                  <a:tcPr>
                    <a:solidFill>
                      <a:srgbClr val="FFFFFF"/>
                    </a:solidFill>
                  </a:tcPr>
                </a:tc>
                <a:tc>
                  <a:txBody>
                    <a:bodyPr/>
                    <a:lstStyle/>
                    <a:p>
                      <a:pPr>
                        <a:defRPr sz="900">
                          <a:solidFill>
                            <a:srgbClr val="1A1A1A"/>
                          </a:solidFill>
                          <a:latin typeface="Arial"/>
                        </a:defRPr>
                      </a:pPr>
                      <a:r>
                        <a:t>6.8/10</a:t>
                      </a:r>
                    </a:p>
                  </a:txBody>
                  <a:tcPr>
                    <a:solidFill>
                      <a:srgbClr val="FFFFFF"/>
                    </a:solidFill>
                  </a:tcPr>
                </a:tc>
              </a:tr>
            </a:tbl>
          </a:graphicData>
        </a:graphic>
      </p:graphicFrame>
      <p:sp>
        <p:nvSpPr>
          <p:cNvPr id="5" name="TextBox 4"/>
          <p:cNvSpPr txBox="1"/>
          <p:nvPr/>
        </p:nvSpPr>
        <p:spPr>
          <a:xfrm>
            <a:off x="1005840" y="5349240"/>
            <a:ext cx="2011680" cy="640080"/>
          </a:xfrm>
          <a:prstGeom prst="rect">
            <a:avLst/>
          </a:prstGeom>
          <a:noFill/>
        </p:spPr>
        <p:txBody>
          <a:bodyPr wrap="square">
            <a:spAutoFit/>
          </a:bodyPr>
          <a:lstStyle/>
          <a:p>
            <a:pPr algn="ctr">
              <a:lnSpc>
                <a:spcPts val="3219"/>
              </a:lnSpc>
              <a:spcAft>
                <a:spcPts val="0"/>
              </a:spcAft>
              <a:defRPr sz="2800" b="1">
                <a:solidFill>
                  <a:srgbClr val="E84D0E"/>
                </a:solidFill>
                <a:latin typeface="Arial"/>
              </a:defRPr>
            </a:pPr>
            <a:r>
              <a:t>8.1</a:t>
            </a:r>
          </a:p>
        </p:txBody>
      </p:sp>
      <p:sp>
        <p:nvSpPr>
          <p:cNvPr id="6" name="TextBox 5"/>
          <p:cNvSpPr txBox="1"/>
          <p:nvPr/>
        </p:nvSpPr>
        <p:spPr>
          <a:xfrm>
            <a:off x="1005840" y="5897879"/>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Bangalore</a:t>
            </a:r>
          </a:p>
        </p:txBody>
      </p:sp>
      <p:sp>
        <p:nvSpPr>
          <p:cNvPr id="7" name="TextBox 6"/>
          <p:cNvSpPr txBox="1"/>
          <p:nvPr/>
        </p:nvSpPr>
        <p:spPr>
          <a:xfrm>
            <a:off x="3657600" y="5349240"/>
            <a:ext cx="2011680" cy="640080"/>
          </a:xfrm>
          <a:prstGeom prst="rect">
            <a:avLst/>
          </a:prstGeom>
          <a:noFill/>
        </p:spPr>
        <p:txBody>
          <a:bodyPr wrap="square">
            <a:spAutoFit/>
          </a:bodyPr>
          <a:lstStyle/>
          <a:p>
            <a:pPr algn="ctr">
              <a:lnSpc>
                <a:spcPts val="3219"/>
              </a:lnSpc>
              <a:spcAft>
                <a:spcPts val="0"/>
              </a:spcAft>
              <a:defRPr sz="2800" b="1">
                <a:solidFill>
                  <a:srgbClr val="E84D0E"/>
                </a:solidFill>
                <a:latin typeface="Arial"/>
              </a:defRPr>
            </a:pPr>
            <a:r>
              <a:t>7.2</a:t>
            </a:r>
          </a:p>
        </p:txBody>
      </p:sp>
      <p:sp>
        <p:nvSpPr>
          <p:cNvPr id="8" name="TextBox 7"/>
          <p:cNvSpPr txBox="1"/>
          <p:nvPr/>
        </p:nvSpPr>
        <p:spPr>
          <a:xfrm>
            <a:off x="3657600" y="5897879"/>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Hyderabad</a:t>
            </a:r>
          </a:p>
        </p:txBody>
      </p:sp>
      <p:sp>
        <p:nvSpPr>
          <p:cNvPr id="9" name="TextBox 8"/>
          <p:cNvSpPr txBox="1"/>
          <p:nvPr/>
        </p:nvSpPr>
        <p:spPr>
          <a:xfrm>
            <a:off x="6309360" y="5349240"/>
            <a:ext cx="2011680" cy="640080"/>
          </a:xfrm>
          <a:prstGeom prst="rect">
            <a:avLst/>
          </a:prstGeom>
          <a:noFill/>
        </p:spPr>
        <p:txBody>
          <a:bodyPr wrap="square">
            <a:spAutoFit/>
          </a:bodyPr>
          <a:lstStyle/>
          <a:p>
            <a:pPr algn="ctr">
              <a:lnSpc>
                <a:spcPts val="3219"/>
              </a:lnSpc>
              <a:spcAft>
                <a:spcPts val="0"/>
              </a:spcAft>
              <a:defRPr sz="2800" b="1">
                <a:solidFill>
                  <a:srgbClr val="E84D0E"/>
                </a:solidFill>
                <a:latin typeface="Arial"/>
              </a:defRPr>
            </a:pPr>
            <a:r>
              <a:t>6.8</a:t>
            </a:r>
          </a:p>
        </p:txBody>
      </p:sp>
      <p:sp>
        <p:nvSpPr>
          <p:cNvPr id="10" name="TextBox 9"/>
          <p:cNvSpPr txBox="1"/>
          <p:nvPr/>
        </p:nvSpPr>
        <p:spPr>
          <a:xfrm>
            <a:off x="6309360" y="5897879"/>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Delhi NCR</a:t>
            </a:r>
          </a:p>
        </p:txBody>
      </p:sp>
      <p:sp>
        <p:nvSpPr>
          <p:cNvPr id="11" name="TextBox 10"/>
          <p:cNvSpPr txBox="1"/>
          <p:nvPr/>
        </p:nvSpPr>
        <p:spPr>
          <a:xfrm>
            <a:off x="8961120" y="5349240"/>
            <a:ext cx="2011680" cy="640080"/>
          </a:xfrm>
          <a:prstGeom prst="rect">
            <a:avLst/>
          </a:prstGeom>
          <a:noFill/>
        </p:spPr>
        <p:txBody>
          <a:bodyPr wrap="square">
            <a:spAutoFit/>
          </a:bodyPr>
          <a:lstStyle/>
          <a:p>
            <a:pPr algn="ctr">
              <a:lnSpc>
                <a:spcPts val="3219"/>
              </a:lnSpc>
              <a:spcAft>
                <a:spcPts val="0"/>
              </a:spcAft>
              <a:defRPr sz="2800" b="1">
                <a:solidFill>
                  <a:srgbClr val="E84D0E"/>
                </a:solidFill>
                <a:latin typeface="Arial"/>
              </a:defRPr>
            </a:pPr>
            <a:r>
              <a:t>6.5</a:t>
            </a:r>
          </a:p>
        </p:txBody>
      </p:sp>
      <p:sp>
        <p:nvSpPr>
          <p:cNvPr id="12" name="TextBox 11"/>
          <p:cNvSpPr txBox="1"/>
          <p:nvPr/>
        </p:nvSpPr>
        <p:spPr>
          <a:xfrm>
            <a:off x="8961120" y="5897879"/>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Pune</a:t>
            </a:r>
          </a:p>
        </p:txBody>
      </p:sp>
      <p:sp>
        <p:nvSpPr>
          <p:cNvPr id="13" name="Rectangle 12"/>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Equal-weighted scorecards mask BFSI priorities — when weighted for financial services, Bangalore leads but Hyderabad is closer than expected</a:t>
            </a:r>
          </a:p>
        </p:txBody>
      </p:sp>
      <p:sp>
        <p:nvSpPr>
          <p:cNvPr id="14" name="TextBox 13"/>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3</a:t>
            </a:r>
          </a:p>
        </p:txBody>
      </p:sp>
      <p:sp>
        <p:nvSpPr>
          <p:cNvPr id="15" name="TextBox 14"/>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Zinnov, NASSCOM, ANSR, JLL, CBRE, Aon, Mercer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LOCATION DEEP DIVE</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Bangalore: The Established Leader Facing Saturation Risk</a:t>
            </a:r>
          </a:p>
        </p:txBody>
      </p:sp>
      <p:sp>
        <p:nvSpPr>
          <p:cNvPr id="4" name="TextBox 3"/>
          <p:cNvSpPr txBox="1"/>
          <p:nvPr/>
        </p:nvSpPr>
        <p:spPr>
          <a:xfrm>
            <a:off x="5486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870+</a:t>
            </a:r>
          </a:p>
        </p:txBody>
      </p:sp>
      <p:sp>
        <p:nvSpPr>
          <p:cNvPr id="5" name="TextBox 4"/>
          <p:cNvSpPr txBox="1"/>
          <p:nvPr/>
        </p:nvSpPr>
        <p:spPr>
          <a:xfrm>
            <a:off x="5486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GCCs</a:t>
            </a:r>
          </a:p>
        </p:txBody>
      </p:sp>
      <p:sp>
        <p:nvSpPr>
          <p:cNvPr id="6" name="TextBox 5"/>
          <p:cNvSpPr txBox="1"/>
          <p:nvPr/>
        </p:nvSpPr>
        <p:spPr>
          <a:xfrm>
            <a:off x="32918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42%</a:t>
            </a:r>
          </a:p>
        </p:txBody>
      </p:sp>
      <p:sp>
        <p:nvSpPr>
          <p:cNvPr id="7" name="TextBox 6"/>
          <p:cNvSpPr txBox="1"/>
          <p:nvPr/>
        </p:nvSpPr>
        <p:spPr>
          <a:xfrm>
            <a:off x="32918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Market Share</a:t>
            </a:r>
          </a:p>
        </p:txBody>
      </p:sp>
      <p:sp>
        <p:nvSpPr>
          <p:cNvPr id="8" name="TextBox 7"/>
          <p:cNvSpPr txBox="1"/>
          <p:nvPr/>
        </p:nvSpPr>
        <p:spPr>
          <a:xfrm>
            <a:off x="60350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32%</a:t>
            </a:r>
          </a:p>
        </p:txBody>
      </p:sp>
      <p:sp>
        <p:nvSpPr>
          <p:cNvPr id="9" name="TextBox 8"/>
          <p:cNvSpPr txBox="1"/>
          <p:nvPr/>
        </p:nvSpPr>
        <p:spPr>
          <a:xfrm>
            <a:off x="60350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FinCrime Talent</a:t>
            </a:r>
          </a:p>
        </p:txBody>
      </p:sp>
      <p:sp>
        <p:nvSpPr>
          <p:cNvPr id="10" name="TextBox 9"/>
          <p:cNvSpPr txBox="1"/>
          <p:nvPr/>
        </p:nvSpPr>
        <p:spPr>
          <a:xfrm>
            <a:off x="87782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1M+</a:t>
            </a:r>
          </a:p>
        </p:txBody>
      </p:sp>
      <p:sp>
        <p:nvSpPr>
          <p:cNvPr id="11" name="TextBox 10"/>
          <p:cNvSpPr txBox="1"/>
          <p:nvPr/>
        </p:nvSpPr>
        <p:spPr>
          <a:xfrm>
            <a:off x="87782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Tech Professionals</a:t>
            </a:r>
          </a:p>
        </p:txBody>
      </p:sp>
      <p:sp>
        <p:nvSpPr>
          <p:cNvPr id="12" name="Rectangle 11"/>
          <p:cNvSpPr/>
          <p:nvPr/>
        </p:nvSpPr>
        <p:spPr>
          <a:xfrm>
            <a:off x="548640" y="246888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STRENGTHS</a:t>
            </a:r>
          </a:p>
        </p:txBody>
      </p:sp>
      <p:sp>
        <p:nvSpPr>
          <p:cNvPr id="13" name="TextBox 12"/>
          <p:cNvSpPr txBox="1"/>
          <p:nvPr/>
        </p:nvSpPr>
        <p:spPr>
          <a:xfrm>
            <a:off x="731520" y="2880360"/>
            <a:ext cx="5029200" cy="1828800"/>
          </a:xfrm>
          <a:prstGeom prst="rect">
            <a:avLst/>
          </a:prstGeom>
          <a:noFill/>
        </p:spPr>
        <p:txBody>
          <a:bodyPr wrap="square">
            <a:spAutoFit/>
          </a:bodyPr>
          <a:lstStyle/>
          <a:p>
            <a:pPr>
              <a:lnSpc>
                <a:spcPts val="1400"/>
              </a:lnSpc>
              <a:spcAft>
                <a:spcPts val="300"/>
              </a:spcAft>
              <a:defRPr sz="1000">
                <a:solidFill>
                  <a:srgbClr val="1A1A1A"/>
                </a:solidFill>
                <a:latin typeface="Arial"/>
              </a:defRPr>
            </a:pPr>
            <a:r>
              <a:t>• Home to Goldman Sachs, JP Morgan, Wells Fargo, Citi, Fidelity</a:t>
            </a:r>
          </a:p>
          <a:p>
            <a:pPr>
              <a:lnSpc>
                <a:spcPts val="1400"/>
              </a:lnSpc>
              <a:spcAft>
                <a:spcPts val="300"/>
              </a:spcAft>
              <a:defRPr sz="1000">
                <a:solidFill>
                  <a:srgbClr val="1A1A1A"/>
                </a:solidFill>
                <a:latin typeface="Arial"/>
              </a:defRPr>
            </a:pPr>
            <a:r>
              <a:t>• #1 in Asia-Pacific for tech talent; #4 globally for elite software engineers</a:t>
            </a:r>
          </a:p>
          <a:p>
            <a:pPr>
              <a:lnSpc>
                <a:spcPts val="1400"/>
              </a:lnSpc>
              <a:spcAft>
                <a:spcPts val="300"/>
              </a:spcAft>
              <a:defRPr sz="1000">
                <a:solidFill>
                  <a:srgbClr val="1A1A1A"/>
                </a:solidFill>
                <a:latin typeface="Arial"/>
              </a:defRPr>
            </a:pPr>
            <a:r>
              <a:t>• GCC Policy 2024-2029: targeting 500 new GCCs, 350K new jobs</a:t>
            </a:r>
          </a:p>
          <a:p>
            <a:pPr>
              <a:lnSpc>
                <a:spcPts val="1400"/>
              </a:lnSpc>
              <a:spcAft>
                <a:spcPts val="300"/>
              </a:spcAft>
              <a:defRPr sz="1000">
                <a:solidFill>
                  <a:srgbClr val="1A1A1A"/>
                </a:solidFill>
                <a:latin typeface="Arial"/>
              </a:defRPr>
            </a:pPr>
            <a:r>
              <a:t>• 25% capital subsidy, 50% EPF reimbursement, Rs 1B AI Skilling Fund</a:t>
            </a:r>
          </a:p>
          <a:p>
            <a:pPr>
              <a:lnSpc>
                <a:spcPts val="1400"/>
              </a:lnSpc>
              <a:spcAft>
                <a:spcPts val="300"/>
              </a:spcAft>
              <a:defRPr sz="1000">
                <a:solidFill>
                  <a:srgbClr val="1A1A1A"/>
                </a:solidFill>
                <a:latin typeface="Arial"/>
              </a:defRPr>
            </a:pPr>
            <a:r>
              <a:t>• Deepest BFSI talent pool: FinCrime, quant, actuarial, data science</a:t>
            </a:r>
          </a:p>
        </p:txBody>
      </p:sp>
      <p:sp>
        <p:nvSpPr>
          <p:cNvPr id="14" name="Rectangle 13"/>
          <p:cNvSpPr/>
          <p:nvPr/>
        </p:nvSpPr>
        <p:spPr>
          <a:xfrm>
            <a:off x="548640" y="246888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CHALLENGES</a:t>
            </a:r>
          </a:p>
        </p:txBody>
      </p:sp>
      <p:sp>
        <p:nvSpPr>
          <p:cNvPr id="15" name="Rectangle 14"/>
          <p:cNvSpPr/>
          <p:nvPr/>
        </p:nvSpPr>
        <p:spPr>
          <a:xfrm>
            <a:off x="6217920" y="2468880"/>
            <a:ext cx="539496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CHALLENGES</a:t>
            </a:r>
          </a:p>
        </p:txBody>
      </p:sp>
      <p:sp>
        <p:nvSpPr>
          <p:cNvPr id="16" name="TextBox 15"/>
          <p:cNvSpPr txBox="1"/>
          <p:nvPr/>
        </p:nvSpPr>
        <p:spPr>
          <a:xfrm>
            <a:off x="6400800" y="2880360"/>
            <a:ext cx="5029200" cy="1828800"/>
          </a:xfrm>
          <a:prstGeom prst="rect">
            <a:avLst/>
          </a:prstGeom>
          <a:noFill/>
        </p:spPr>
        <p:txBody>
          <a:bodyPr wrap="square">
            <a:spAutoFit/>
          </a:bodyPr>
          <a:lstStyle/>
          <a:p>
            <a:pPr>
              <a:lnSpc>
                <a:spcPts val="1400"/>
              </a:lnSpc>
              <a:spcAft>
                <a:spcPts val="300"/>
              </a:spcAft>
              <a:defRPr sz="1000">
                <a:solidFill>
                  <a:srgbClr val="1A1A1A"/>
                </a:solidFill>
                <a:latin typeface="Arial"/>
              </a:defRPr>
            </a:pPr>
            <a:r>
              <a:t>• Highest cost index (100 baseline) — 25-35% salary premium</a:t>
            </a:r>
          </a:p>
          <a:p>
            <a:pPr>
              <a:lnSpc>
                <a:spcPts val="1400"/>
              </a:lnSpc>
              <a:spcAft>
                <a:spcPts val="300"/>
              </a:spcAft>
              <a:defRPr sz="1000">
                <a:solidFill>
                  <a:srgbClr val="1A1A1A"/>
                </a:solidFill>
                <a:latin typeface="Arial"/>
              </a:defRPr>
            </a:pPr>
            <a:r>
              <a:t>• 16-20% attrition: all major banks competing for same talent pool</a:t>
            </a:r>
          </a:p>
          <a:p>
            <a:pPr>
              <a:lnSpc>
                <a:spcPts val="1400"/>
              </a:lnSpc>
              <a:spcAft>
                <a:spcPts val="300"/>
              </a:spcAft>
              <a:defRPr sz="1000">
                <a:solidFill>
                  <a:srgbClr val="1A1A1A"/>
                </a:solidFill>
                <a:latin typeface="Arial"/>
              </a:defRPr>
            </a:pPr>
            <a:r>
              <a:t>• Office rents Rs 80-120/sq ft (+16% growth)</a:t>
            </a:r>
          </a:p>
          <a:p>
            <a:pPr>
              <a:lnSpc>
                <a:spcPts val="1400"/>
              </a:lnSpc>
              <a:spcAft>
                <a:spcPts val="300"/>
              </a:spcAft>
              <a:defRPr sz="1000">
                <a:solidFill>
                  <a:srgbClr val="1A1A1A"/>
                </a:solidFill>
                <a:latin typeface="Arial"/>
              </a:defRPr>
            </a:pPr>
            <a:r>
              <a:t>• Saturation risk: talent pool shared among 870+ GCCs</a:t>
            </a:r>
          </a:p>
        </p:txBody>
      </p:sp>
      <p:sp>
        <p:nvSpPr>
          <p:cNvPr id="17" name="Rectangle 16"/>
          <p:cNvSpPr/>
          <p:nvPr/>
        </p:nvSpPr>
        <p:spPr>
          <a:xfrm>
            <a:off x="548640" y="4754880"/>
            <a:ext cx="11064240" cy="64008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KEY BFSI GCCs IN BANGALORE</a:t>
            </a:r>
          </a:p>
          <a:p>
            <a:pPr>
              <a:spcBef>
                <a:spcPts val="400"/>
              </a:spcBef>
              <a:defRPr sz="900">
                <a:solidFill>
                  <a:srgbClr val="1A1A1A"/>
                </a:solidFill>
                <a:latin typeface="Arial"/>
              </a:defRPr>
            </a:pPr>
            <a:r>
              <a:t>Goldman Sachs (2004, 2nd largest global office) | JP Morgan (1.6M sq ft) | Wells Fargo | Citibank | Fidelity | Societe Generale | Standard Chartered</a:t>
            </a:r>
          </a:p>
        </p:txBody>
      </p:sp>
      <p:sp>
        <p:nvSpPr>
          <p:cNvPr id="18" name="Rectangle 17"/>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42% share means saturation — Goldman, JPM, Citi, Wells Fargo all fight over the same talent pool</a:t>
            </a:r>
          </a:p>
        </p:txBody>
      </p:sp>
      <p:sp>
        <p:nvSpPr>
          <p:cNvPr id="19" name="TextBox 18"/>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4</a:t>
            </a:r>
          </a:p>
        </p:txBody>
      </p:sp>
      <p:sp>
        <p:nvSpPr>
          <p:cNvPr id="20" name="TextBox 19"/>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NASSCOM, Zinnov, Karnataka GCC Policy 2024-2029, Karat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LOCATION DEEP DIVE</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Hyderabad: 85% of Bangalore's Capability at 78% of the Cost</a:t>
            </a:r>
          </a:p>
        </p:txBody>
      </p:sp>
      <p:sp>
        <p:nvSpPr>
          <p:cNvPr id="4" name="TextBox 3"/>
          <p:cNvSpPr txBox="1"/>
          <p:nvPr/>
        </p:nvSpPr>
        <p:spPr>
          <a:xfrm>
            <a:off x="5486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355+</a:t>
            </a:r>
          </a:p>
        </p:txBody>
      </p:sp>
      <p:sp>
        <p:nvSpPr>
          <p:cNvPr id="5" name="TextBox 4"/>
          <p:cNvSpPr txBox="1"/>
          <p:nvPr/>
        </p:nvSpPr>
        <p:spPr>
          <a:xfrm>
            <a:off x="5486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GCCs</a:t>
            </a:r>
          </a:p>
        </p:txBody>
      </p:sp>
      <p:sp>
        <p:nvSpPr>
          <p:cNvPr id="6" name="TextBox 5"/>
          <p:cNvSpPr txBox="1"/>
          <p:nvPr/>
        </p:nvSpPr>
        <p:spPr>
          <a:xfrm>
            <a:off x="32918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20%</a:t>
            </a:r>
          </a:p>
        </p:txBody>
      </p:sp>
      <p:sp>
        <p:nvSpPr>
          <p:cNvPr id="7" name="TextBox 6"/>
          <p:cNvSpPr txBox="1"/>
          <p:nvPr/>
        </p:nvSpPr>
        <p:spPr>
          <a:xfrm>
            <a:off x="32918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Banking Share</a:t>
            </a:r>
          </a:p>
        </p:txBody>
      </p:sp>
      <p:sp>
        <p:nvSpPr>
          <p:cNvPr id="8" name="TextBox 7"/>
          <p:cNvSpPr txBox="1"/>
          <p:nvPr/>
        </p:nvSpPr>
        <p:spPr>
          <a:xfrm>
            <a:off x="60350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78-85</a:t>
            </a:r>
          </a:p>
        </p:txBody>
      </p:sp>
      <p:sp>
        <p:nvSpPr>
          <p:cNvPr id="9" name="TextBox 8"/>
          <p:cNvSpPr txBox="1"/>
          <p:nvPr/>
        </p:nvSpPr>
        <p:spPr>
          <a:xfrm>
            <a:off x="60350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Cost Index</a:t>
            </a:r>
          </a:p>
        </p:txBody>
      </p:sp>
      <p:sp>
        <p:nvSpPr>
          <p:cNvPr id="10" name="TextBox 9"/>
          <p:cNvSpPr txBox="1"/>
          <p:nvPr/>
        </p:nvSpPr>
        <p:spPr>
          <a:xfrm>
            <a:off x="87782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~500K</a:t>
            </a:r>
          </a:p>
        </p:txBody>
      </p:sp>
      <p:sp>
        <p:nvSpPr>
          <p:cNvPr id="11" name="TextBox 10"/>
          <p:cNvSpPr txBox="1"/>
          <p:nvPr/>
        </p:nvSpPr>
        <p:spPr>
          <a:xfrm>
            <a:off x="87782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Tech Talent</a:t>
            </a:r>
          </a:p>
        </p:txBody>
      </p:sp>
      <p:sp>
        <p:nvSpPr>
          <p:cNvPr id="12" name="Rectangle 11"/>
          <p:cNvSpPr/>
          <p:nvPr/>
        </p:nvSpPr>
        <p:spPr>
          <a:xfrm>
            <a:off x="548640" y="246888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WHY HYDERABAD IS THE STRONGEST ALTERNATIVE PRIMARY HUB</a:t>
            </a:r>
          </a:p>
        </p:txBody>
      </p:sp>
      <p:sp>
        <p:nvSpPr>
          <p:cNvPr id="13" name="TextBox 12"/>
          <p:cNvSpPr txBox="1"/>
          <p:nvPr/>
        </p:nvSpPr>
        <p:spPr>
          <a:xfrm>
            <a:off x="731520" y="2880360"/>
            <a:ext cx="6858000" cy="2743200"/>
          </a:xfrm>
          <a:prstGeom prst="rect">
            <a:avLst/>
          </a:prstGeom>
          <a:noFill/>
        </p:spPr>
        <p:txBody>
          <a:bodyPr wrap="square">
            <a:spAutoFit/>
          </a:bodyPr>
          <a:lstStyle/>
          <a:p>
            <a:pPr>
              <a:lnSpc>
                <a:spcPts val="1400"/>
              </a:lnSpc>
              <a:spcAft>
                <a:spcPts val="300"/>
              </a:spcAft>
              <a:defRPr sz="1000">
                <a:solidFill>
                  <a:srgbClr val="1A1A1A"/>
                </a:solidFill>
                <a:latin typeface="Arial"/>
              </a:defRPr>
            </a:pPr>
            <a:r>
              <a:t>• Fastest new GCC additions in India; 20% of banking GCC share</a:t>
            </a:r>
          </a:p>
          <a:p>
            <a:pPr>
              <a:lnSpc>
                <a:spcPts val="1400"/>
              </a:lnSpc>
              <a:spcAft>
                <a:spcPts val="300"/>
              </a:spcAft>
              <a:defRPr sz="1000">
                <a:solidFill>
                  <a:srgbClr val="1A1A1A"/>
                </a:solidFill>
                <a:latin typeface="Arial"/>
              </a:defRPr>
            </a:pPr>
            <a:r>
              <a:t>• Rents 20-30% below Bangalore (Rs 60-90/sq ft vs Rs 80-120)</a:t>
            </a:r>
          </a:p>
          <a:p>
            <a:pPr>
              <a:lnSpc>
                <a:spcPts val="1400"/>
              </a:lnSpc>
              <a:spcAft>
                <a:spcPts val="300"/>
              </a:spcAft>
              <a:defRPr sz="1000">
                <a:solidFill>
                  <a:srgbClr val="1A1A1A"/>
                </a:solidFill>
                <a:latin typeface="Arial"/>
              </a:defRPr>
            </a:pPr>
            <a:r>
              <a:t>• Vanguard scaling from 300 to 2,300 employees by 2029</a:t>
            </a:r>
          </a:p>
          <a:p>
            <a:pPr>
              <a:lnSpc>
                <a:spcPts val="1400"/>
              </a:lnSpc>
              <a:spcAft>
                <a:spcPts val="300"/>
              </a:spcAft>
              <a:defRPr sz="1000">
                <a:solidFill>
                  <a:srgbClr val="1A1A1A"/>
                </a:solidFill>
                <a:latin typeface="Arial"/>
              </a:defRPr>
            </a:pPr>
            <a:r>
              <a:t>• TS-iPASS: single-window clearance within 15 days</a:t>
            </a:r>
          </a:p>
          <a:p>
            <a:pPr>
              <a:lnSpc>
                <a:spcPts val="1400"/>
              </a:lnSpc>
              <a:spcAft>
                <a:spcPts val="300"/>
              </a:spcAft>
              <a:defRPr sz="1000">
                <a:solidFill>
                  <a:srgbClr val="1A1A1A"/>
                </a:solidFill>
                <a:latin typeface="Arial"/>
              </a:defRPr>
            </a:pPr>
            <a:r>
              <a:t>• HITEC City and Financial District — world-class infrastructure</a:t>
            </a:r>
          </a:p>
          <a:p>
            <a:pPr>
              <a:lnSpc>
                <a:spcPts val="1400"/>
              </a:lnSpc>
              <a:spcAft>
                <a:spcPts val="300"/>
              </a:spcAft>
              <a:defRPr sz="1000">
                <a:solidFill>
                  <a:srgbClr val="1A1A1A"/>
                </a:solidFill>
                <a:latin typeface="Arial"/>
              </a:defRPr>
            </a:pPr>
            <a:r>
              <a:t>• Goldman Sachs expanded here in 2021; JP Morgan 176K sq ft campus</a:t>
            </a:r>
          </a:p>
          <a:p>
            <a:pPr>
              <a:lnSpc>
                <a:spcPts val="1400"/>
              </a:lnSpc>
              <a:spcAft>
                <a:spcPts val="300"/>
              </a:spcAft>
              <a:defRPr sz="1000">
                <a:solidFill>
                  <a:srgbClr val="1A1A1A"/>
                </a:solidFill>
                <a:latin typeface="Arial"/>
              </a:defRPr>
            </a:pPr>
            <a:r>
              <a:t>• 100% stamp duty reimbursement, state GST reimbursement</a:t>
            </a:r>
          </a:p>
          <a:p>
            <a:pPr>
              <a:lnSpc>
                <a:spcPts val="1400"/>
              </a:lnSpc>
              <a:spcAft>
                <a:spcPts val="300"/>
              </a:spcAft>
              <a:defRPr sz="1000">
                <a:solidFill>
                  <a:srgbClr val="1A1A1A"/>
                </a:solidFill>
                <a:latin typeface="Arial"/>
              </a:defRPr>
            </a:pPr>
            <a:r>
              <a:t>• Strong AI/ML and cybersecurity talent pool, growing rapidly</a:t>
            </a:r>
          </a:p>
        </p:txBody>
      </p:sp>
      <p:sp>
        <p:nvSpPr>
          <p:cNvPr id="14" name="Rectangle 13"/>
          <p:cNvSpPr/>
          <p:nvPr/>
        </p:nvSpPr>
        <p:spPr>
          <a:xfrm>
            <a:off x="8046720" y="2880360"/>
            <a:ext cx="3566160" cy="13716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BANGALORE vs HYDERABAD</a:t>
            </a:r>
          </a:p>
          <a:p>
            <a:pPr>
              <a:spcBef>
                <a:spcPts val="400"/>
              </a:spcBef>
              <a:defRPr sz="900">
                <a:solidFill>
                  <a:srgbClr val="1A1A1A"/>
                </a:solidFill>
                <a:latin typeface="Arial"/>
              </a:defRPr>
            </a:pPr>
            <a:r>
              <a:t>Salaries: 15-25% lower | Rents: 20-30% lower | Attrition: 13-16% vs 16-20% | Infrastructure: comparable in key corridors</a:t>
            </a:r>
          </a:p>
        </p:txBody>
      </p:sp>
      <p:sp>
        <p:nvSpPr>
          <p:cNvPr id="15" name="Rectangle 14"/>
          <p:cNvSpPr/>
          <p:nvPr/>
        </p:nvSpPr>
        <p:spPr>
          <a:xfrm>
            <a:off x="8046720" y="4389120"/>
            <a:ext cx="3566160" cy="9144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2C3E50"/>
                </a:solidFill>
                <a:latin typeface="Arial"/>
              </a:defRPr>
            </a:pPr>
            <a:r>
              <a:t>CASE STUDY: VANGUARD</a:t>
            </a:r>
          </a:p>
          <a:p>
            <a:pPr>
              <a:spcBef>
                <a:spcPts val="400"/>
              </a:spcBef>
              <a:defRPr sz="900">
                <a:solidFill>
                  <a:srgbClr val="1A1A1A"/>
                </a:solidFill>
                <a:latin typeface="Arial"/>
              </a:defRPr>
            </a:pPr>
            <a:r>
              <a:t>Entered Hyderabad with 300 staff. Scaling to 2,300 by 2029. Chose Hyderabad for cost efficiency and talent availability.</a:t>
            </a:r>
          </a:p>
        </p:txBody>
      </p:sp>
      <p:sp>
        <p:nvSpPr>
          <p:cNvPr id="16" name="Rectangle 15"/>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Hyderabad is the strongest alternative primary hub — the cost-capability gap with Bangalore is closing fast</a:t>
            </a:r>
          </a:p>
        </p:txBody>
      </p:sp>
      <p:sp>
        <p:nvSpPr>
          <p:cNvPr id="17" name="TextBox 16"/>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5</a:t>
            </a:r>
          </a:p>
        </p:txBody>
      </p:sp>
      <p:sp>
        <p:nvSpPr>
          <p:cNvPr id="18" name="TextBox 17"/>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NASSCOM, Telangana ICT Policy, JLL, ANSR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LOCATION DEEP DIVE</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Pune: Where Retention Saves $3-5M Annually per 1,000 FTE</a:t>
            </a:r>
          </a:p>
        </p:txBody>
      </p:sp>
      <p:sp>
        <p:nvSpPr>
          <p:cNvPr id="4" name="TextBox 3"/>
          <p:cNvSpPr txBox="1"/>
          <p:nvPr/>
        </p:nvSpPr>
        <p:spPr>
          <a:xfrm>
            <a:off x="5486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250+</a:t>
            </a:r>
          </a:p>
        </p:txBody>
      </p:sp>
      <p:sp>
        <p:nvSpPr>
          <p:cNvPr id="5" name="TextBox 4"/>
          <p:cNvSpPr txBox="1"/>
          <p:nvPr/>
        </p:nvSpPr>
        <p:spPr>
          <a:xfrm>
            <a:off x="5486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GCCs</a:t>
            </a:r>
          </a:p>
        </p:txBody>
      </p:sp>
      <p:sp>
        <p:nvSpPr>
          <p:cNvPr id="6" name="TextBox 5"/>
          <p:cNvSpPr txBox="1"/>
          <p:nvPr/>
        </p:nvSpPr>
        <p:spPr>
          <a:xfrm>
            <a:off x="32918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12-14%</a:t>
            </a:r>
          </a:p>
        </p:txBody>
      </p:sp>
      <p:sp>
        <p:nvSpPr>
          <p:cNvPr id="7" name="TextBox 6"/>
          <p:cNvSpPr txBox="1"/>
          <p:nvPr/>
        </p:nvSpPr>
        <p:spPr>
          <a:xfrm>
            <a:off x="32918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Attrition (Best)</a:t>
            </a:r>
          </a:p>
        </p:txBody>
      </p:sp>
      <p:sp>
        <p:nvSpPr>
          <p:cNvPr id="8" name="TextBox 7"/>
          <p:cNvSpPr txBox="1"/>
          <p:nvPr/>
        </p:nvSpPr>
        <p:spPr>
          <a:xfrm>
            <a:off x="60350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75-80</a:t>
            </a:r>
          </a:p>
        </p:txBody>
      </p:sp>
      <p:sp>
        <p:nvSpPr>
          <p:cNvPr id="9" name="TextBox 8"/>
          <p:cNvSpPr txBox="1"/>
          <p:nvPr/>
        </p:nvSpPr>
        <p:spPr>
          <a:xfrm>
            <a:off x="60350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Cost Index</a:t>
            </a:r>
          </a:p>
        </p:txBody>
      </p:sp>
      <p:sp>
        <p:nvSpPr>
          <p:cNvPr id="10" name="TextBox 9"/>
          <p:cNvSpPr txBox="1"/>
          <p:nvPr/>
        </p:nvSpPr>
        <p:spPr>
          <a:xfrm>
            <a:off x="87782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84%</a:t>
            </a:r>
          </a:p>
        </p:txBody>
      </p:sp>
      <p:sp>
        <p:nvSpPr>
          <p:cNvPr id="11" name="TextBox 10"/>
          <p:cNvSpPr txBox="1"/>
          <p:nvPr/>
        </p:nvSpPr>
        <p:spPr>
          <a:xfrm>
            <a:off x="87782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Graduate Employability</a:t>
            </a:r>
          </a:p>
        </p:txBody>
      </p:sp>
      <p:sp>
        <p:nvSpPr>
          <p:cNvPr id="12" name="Rectangle 11"/>
          <p:cNvSpPr/>
          <p:nvPr/>
        </p:nvSpPr>
        <p:spPr>
          <a:xfrm>
            <a:off x="548640" y="246888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RETENTION ADVANTAGE</a:t>
            </a:r>
          </a:p>
        </p:txBody>
      </p:sp>
      <p:sp>
        <p:nvSpPr>
          <p:cNvPr id="13" name="TextBox 12"/>
          <p:cNvSpPr txBox="1"/>
          <p:nvPr/>
        </p:nvSpPr>
        <p:spPr>
          <a:xfrm>
            <a:off x="731520" y="2880360"/>
            <a:ext cx="6858000" cy="2560320"/>
          </a:xfrm>
          <a:prstGeom prst="rect">
            <a:avLst/>
          </a:prstGeom>
          <a:noFill/>
        </p:spPr>
        <p:txBody>
          <a:bodyPr wrap="square">
            <a:spAutoFit/>
          </a:bodyPr>
          <a:lstStyle/>
          <a:p>
            <a:pPr>
              <a:lnSpc>
                <a:spcPts val="1400"/>
              </a:lnSpc>
              <a:spcAft>
                <a:spcPts val="300"/>
              </a:spcAft>
              <a:defRPr sz="1000">
                <a:solidFill>
                  <a:srgbClr val="1A1A1A"/>
                </a:solidFill>
                <a:latin typeface="Arial"/>
              </a:defRPr>
            </a:pPr>
            <a:r>
              <a:t>• Best retention in India: 12-14% attrition, 5-8 points below Bangalore</a:t>
            </a:r>
          </a:p>
          <a:p>
            <a:pPr>
              <a:lnSpc>
                <a:spcPts val="1400"/>
              </a:lnSpc>
              <a:spcAft>
                <a:spcPts val="300"/>
              </a:spcAft>
              <a:defRPr sz="1000">
                <a:solidFill>
                  <a:srgbClr val="1A1A1A"/>
                </a:solidFill>
                <a:latin typeface="Arial"/>
              </a:defRPr>
            </a:pPr>
            <a:r>
              <a:t>• Cost index 75-80 (vs Bangalore 100) — Rs 65-95/sq ft rents</a:t>
            </a:r>
          </a:p>
          <a:p>
            <a:pPr>
              <a:lnSpc>
                <a:spcPts val="1400"/>
              </a:lnSpc>
              <a:spcAft>
                <a:spcPts val="300"/>
              </a:spcAft>
              <a:defRPr sz="1000">
                <a:solidFill>
                  <a:srgbClr val="1A1A1A"/>
                </a:solidFill>
                <a:latin typeface="Arial"/>
              </a:defRPr>
            </a:pPr>
            <a:r>
              <a:t>• 84% graduate employability rate (highest nationally, ISR 2025)</a:t>
            </a:r>
          </a:p>
          <a:p>
            <a:pPr>
              <a:lnSpc>
                <a:spcPts val="1400"/>
              </a:lnSpc>
              <a:spcAft>
                <a:spcPts val="300"/>
              </a:spcAft>
              <a:defRPr sz="1000">
                <a:solidFill>
                  <a:srgbClr val="1A1A1A"/>
                </a:solidFill>
                <a:latin typeface="Arial"/>
              </a:defRPr>
            </a:pPr>
            <a:r>
              <a:t>• Barclays operates 9,000 people — largest site outside London</a:t>
            </a:r>
          </a:p>
          <a:p>
            <a:pPr>
              <a:lnSpc>
                <a:spcPts val="1400"/>
              </a:lnSpc>
              <a:spcAft>
                <a:spcPts val="300"/>
              </a:spcAft>
              <a:defRPr sz="1000">
                <a:solidFill>
                  <a:srgbClr val="1A1A1A"/>
                </a:solidFill>
                <a:latin typeface="Arial"/>
              </a:defRPr>
            </a:pPr>
            <a:r>
              <a:t>• Strong engineering culture: Infosys, Wipro, TCS, persistent IT presence</a:t>
            </a:r>
          </a:p>
          <a:p>
            <a:pPr>
              <a:lnSpc>
                <a:spcPts val="1400"/>
              </a:lnSpc>
              <a:spcAft>
                <a:spcPts val="300"/>
              </a:spcAft>
              <a:defRPr sz="1000">
                <a:solidFill>
                  <a:srgbClr val="1A1A1A"/>
                </a:solidFill>
                <a:latin typeface="Arial"/>
              </a:defRPr>
            </a:pPr>
            <a:r>
              <a:t>• Pleasant climate year-round; Mercer QoL rank 154th</a:t>
            </a:r>
          </a:p>
          <a:p>
            <a:pPr>
              <a:lnSpc>
                <a:spcPts val="1400"/>
              </a:lnSpc>
              <a:spcAft>
                <a:spcPts val="300"/>
              </a:spcAft>
              <a:defRPr sz="1000">
                <a:solidFill>
                  <a:srgbClr val="1A1A1A"/>
                </a:solidFill>
                <a:latin typeface="Arial"/>
              </a:defRPr>
            </a:pPr>
            <a:r>
              <a:t>• Maharashtra GCC Policy 2025: 20% capital subsidy, stamp duty exemptions</a:t>
            </a:r>
          </a:p>
        </p:txBody>
      </p:sp>
      <p:sp>
        <p:nvSpPr>
          <p:cNvPr id="14" name="Rectangle 13"/>
          <p:cNvSpPr/>
          <p:nvPr/>
        </p:nvSpPr>
        <p:spPr>
          <a:xfrm>
            <a:off x="8046720" y="2880360"/>
            <a:ext cx="3566160" cy="1371600"/>
          </a:xfrm>
          <a:prstGeom prst="rect">
            <a:avLst/>
          </a:prstGeom>
          <a:solidFill>
            <a:srgbClr val="FDEDED"/>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C0392B"/>
                </a:solidFill>
                <a:latin typeface="Arial"/>
              </a:defRPr>
            </a:pPr>
            <a:r>
              <a:t>LIMITATIONS</a:t>
            </a:r>
          </a:p>
          <a:p>
            <a:pPr>
              <a:spcBef>
                <a:spcPts val="400"/>
              </a:spcBef>
              <a:defRPr sz="900">
                <a:solidFill>
                  <a:srgbClr val="1A1A1A"/>
                </a:solidFill>
                <a:latin typeface="Arial"/>
              </a:defRPr>
            </a:pPr>
            <a:r>
              <a:t>No international flights (planned mid-2026) | Only 6% of FinCrime talent | Limited quant/actuarial pool | Smaller GCC ecosystem (250+ vs 870+)</a:t>
            </a:r>
          </a:p>
        </p:txBody>
      </p:sp>
      <p:sp>
        <p:nvSpPr>
          <p:cNvPr id="15" name="Rectangle 14"/>
          <p:cNvSpPr/>
          <p:nvPr/>
        </p:nvSpPr>
        <p:spPr>
          <a:xfrm>
            <a:off x="8046720" y="4389120"/>
            <a:ext cx="3566160" cy="9144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27AE60"/>
                </a:solidFill>
                <a:latin typeface="Arial"/>
              </a:defRPr>
            </a:pPr>
            <a:r>
              <a:t>RETENTION SAVINGS MODEL</a:t>
            </a:r>
          </a:p>
          <a:p>
            <a:pPr>
              <a:spcBef>
                <a:spcPts val="400"/>
              </a:spcBef>
              <a:defRPr sz="900">
                <a:solidFill>
                  <a:srgbClr val="1A1A1A"/>
                </a:solidFill>
                <a:latin typeface="Arial"/>
              </a:defRPr>
            </a:pPr>
            <a:r>
              <a:t>5-8 pts lower attrition on 1,000 FTE at $15-20K replacement cost = $3-5M annual savings vs Bangalore</a:t>
            </a:r>
          </a:p>
        </p:txBody>
      </p:sp>
      <p:sp>
        <p:nvSpPr>
          <p:cNvPr id="16" name="Rectangle 15"/>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6-8 points lower attrition saves $3-5M annually per 1,000 FTE — deploy Pune for stable, long-tenure operations</a:t>
            </a:r>
          </a:p>
        </p:txBody>
      </p:sp>
      <p:sp>
        <p:nvSpPr>
          <p:cNvPr id="17" name="TextBox 16"/>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6</a:t>
            </a:r>
          </a:p>
        </p:txBody>
      </p:sp>
      <p:sp>
        <p:nvSpPr>
          <p:cNvPr id="18" name="TextBox 17"/>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Zinnov SIAH 2025, Aon, Maharashtra GCC Policy, ISR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LOCATION DEEP DIVE</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Delhi NCR: Direct HQ Flights and Regulatory DNA</a:t>
            </a:r>
          </a:p>
        </p:txBody>
      </p:sp>
      <p:sp>
        <p:nvSpPr>
          <p:cNvPr id="4" name="TextBox 3"/>
          <p:cNvSpPr txBox="1"/>
          <p:nvPr/>
        </p:nvSpPr>
        <p:spPr>
          <a:xfrm>
            <a:off x="5486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300+</a:t>
            </a:r>
          </a:p>
        </p:txBody>
      </p:sp>
      <p:sp>
        <p:nvSpPr>
          <p:cNvPr id="5" name="TextBox 4"/>
          <p:cNvSpPr txBox="1"/>
          <p:nvPr/>
        </p:nvSpPr>
        <p:spPr>
          <a:xfrm>
            <a:off x="5486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GCCs</a:t>
            </a:r>
          </a:p>
        </p:txBody>
      </p:sp>
      <p:sp>
        <p:nvSpPr>
          <p:cNvPr id="6" name="TextBox 5"/>
          <p:cNvSpPr txBox="1"/>
          <p:nvPr/>
        </p:nvSpPr>
        <p:spPr>
          <a:xfrm>
            <a:off x="32918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79.2M</a:t>
            </a:r>
          </a:p>
        </p:txBody>
      </p:sp>
      <p:sp>
        <p:nvSpPr>
          <p:cNvPr id="7" name="TextBox 6"/>
          <p:cNvSpPr txBox="1"/>
          <p:nvPr/>
        </p:nvSpPr>
        <p:spPr>
          <a:xfrm>
            <a:off x="32918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Airport Passengers</a:t>
            </a:r>
          </a:p>
        </p:txBody>
      </p:sp>
      <p:sp>
        <p:nvSpPr>
          <p:cNvPr id="8" name="TextBox 7"/>
          <p:cNvSpPr txBox="1"/>
          <p:nvPr/>
        </p:nvSpPr>
        <p:spPr>
          <a:xfrm>
            <a:off x="60350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394 km</a:t>
            </a:r>
          </a:p>
        </p:txBody>
      </p:sp>
      <p:sp>
        <p:nvSpPr>
          <p:cNvPr id="9" name="TextBox 8"/>
          <p:cNvSpPr txBox="1"/>
          <p:nvPr/>
        </p:nvSpPr>
        <p:spPr>
          <a:xfrm>
            <a:off x="60350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Metro Network</a:t>
            </a:r>
          </a:p>
        </p:txBody>
      </p:sp>
      <p:sp>
        <p:nvSpPr>
          <p:cNvPr id="10" name="TextBox 9"/>
          <p:cNvSpPr txBox="1"/>
          <p:nvPr/>
        </p:nvSpPr>
        <p:spPr>
          <a:xfrm>
            <a:off x="8778240" y="1188720"/>
            <a:ext cx="2011680" cy="640080"/>
          </a:xfrm>
          <a:prstGeom prst="rect">
            <a:avLst/>
          </a:prstGeom>
          <a:noFill/>
        </p:spPr>
        <p:txBody>
          <a:bodyPr wrap="square">
            <a:spAutoFit/>
          </a:bodyPr>
          <a:lstStyle/>
          <a:p>
            <a:pPr algn="ctr">
              <a:lnSpc>
                <a:spcPts val="3909"/>
              </a:lnSpc>
              <a:spcAft>
                <a:spcPts val="0"/>
              </a:spcAft>
              <a:defRPr sz="3400" b="1">
                <a:solidFill>
                  <a:srgbClr val="E84D0E"/>
                </a:solidFill>
                <a:latin typeface="Arial"/>
              </a:defRPr>
            </a:pPr>
            <a:r>
              <a:t>90-95</a:t>
            </a:r>
          </a:p>
        </p:txBody>
      </p:sp>
      <p:sp>
        <p:nvSpPr>
          <p:cNvPr id="11" name="TextBox 10"/>
          <p:cNvSpPr txBox="1"/>
          <p:nvPr/>
        </p:nvSpPr>
        <p:spPr>
          <a:xfrm>
            <a:off x="87782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Cost Index</a:t>
            </a:r>
          </a:p>
        </p:txBody>
      </p:sp>
      <p:sp>
        <p:nvSpPr>
          <p:cNvPr id="12" name="Rectangle 11"/>
          <p:cNvSpPr/>
          <p:nvPr/>
        </p:nvSpPr>
        <p:spPr>
          <a:xfrm>
            <a:off x="548640" y="246888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CONNECTIVITY &amp; REGULATORY POWERHOUSE</a:t>
            </a:r>
          </a:p>
        </p:txBody>
      </p:sp>
      <p:sp>
        <p:nvSpPr>
          <p:cNvPr id="13" name="TextBox 12"/>
          <p:cNvSpPr txBox="1"/>
          <p:nvPr/>
        </p:nvSpPr>
        <p:spPr>
          <a:xfrm>
            <a:off x="731520" y="2880360"/>
            <a:ext cx="6858000" cy="2560320"/>
          </a:xfrm>
          <a:prstGeom prst="rect">
            <a:avLst/>
          </a:prstGeom>
          <a:noFill/>
        </p:spPr>
        <p:txBody>
          <a:bodyPr wrap="square">
            <a:spAutoFit/>
          </a:bodyPr>
          <a:lstStyle/>
          <a:p>
            <a:pPr>
              <a:lnSpc>
                <a:spcPts val="1400"/>
              </a:lnSpc>
              <a:spcAft>
                <a:spcPts val="300"/>
              </a:spcAft>
              <a:defRPr sz="1000">
                <a:solidFill>
                  <a:srgbClr val="1A1A1A"/>
                </a:solidFill>
                <a:latin typeface="Arial"/>
              </a:defRPr>
            </a:pPr>
            <a:r>
              <a:t>• IGI Airport: 9th busiest globally — direct flights to US, UK, all major EU hubs</a:t>
            </a:r>
          </a:p>
          <a:p>
            <a:pPr>
              <a:lnSpc>
                <a:spcPts val="1400"/>
              </a:lnSpc>
              <a:spcAft>
                <a:spcPts val="300"/>
              </a:spcAft>
              <a:defRPr sz="1000">
                <a:solidFill>
                  <a:srgbClr val="1A1A1A"/>
                </a:solidFill>
                <a:latin typeface="Arial"/>
              </a:defRPr>
            </a:pPr>
            <a:r>
              <a:t>• Only India hub where a London MD can fly direct to office</a:t>
            </a:r>
          </a:p>
          <a:p>
            <a:pPr>
              <a:lnSpc>
                <a:spcPts val="1400"/>
              </a:lnSpc>
              <a:spcAft>
                <a:spcPts val="300"/>
              </a:spcAft>
              <a:defRPr sz="1000">
                <a:solidFill>
                  <a:srgbClr val="1A1A1A"/>
                </a:solidFill>
                <a:latin typeface="Arial"/>
              </a:defRPr>
            </a:pPr>
            <a:r>
              <a:t>• Proximity to RBI, SEBI headquarters — regulatory talent advantage</a:t>
            </a:r>
          </a:p>
          <a:p>
            <a:pPr>
              <a:lnSpc>
                <a:spcPts val="1400"/>
              </a:lnSpc>
              <a:spcAft>
                <a:spcPts val="300"/>
              </a:spcAft>
              <a:defRPr sz="1000">
                <a:solidFill>
                  <a:srgbClr val="1A1A1A"/>
                </a:solidFill>
                <a:latin typeface="Arial"/>
              </a:defRPr>
            </a:pPr>
            <a:r>
              <a:t>• Home to American Express (one of largest global), Deutsche Bank, HSBC, Barclays</a:t>
            </a:r>
          </a:p>
          <a:p>
            <a:pPr>
              <a:lnSpc>
                <a:spcPts val="1400"/>
              </a:lnSpc>
              <a:spcAft>
                <a:spcPts val="300"/>
              </a:spcAft>
              <a:defRPr sz="1000">
                <a:solidFill>
                  <a:srgbClr val="1A1A1A"/>
                </a:solidFill>
                <a:latin typeface="Arial"/>
              </a:defRPr>
            </a:pPr>
            <a:r>
              <a:t>• 394 km metro network (best in India) with 289 stations</a:t>
            </a:r>
          </a:p>
          <a:p>
            <a:pPr>
              <a:lnSpc>
                <a:spcPts val="1400"/>
              </a:lnSpc>
              <a:spcAft>
                <a:spcPts val="300"/>
              </a:spcAft>
              <a:defRPr sz="1000">
                <a:solidFill>
                  <a:srgbClr val="1A1A1A"/>
                </a:solidFill>
                <a:latin typeface="Arial"/>
              </a:defRPr>
            </a:pPr>
            <a:r>
              <a:t>• Multi-state advantage: Gurugram, Noida, Delhi — diverse talent catchment</a:t>
            </a:r>
          </a:p>
          <a:p>
            <a:pPr>
              <a:lnSpc>
                <a:spcPts val="1400"/>
              </a:lnSpc>
              <a:spcAft>
                <a:spcPts val="300"/>
              </a:spcAft>
              <a:defRPr sz="1000">
                <a:solidFill>
                  <a:srgbClr val="1A1A1A"/>
                </a:solidFill>
                <a:latin typeface="Arial"/>
              </a:defRPr>
            </a:pPr>
            <a:r>
              <a:t>• UP GCC Policy: 30-50% land subsidies, 25% capital subsidies, Rs 20 cr/yr payroll</a:t>
            </a:r>
          </a:p>
        </p:txBody>
      </p:sp>
      <p:graphicFrame>
        <p:nvGraphicFramePr>
          <p:cNvPr id="14" name="Table 13"/>
          <p:cNvGraphicFramePr>
            <a:graphicFrameLocks noGrp="1"/>
          </p:cNvGraphicFramePr>
          <p:nvPr/>
        </p:nvGraphicFramePr>
        <p:xfrm>
          <a:off x="8046720" y="2880360"/>
          <a:ext cx="3566160" cy="2011680"/>
        </p:xfrm>
        <a:graphic>
          <a:graphicData uri="http://schemas.openxmlformats.org/drawingml/2006/table">
            <a:tbl>
              <a:tblPr firstRow="1" bandRow="1">
                <a:tableStyleId>{5C22544A-7EE6-4342-B048-85BDC9FD1C3A}</a:tableStyleId>
              </a:tblPr>
              <a:tblGrid>
                <a:gridCol w="1371600"/>
                <a:gridCol w="1097280"/>
                <a:gridCol w="1097280"/>
              </a:tblGrid>
              <a:tr h="402336">
                <a:tc>
                  <a:txBody>
                    <a:bodyPr/>
                    <a:lstStyle/>
                    <a:p>
                      <a:pPr>
                        <a:defRPr sz="900" b="1">
                          <a:solidFill>
                            <a:srgbClr val="FFFFFF"/>
                          </a:solidFill>
                          <a:latin typeface="Arial"/>
                        </a:defRPr>
                      </a:pPr>
                      <a:r>
                        <a:t>Destination</a:t>
                      </a:r>
                    </a:p>
                  </a:txBody>
                  <a:tcPr>
                    <a:solidFill>
                      <a:srgbClr val="2D2D2D"/>
                    </a:solidFill>
                  </a:tcPr>
                </a:tc>
                <a:tc>
                  <a:txBody>
                    <a:bodyPr/>
                    <a:lstStyle/>
                    <a:p>
                      <a:pPr>
                        <a:defRPr sz="900" b="1">
                          <a:solidFill>
                            <a:srgbClr val="FFFFFF"/>
                          </a:solidFill>
                          <a:latin typeface="Arial"/>
                        </a:defRPr>
                      </a:pPr>
                      <a:r>
                        <a:t>Direct From Delhi</a:t>
                      </a:r>
                    </a:p>
                  </a:txBody>
                  <a:tcPr>
                    <a:solidFill>
                      <a:srgbClr val="2D2D2D"/>
                    </a:solidFill>
                  </a:tcPr>
                </a:tc>
                <a:tc>
                  <a:txBody>
                    <a:bodyPr/>
                    <a:lstStyle/>
                    <a:p>
                      <a:pPr>
                        <a:defRPr sz="900" b="1">
                          <a:solidFill>
                            <a:srgbClr val="FFFFFF"/>
                          </a:solidFill>
                          <a:latin typeface="Arial"/>
                        </a:defRPr>
                      </a:pPr>
                      <a:r>
                        <a:t>Other Cities</a:t>
                      </a:r>
                    </a:p>
                  </a:txBody>
                  <a:tcPr>
                    <a:solidFill>
                      <a:srgbClr val="2D2D2D"/>
                    </a:solidFill>
                  </a:tcPr>
                </a:tc>
              </a:tr>
              <a:tr h="402336">
                <a:tc>
                  <a:txBody>
                    <a:bodyPr/>
                    <a:lstStyle/>
                    <a:p>
                      <a:pPr>
                        <a:defRPr sz="900">
                          <a:solidFill>
                            <a:srgbClr val="1A1A1A"/>
                          </a:solidFill>
                          <a:latin typeface="Arial"/>
                        </a:defRPr>
                      </a:pPr>
                      <a:r>
                        <a:t>US (JFK, SFO, ORD)</a:t>
                      </a:r>
                    </a:p>
                  </a:txBody>
                  <a:tcPr>
                    <a:solidFill>
                      <a:srgbClr val="FFFFFF"/>
                    </a:solidFill>
                  </a:tcPr>
                </a:tc>
                <a:tc>
                  <a:txBody>
                    <a:bodyPr/>
                    <a:lstStyle/>
                    <a:p>
                      <a:pPr>
                        <a:defRPr sz="900">
                          <a:solidFill>
                            <a:srgbClr val="1A1A1A"/>
                          </a:solidFill>
                          <a:latin typeface="Arial"/>
                        </a:defRPr>
                      </a:pPr>
                      <a:r>
                        <a:t>✓ YES</a:t>
                      </a:r>
                    </a:p>
                  </a:txBody>
                  <a:tcPr>
                    <a:solidFill>
                      <a:srgbClr val="FFFFFF"/>
                    </a:solidFill>
                  </a:tcPr>
                </a:tc>
                <a:tc>
                  <a:txBody>
                    <a:bodyPr/>
                    <a:lstStyle/>
                    <a:p>
                      <a:pPr>
                        <a:defRPr sz="900">
                          <a:solidFill>
                            <a:srgbClr val="1A1A1A"/>
                          </a:solidFill>
                          <a:latin typeface="Arial"/>
                        </a:defRPr>
                      </a:pPr>
                      <a:r>
                        <a:t>✗ None</a:t>
                      </a:r>
                    </a:p>
                  </a:txBody>
                  <a:tcPr>
                    <a:solidFill>
                      <a:srgbClr val="FFFFFF"/>
                    </a:solidFill>
                  </a:tcPr>
                </a:tc>
              </a:tr>
              <a:tr h="402336">
                <a:tc>
                  <a:txBody>
                    <a:bodyPr/>
                    <a:lstStyle/>
                    <a:p>
                      <a:pPr>
                        <a:defRPr sz="900">
                          <a:solidFill>
                            <a:srgbClr val="1A1A1A"/>
                          </a:solidFill>
                          <a:latin typeface="Arial"/>
                        </a:defRPr>
                      </a:pPr>
                      <a:r>
                        <a:t>London LHR</a:t>
                      </a:r>
                    </a:p>
                  </a:txBody>
                  <a:tcPr>
                    <a:solidFill>
                      <a:srgbClr val="F2F2F2"/>
                    </a:solidFill>
                  </a:tcPr>
                </a:tc>
                <a:tc>
                  <a:txBody>
                    <a:bodyPr/>
                    <a:lstStyle/>
                    <a:p>
                      <a:pPr>
                        <a:defRPr sz="900">
                          <a:solidFill>
                            <a:srgbClr val="1A1A1A"/>
                          </a:solidFill>
                          <a:latin typeface="Arial"/>
                        </a:defRPr>
                      </a:pPr>
                      <a:r>
                        <a:t>✓ 60+ weekly</a:t>
                      </a:r>
                    </a:p>
                  </a:txBody>
                  <a:tcPr>
                    <a:solidFill>
                      <a:srgbClr val="F2F2F2"/>
                    </a:solidFill>
                  </a:tcPr>
                </a:tc>
                <a:tc>
                  <a:txBody>
                    <a:bodyPr/>
                    <a:lstStyle/>
                    <a:p>
                      <a:pPr>
                        <a:defRPr sz="900">
                          <a:solidFill>
                            <a:srgbClr val="1A1A1A"/>
                          </a:solidFill>
                          <a:latin typeface="Arial"/>
                        </a:defRPr>
                      </a:pPr>
                      <a:r>
                        <a:t>✓ BLR, HYD</a:t>
                      </a:r>
                    </a:p>
                  </a:txBody>
                  <a:tcPr>
                    <a:solidFill>
                      <a:srgbClr val="F2F2F2"/>
                    </a:solidFill>
                  </a:tcPr>
                </a:tc>
              </a:tr>
              <a:tr h="402336">
                <a:tc>
                  <a:txBody>
                    <a:bodyPr/>
                    <a:lstStyle/>
                    <a:p>
                      <a:pPr>
                        <a:defRPr sz="900">
                          <a:solidFill>
                            <a:srgbClr val="1A1A1A"/>
                          </a:solidFill>
                          <a:latin typeface="Arial"/>
                        </a:defRPr>
                      </a:pPr>
                      <a:r>
                        <a:t>Frankfurt/Munich</a:t>
                      </a:r>
                    </a:p>
                  </a:txBody>
                  <a:tcPr>
                    <a:solidFill>
                      <a:srgbClr val="FFFFFF"/>
                    </a:solidFill>
                  </a:tcPr>
                </a:tc>
                <a:tc>
                  <a:txBody>
                    <a:bodyPr/>
                    <a:lstStyle/>
                    <a:p>
                      <a:pPr>
                        <a:defRPr sz="900">
                          <a:solidFill>
                            <a:srgbClr val="1A1A1A"/>
                          </a:solidFill>
                          <a:latin typeface="Arial"/>
                        </a:defRPr>
                      </a:pPr>
                      <a:r>
                        <a:t>✓ YES</a:t>
                      </a:r>
                    </a:p>
                  </a:txBody>
                  <a:tcPr>
                    <a:solidFill>
                      <a:srgbClr val="FFFFFF"/>
                    </a:solidFill>
                  </a:tcPr>
                </a:tc>
                <a:tc>
                  <a:txBody>
                    <a:bodyPr/>
                    <a:lstStyle/>
                    <a:p>
                      <a:pPr>
                        <a:defRPr sz="900">
                          <a:solidFill>
                            <a:srgbClr val="1A1A1A"/>
                          </a:solidFill>
                          <a:latin typeface="Arial"/>
                        </a:defRPr>
                      </a:pPr>
                      <a:r>
                        <a:t>✓ BLR only</a:t>
                      </a:r>
                    </a:p>
                  </a:txBody>
                  <a:tcPr>
                    <a:solidFill>
                      <a:srgbClr val="FFFFFF"/>
                    </a:solidFill>
                  </a:tcPr>
                </a:tc>
              </a:tr>
              <a:tr h="402336">
                <a:tc>
                  <a:txBody>
                    <a:bodyPr/>
                    <a:lstStyle/>
                    <a:p>
                      <a:pPr>
                        <a:defRPr sz="900">
                          <a:solidFill>
                            <a:srgbClr val="1A1A1A"/>
                          </a:solidFill>
                          <a:latin typeface="Arial"/>
                        </a:defRPr>
                      </a:pPr>
                      <a:r>
                        <a:t>Amsterdam/Paris</a:t>
                      </a:r>
                    </a:p>
                  </a:txBody>
                  <a:tcPr>
                    <a:solidFill>
                      <a:srgbClr val="F2F2F2"/>
                    </a:solidFill>
                  </a:tcPr>
                </a:tc>
                <a:tc>
                  <a:txBody>
                    <a:bodyPr/>
                    <a:lstStyle/>
                    <a:p>
                      <a:pPr>
                        <a:defRPr sz="900">
                          <a:solidFill>
                            <a:srgbClr val="1A1A1A"/>
                          </a:solidFill>
                          <a:latin typeface="Arial"/>
                        </a:defRPr>
                      </a:pPr>
                      <a:r>
                        <a:t>✓ YES</a:t>
                      </a:r>
                    </a:p>
                  </a:txBody>
                  <a:tcPr>
                    <a:solidFill>
                      <a:srgbClr val="F2F2F2"/>
                    </a:solidFill>
                  </a:tcPr>
                </a:tc>
                <a:tc>
                  <a:txBody>
                    <a:bodyPr/>
                    <a:lstStyle/>
                    <a:p>
                      <a:pPr>
                        <a:defRPr sz="900">
                          <a:solidFill>
                            <a:srgbClr val="1A1A1A"/>
                          </a:solidFill>
                          <a:latin typeface="Arial"/>
                        </a:defRPr>
                      </a:pPr>
                      <a:r>
                        <a:t>Limited</a:t>
                      </a:r>
                    </a:p>
                  </a:txBody>
                  <a:tcPr>
                    <a:solidFill>
                      <a:srgbClr val="F2F2F2"/>
                    </a:solidFill>
                  </a:tcPr>
                </a:tc>
              </a:tr>
            </a:tbl>
          </a:graphicData>
        </a:graphic>
      </p:graphicFrame>
      <p:sp>
        <p:nvSpPr>
          <p:cNvPr id="15" name="Rectangle 14"/>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The only India hub where a London MD can fly direct to office — irreplaceable for front-office and regulatory functions</a:t>
            </a:r>
          </a:p>
        </p:txBody>
      </p:sp>
      <p:sp>
        <p:nvSpPr>
          <p:cNvPr id="16" name="TextBox 15"/>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7</a:t>
            </a:r>
          </a:p>
        </p:txBody>
      </p:sp>
      <p:sp>
        <p:nvSpPr>
          <p:cNvPr id="17" name="TextBox 16"/>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AAI FY25, Delhi Metro, UP GCC Policy 2024, Haryana GCC Policy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STRATEGIC RECOMMENDATION</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Hub-and-Spoke with BFSI Function-City Allocation</a:t>
            </a:r>
          </a:p>
        </p:txBody>
      </p:sp>
      <p:sp>
        <p:nvSpPr>
          <p:cNvPr id="4" name="Rectangle 3"/>
          <p:cNvSpPr/>
          <p:nvPr/>
        </p:nvSpPr>
        <p:spPr>
          <a:xfrm>
            <a:off x="548640" y="109728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FUNCTION → CITY MAPPING MATRIX</a:t>
            </a:r>
          </a:p>
        </p:txBody>
      </p:sp>
      <p:graphicFrame>
        <p:nvGraphicFramePr>
          <p:cNvPr id="5" name="Table 4"/>
          <p:cNvGraphicFramePr>
            <a:graphicFrameLocks noGrp="1"/>
          </p:cNvGraphicFramePr>
          <p:nvPr/>
        </p:nvGraphicFramePr>
        <p:xfrm>
          <a:off x="548640" y="1508760"/>
          <a:ext cx="11064240" cy="2560320"/>
        </p:xfrm>
        <a:graphic>
          <a:graphicData uri="http://schemas.openxmlformats.org/drawingml/2006/table">
            <a:tbl>
              <a:tblPr firstRow="1" bandRow="1">
                <a:tableStyleId>{5C22544A-7EE6-4342-B048-85BDC9FD1C3A}</a:tableStyleId>
              </a:tblPr>
              <a:tblGrid>
                <a:gridCol w="2743200"/>
                <a:gridCol w="2286000"/>
                <a:gridCol w="6035040"/>
              </a:tblGrid>
              <a:tr h="426720">
                <a:tc>
                  <a:txBody>
                    <a:bodyPr/>
                    <a:lstStyle/>
                    <a:p>
                      <a:pPr>
                        <a:defRPr sz="900" b="1">
                          <a:solidFill>
                            <a:srgbClr val="FFFFFF"/>
                          </a:solidFill>
                          <a:latin typeface="Arial"/>
                        </a:defRPr>
                      </a:pPr>
                      <a:r>
                        <a:t>Function</a:t>
                      </a:r>
                    </a:p>
                  </a:txBody>
                  <a:tcPr>
                    <a:solidFill>
                      <a:srgbClr val="2D2D2D"/>
                    </a:solidFill>
                  </a:tcPr>
                </a:tc>
                <a:tc>
                  <a:txBody>
                    <a:bodyPr/>
                    <a:lstStyle/>
                    <a:p>
                      <a:pPr>
                        <a:defRPr sz="900" b="1">
                          <a:solidFill>
                            <a:srgbClr val="FFFFFF"/>
                          </a:solidFill>
                          <a:latin typeface="Arial"/>
                        </a:defRPr>
                      </a:pPr>
                      <a:r>
                        <a:t>Primary City</a:t>
                      </a:r>
                    </a:p>
                  </a:txBody>
                  <a:tcPr>
                    <a:solidFill>
                      <a:srgbClr val="2D2D2D"/>
                    </a:solidFill>
                  </a:tcPr>
                </a:tc>
                <a:tc>
                  <a:txBody>
                    <a:bodyPr/>
                    <a:lstStyle/>
                    <a:p>
                      <a:pPr>
                        <a:defRPr sz="900" b="1">
                          <a:solidFill>
                            <a:srgbClr val="FFFFFF"/>
                          </a:solidFill>
                          <a:latin typeface="Arial"/>
                        </a:defRPr>
                      </a:pPr>
                      <a:r>
                        <a:t>Rationale</a:t>
                      </a:r>
                    </a:p>
                  </a:txBody>
                  <a:tcPr>
                    <a:solidFill>
                      <a:srgbClr val="2D2D2D"/>
                    </a:solidFill>
                  </a:tcPr>
                </a:tc>
              </a:tr>
              <a:tr h="426720">
                <a:tc>
                  <a:txBody>
                    <a:bodyPr/>
                    <a:lstStyle/>
                    <a:p>
                      <a:pPr>
                        <a:defRPr sz="900">
                          <a:solidFill>
                            <a:srgbClr val="1A1A1A"/>
                          </a:solidFill>
                          <a:latin typeface="Arial"/>
                        </a:defRPr>
                      </a:pPr>
                      <a:r>
                        <a:t>Innovation &amp; AI/ML</a:t>
                      </a:r>
                    </a:p>
                  </a:txBody>
                  <a:tcPr>
                    <a:solidFill>
                      <a:srgbClr val="FFFFFF"/>
                    </a:solidFill>
                  </a:tcPr>
                </a:tc>
                <a:tc>
                  <a:txBody>
                    <a:bodyPr/>
                    <a:lstStyle/>
                    <a:p>
                      <a:pPr>
                        <a:defRPr sz="900">
                          <a:solidFill>
                            <a:srgbClr val="1A1A1A"/>
                          </a:solidFill>
                          <a:latin typeface="Arial"/>
                        </a:defRPr>
                      </a:pPr>
                      <a:r>
                        <a:t>Bangalore</a:t>
                      </a:r>
                    </a:p>
                  </a:txBody>
                  <a:tcPr>
                    <a:solidFill>
                      <a:srgbClr val="FFFFFF"/>
                    </a:solidFill>
                  </a:tcPr>
                </a:tc>
                <a:tc>
                  <a:txBody>
                    <a:bodyPr/>
                    <a:lstStyle/>
                    <a:p>
                      <a:pPr>
                        <a:defRPr sz="900">
                          <a:solidFill>
                            <a:srgbClr val="1A1A1A"/>
                          </a:solidFill>
                          <a:latin typeface="Arial"/>
                        </a:defRPr>
                      </a:pPr>
                      <a:r>
                        <a:t>Deepest AI/ML talent pool; Goldman, JPM quant teams</a:t>
                      </a:r>
                    </a:p>
                  </a:txBody>
                  <a:tcPr>
                    <a:solidFill>
                      <a:srgbClr val="FFFFFF"/>
                    </a:solidFill>
                  </a:tcPr>
                </a:tc>
              </a:tr>
              <a:tr h="426720">
                <a:tc>
                  <a:txBody>
                    <a:bodyPr/>
                    <a:lstStyle/>
                    <a:p>
                      <a:pPr>
                        <a:defRPr sz="900">
                          <a:solidFill>
                            <a:srgbClr val="1A1A1A"/>
                          </a:solidFill>
                          <a:latin typeface="Arial"/>
                        </a:defRPr>
                      </a:pPr>
                      <a:r>
                        <a:t>Operations &amp; Scale</a:t>
                      </a:r>
                    </a:p>
                  </a:txBody>
                  <a:tcPr>
                    <a:solidFill>
                      <a:srgbClr val="F2F2F2"/>
                    </a:solidFill>
                  </a:tcPr>
                </a:tc>
                <a:tc>
                  <a:txBody>
                    <a:bodyPr/>
                    <a:lstStyle/>
                    <a:p>
                      <a:pPr>
                        <a:defRPr sz="900">
                          <a:solidFill>
                            <a:srgbClr val="1A1A1A"/>
                          </a:solidFill>
                          <a:latin typeface="Arial"/>
                        </a:defRPr>
                      </a:pPr>
                      <a:r>
                        <a:t>Hyderabad</a:t>
                      </a:r>
                    </a:p>
                  </a:txBody>
                  <a:tcPr>
                    <a:solidFill>
                      <a:srgbClr val="F2F2F2"/>
                    </a:solidFill>
                  </a:tcPr>
                </a:tc>
                <a:tc>
                  <a:txBody>
                    <a:bodyPr/>
                    <a:lstStyle/>
                    <a:p>
                      <a:pPr>
                        <a:defRPr sz="900">
                          <a:solidFill>
                            <a:srgbClr val="1A1A1A"/>
                          </a:solidFill>
                          <a:latin typeface="Arial"/>
                        </a:defRPr>
                      </a:pPr>
                      <a:r>
                        <a:t>78% cost; fastest growth; Vanguard model proven</a:t>
                      </a:r>
                    </a:p>
                  </a:txBody>
                  <a:tcPr>
                    <a:solidFill>
                      <a:srgbClr val="F2F2F2"/>
                    </a:solidFill>
                  </a:tcPr>
                </a:tc>
              </a:tr>
              <a:tr h="426720">
                <a:tc>
                  <a:txBody>
                    <a:bodyPr/>
                    <a:lstStyle/>
                    <a:p>
                      <a:pPr>
                        <a:defRPr sz="900">
                          <a:solidFill>
                            <a:srgbClr val="1A1A1A"/>
                          </a:solidFill>
                          <a:latin typeface="Arial"/>
                        </a:defRPr>
                      </a:pPr>
                      <a:r>
                        <a:t>Risk &amp; Compliance</a:t>
                      </a:r>
                    </a:p>
                  </a:txBody>
                  <a:tcPr>
                    <a:solidFill>
                      <a:srgbClr val="FFFFFF"/>
                    </a:solidFill>
                  </a:tcPr>
                </a:tc>
                <a:tc>
                  <a:txBody>
                    <a:bodyPr/>
                    <a:lstStyle/>
                    <a:p>
                      <a:pPr>
                        <a:defRPr sz="900">
                          <a:solidFill>
                            <a:srgbClr val="1A1A1A"/>
                          </a:solidFill>
                          <a:latin typeface="Arial"/>
                        </a:defRPr>
                      </a:pPr>
                      <a:r>
                        <a:t>Pune</a:t>
                      </a:r>
                    </a:p>
                  </a:txBody>
                  <a:tcPr>
                    <a:solidFill>
                      <a:srgbClr val="FFFFFF"/>
                    </a:solidFill>
                  </a:tcPr>
                </a:tc>
                <a:tc>
                  <a:txBody>
                    <a:bodyPr/>
                    <a:lstStyle/>
                    <a:p>
                      <a:pPr>
                        <a:defRPr sz="900">
                          <a:solidFill>
                            <a:srgbClr val="1A1A1A"/>
                          </a:solidFill>
                          <a:latin typeface="Arial"/>
                        </a:defRPr>
                      </a:pPr>
                      <a:r>
                        <a:t>Best retention (12-14%); Barclays 9K; stable ops</a:t>
                      </a:r>
                    </a:p>
                  </a:txBody>
                  <a:tcPr>
                    <a:solidFill>
                      <a:srgbClr val="FFFFFF"/>
                    </a:solidFill>
                  </a:tcPr>
                </a:tc>
              </a:tr>
              <a:tr h="426720">
                <a:tc>
                  <a:txBody>
                    <a:bodyPr/>
                    <a:lstStyle/>
                    <a:p>
                      <a:pPr>
                        <a:defRPr sz="900">
                          <a:solidFill>
                            <a:srgbClr val="1A1A1A"/>
                          </a:solidFill>
                          <a:latin typeface="Arial"/>
                        </a:defRPr>
                      </a:pPr>
                      <a:r>
                        <a:t>Client-Facing &amp; Regulatory</a:t>
                      </a:r>
                    </a:p>
                  </a:txBody>
                  <a:tcPr>
                    <a:solidFill>
                      <a:srgbClr val="F2F2F2"/>
                    </a:solidFill>
                  </a:tcPr>
                </a:tc>
                <a:tc>
                  <a:txBody>
                    <a:bodyPr/>
                    <a:lstStyle/>
                    <a:p>
                      <a:pPr>
                        <a:defRPr sz="900">
                          <a:solidFill>
                            <a:srgbClr val="1A1A1A"/>
                          </a:solidFill>
                          <a:latin typeface="Arial"/>
                        </a:defRPr>
                      </a:pPr>
                      <a:r>
                        <a:t>Delhi NCR</a:t>
                      </a:r>
                    </a:p>
                  </a:txBody>
                  <a:tcPr>
                    <a:solidFill>
                      <a:srgbClr val="F2F2F2"/>
                    </a:solidFill>
                  </a:tcPr>
                </a:tc>
                <a:tc>
                  <a:txBody>
                    <a:bodyPr/>
                    <a:lstStyle/>
                    <a:p>
                      <a:pPr>
                        <a:defRPr sz="900">
                          <a:solidFill>
                            <a:srgbClr val="1A1A1A"/>
                          </a:solidFill>
                          <a:latin typeface="Arial"/>
                        </a:defRPr>
                      </a:pPr>
                      <a:r>
                        <a:t>Direct HQ flights; RBI/SEBI proximity</a:t>
                      </a:r>
                    </a:p>
                  </a:txBody>
                  <a:tcPr>
                    <a:solidFill>
                      <a:srgbClr val="F2F2F2"/>
                    </a:solidFill>
                  </a:tcPr>
                </a:tc>
              </a:tr>
              <a:tr h="426720">
                <a:tc>
                  <a:txBody>
                    <a:bodyPr/>
                    <a:lstStyle/>
                    <a:p>
                      <a:pPr>
                        <a:defRPr sz="900">
                          <a:solidFill>
                            <a:srgbClr val="1A1A1A"/>
                          </a:solidFill>
                          <a:latin typeface="Arial"/>
                        </a:defRPr>
                      </a:pPr>
                      <a:r>
                        <a:t>Burst Capacity &amp; BPO</a:t>
                      </a:r>
                    </a:p>
                  </a:txBody>
                  <a:tcPr>
                    <a:solidFill>
                      <a:srgbClr val="FFFFFF"/>
                    </a:solidFill>
                  </a:tcPr>
                </a:tc>
                <a:tc>
                  <a:txBody>
                    <a:bodyPr/>
                    <a:lstStyle/>
                    <a:p>
                      <a:pPr>
                        <a:defRPr sz="900">
                          <a:solidFill>
                            <a:srgbClr val="1A1A1A"/>
                          </a:solidFill>
                          <a:latin typeface="Arial"/>
                        </a:defRPr>
                      </a:pPr>
                      <a:r>
                        <a:t>Tier-2 Satellites</a:t>
                      </a:r>
                    </a:p>
                  </a:txBody>
                  <a:tcPr>
                    <a:solidFill>
                      <a:srgbClr val="FFFFFF"/>
                    </a:solidFill>
                  </a:tcPr>
                </a:tc>
                <a:tc>
                  <a:txBody>
                    <a:bodyPr/>
                    <a:lstStyle/>
                    <a:p>
                      <a:pPr>
                        <a:defRPr sz="900">
                          <a:solidFill>
                            <a:srgbClr val="1A1A1A"/>
                          </a:solidFill>
                          <a:latin typeface="Arial"/>
                        </a:defRPr>
                      </a:pPr>
                      <a:r>
                        <a:t>30-40% additional savings; Mysuru, Vizag, Jaipur</a:t>
                      </a:r>
                    </a:p>
                  </a:txBody>
                  <a:tcPr>
                    <a:solidFill>
                      <a:srgbClr val="FFFFFF"/>
                    </a:solidFill>
                  </a:tcPr>
                </a:tc>
              </a:tr>
            </a:tbl>
          </a:graphicData>
        </a:graphic>
      </p:graphicFrame>
      <p:sp>
        <p:nvSpPr>
          <p:cNvPr id="6" name="TextBox 5"/>
          <p:cNvSpPr txBox="1"/>
          <p:nvPr/>
        </p:nvSpPr>
        <p:spPr>
          <a:xfrm>
            <a:off x="548640" y="4114800"/>
            <a:ext cx="2011680" cy="640080"/>
          </a:xfrm>
          <a:prstGeom prst="rect">
            <a:avLst/>
          </a:prstGeom>
          <a:noFill/>
        </p:spPr>
        <p:txBody>
          <a:bodyPr wrap="square">
            <a:spAutoFit/>
          </a:bodyPr>
          <a:lstStyle/>
          <a:p>
            <a:pPr algn="ctr">
              <a:lnSpc>
                <a:spcPts val="3450"/>
              </a:lnSpc>
              <a:spcAft>
                <a:spcPts val="0"/>
              </a:spcAft>
              <a:defRPr sz="3000" b="1">
                <a:solidFill>
                  <a:srgbClr val="E84D0E"/>
                </a:solidFill>
                <a:latin typeface="Arial"/>
              </a:defRPr>
            </a:pPr>
            <a:r>
              <a:t>70%+</a:t>
            </a:r>
          </a:p>
        </p:txBody>
      </p:sp>
      <p:sp>
        <p:nvSpPr>
          <p:cNvPr id="7" name="TextBox 6"/>
          <p:cNvSpPr txBox="1"/>
          <p:nvPr/>
        </p:nvSpPr>
        <p:spPr>
          <a:xfrm>
            <a:off x="548640" y="466344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of banking GCCs operate</a:t>
            </a:r>
            <a:br/>
            <a:r>
              <a:t>multiple centers</a:t>
            </a:r>
          </a:p>
        </p:txBody>
      </p:sp>
      <p:sp>
        <p:nvSpPr>
          <p:cNvPr id="8" name="TextBox 7"/>
          <p:cNvSpPr txBox="1"/>
          <p:nvPr/>
        </p:nvSpPr>
        <p:spPr>
          <a:xfrm>
            <a:off x="3200400" y="4114800"/>
            <a:ext cx="2011680" cy="640080"/>
          </a:xfrm>
          <a:prstGeom prst="rect">
            <a:avLst/>
          </a:prstGeom>
          <a:noFill/>
        </p:spPr>
        <p:txBody>
          <a:bodyPr wrap="square">
            <a:spAutoFit/>
          </a:bodyPr>
          <a:lstStyle/>
          <a:p>
            <a:pPr algn="ctr">
              <a:lnSpc>
                <a:spcPts val="3450"/>
              </a:lnSpc>
              <a:spcAft>
                <a:spcPts val="0"/>
              </a:spcAft>
              <a:defRPr sz="3000" b="1">
                <a:solidFill>
                  <a:srgbClr val="E84D0E"/>
                </a:solidFill>
                <a:latin typeface="Arial"/>
              </a:defRPr>
            </a:pPr>
            <a:r>
              <a:t>30-40%</a:t>
            </a:r>
          </a:p>
        </p:txBody>
      </p:sp>
      <p:sp>
        <p:nvSpPr>
          <p:cNvPr id="9" name="TextBox 8"/>
          <p:cNvSpPr txBox="1"/>
          <p:nvPr/>
        </p:nvSpPr>
        <p:spPr>
          <a:xfrm>
            <a:off x="3200400" y="466344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additional savings from</a:t>
            </a:r>
            <a:br/>
            <a:r>
              <a:t>Tier-2 satellites</a:t>
            </a:r>
          </a:p>
        </p:txBody>
      </p:sp>
      <p:sp>
        <p:nvSpPr>
          <p:cNvPr id="10" name="Rectangle 9"/>
          <p:cNvSpPr/>
          <p:nvPr/>
        </p:nvSpPr>
        <p:spPr>
          <a:xfrm>
            <a:off x="5943600" y="4114800"/>
            <a:ext cx="5669280" cy="118872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RECOMMENDED APPROACH</a:t>
            </a:r>
          </a:p>
          <a:p>
            <a:pPr>
              <a:spcBef>
                <a:spcPts val="400"/>
              </a:spcBef>
              <a:defRPr sz="900">
                <a:solidFill>
                  <a:srgbClr val="1A1A1A"/>
                </a:solidFill>
                <a:latin typeface="Arial"/>
              </a:defRPr>
            </a:pPr>
            <a:r>
              <a:t>Start with Bangalore OR Hyderabad as primary hub (200 FTE Year 1). Add second city by Month 8. Evaluate Pune spoke by Month 12. BFSI needs at least two hubs from Day 1 for talent diversification and BCP.</a:t>
            </a:r>
          </a:p>
        </p:txBody>
      </p:sp>
      <p:sp>
        <p:nvSpPr>
          <p:cNvPr id="11" name="Rectangle 10"/>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The question is not which city — it is which functions go where. BFSI needs at least two hubs from Day 1</a:t>
            </a:r>
          </a:p>
        </p:txBody>
      </p:sp>
      <p:sp>
        <p:nvSpPr>
          <p:cNvPr id="12" name="TextBox 11"/>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8</a:t>
            </a:r>
          </a:p>
        </p:txBody>
      </p:sp>
      <p:sp>
        <p:nvSpPr>
          <p:cNvPr id="13" name="TextBox 12"/>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Zinnov, NASSCOM, ANSR, JLL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FINANCIAL BUSINESS CASE</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5-Year TCO Model: GCC Breaks Even at Month 24-30</a:t>
            </a:r>
          </a:p>
        </p:txBody>
      </p:sp>
      <p:graphicFrame>
        <p:nvGraphicFramePr>
          <p:cNvPr id="4" name="Table 3"/>
          <p:cNvGraphicFramePr>
            <a:graphicFrameLocks noGrp="1"/>
          </p:cNvGraphicFramePr>
          <p:nvPr/>
        </p:nvGraphicFramePr>
        <p:xfrm>
          <a:off x="548640" y="1097280"/>
          <a:ext cx="11064240" cy="3474720"/>
        </p:xfrm>
        <a:graphic>
          <a:graphicData uri="http://schemas.openxmlformats.org/drawingml/2006/table">
            <a:tbl>
              <a:tblPr firstRow="1" bandRow="1">
                <a:tableStyleId>{5C22544A-7EE6-4342-B048-85BDC9FD1C3A}</a:tableStyleId>
              </a:tblPr>
              <a:tblGrid>
                <a:gridCol w="2286000"/>
                <a:gridCol w="2926080"/>
                <a:gridCol w="2926080"/>
                <a:gridCol w="2926080"/>
              </a:tblGrid>
              <a:tr h="386080">
                <a:tc>
                  <a:txBody>
                    <a:bodyPr/>
                    <a:lstStyle/>
                    <a:p>
                      <a:pPr>
                        <a:defRPr sz="900" b="1">
                          <a:solidFill>
                            <a:srgbClr val="FFFFFF"/>
                          </a:solidFill>
                          <a:latin typeface="Arial"/>
                        </a:defRPr>
                      </a:pPr>
                      <a:r>
                        <a:t>Dimension</a:t>
                      </a:r>
                    </a:p>
                  </a:txBody>
                  <a:tcPr>
                    <a:solidFill>
                      <a:srgbClr val="2D2D2D"/>
                    </a:solidFill>
                  </a:tcPr>
                </a:tc>
                <a:tc>
                  <a:txBody>
                    <a:bodyPr/>
                    <a:lstStyle/>
                    <a:p>
                      <a:pPr>
                        <a:defRPr sz="900" b="1">
                          <a:solidFill>
                            <a:srgbClr val="FFFFFF"/>
                          </a:solidFill>
                          <a:latin typeface="Arial"/>
                        </a:defRPr>
                      </a:pPr>
                      <a:r>
                        <a:t>Pure Outsourcing</a:t>
                      </a:r>
                    </a:p>
                  </a:txBody>
                  <a:tcPr>
                    <a:solidFill>
                      <a:srgbClr val="2D2D2D"/>
                    </a:solidFill>
                  </a:tcPr>
                </a:tc>
                <a:tc>
                  <a:txBody>
                    <a:bodyPr/>
                    <a:lstStyle/>
                    <a:p>
                      <a:pPr>
                        <a:defRPr sz="900" b="1">
                          <a:solidFill>
                            <a:srgbClr val="FFFFFF"/>
                          </a:solidFill>
                          <a:latin typeface="Arial"/>
                        </a:defRPr>
                      </a:pPr>
                      <a:r>
                        <a:t>Pure GCC</a:t>
                      </a:r>
                    </a:p>
                  </a:txBody>
                  <a:tcPr>
                    <a:solidFill>
                      <a:srgbClr val="2D2D2D"/>
                    </a:solidFill>
                  </a:tcPr>
                </a:tc>
                <a:tc>
                  <a:txBody>
                    <a:bodyPr/>
                    <a:lstStyle/>
                    <a:p>
                      <a:pPr>
                        <a:defRPr sz="900" b="1">
                          <a:solidFill>
                            <a:srgbClr val="FFFFFF"/>
                          </a:solidFill>
                          <a:latin typeface="Arial"/>
                        </a:defRPr>
                      </a:pPr>
                      <a:r>
                        <a:t>BOT Hybrid</a:t>
                      </a:r>
                    </a:p>
                  </a:txBody>
                  <a:tcPr>
                    <a:solidFill>
                      <a:srgbClr val="2D2D2D"/>
                    </a:solidFill>
                  </a:tcPr>
                </a:tc>
              </a:tr>
              <a:tr h="386080">
                <a:tc>
                  <a:txBody>
                    <a:bodyPr/>
                    <a:lstStyle/>
                    <a:p>
                      <a:pPr>
                        <a:defRPr sz="900">
                          <a:solidFill>
                            <a:srgbClr val="1A1A1A"/>
                          </a:solidFill>
                          <a:latin typeface="Arial"/>
                        </a:defRPr>
                      </a:pPr>
                      <a:r>
                        <a:t>Year 1 Cost</a:t>
                      </a:r>
                    </a:p>
                  </a:txBody>
                  <a:tcPr>
                    <a:solidFill>
                      <a:srgbClr val="FFFFFF"/>
                    </a:solidFill>
                  </a:tcPr>
                </a:tc>
                <a:tc>
                  <a:txBody>
                    <a:bodyPr/>
                    <a:lstStyle/>
                    <a:p>
                      <a:pPr>
                        <a:defRPr sz="900">
                          <a:solidFill>
                            <a:srgbClr val="1A1A1A"/>
                          </a:solidFill>
                          <a:latin typeface="Arial"/>
                        </a:defRPr>
                      </a:pPr>
                      <a:r>
                        <a:t>30-70% cheaper</a:t>
                      </a:r>
                    </a:p>
                  </a:txBody>
                  <a:tcPr>
                    <a:solidFill>
                      <a:srgbClr val="FFFFFF"/>
                    </a:solidFill>
                  </a:tcPr>
                </a:tc>
                <a:tc>
                  <a:txBody>
                    <a:bodyPr/>
                    <a:lstStyle/>
                    <a:p>
                      <a:pPr>
                        <a:defRPr sz="900">
                          <a:solidFill>
                            <a:srgbClr val="1A1A1A"/>
                          </a:solidFill>
                          <a:latin typeface="Arial"/>
                        </a:defRPr>
                      </a:pPr>
                      <a:r>
                        <a:t>High CapEx (setup)</a:t>
                      </a:r>
                    </a:p>
                  </a:txBody>
                  <a:tcPr>
                    <a:solidFill>
                      <a:srgbClr val="FFFFFF"/>
                    </a:solidFill>
                  </a:tcPr>
                </a:tc>
                <a:tc>
                  <a:txBody>
                    <a:bodyPr/>
                    <a:lstStyle/>
                    <a:p>
                      <a:pPr>
                        <a:defRPr sz="900">
                          <a:solidFill>
                            <a:srgbClr val="1A1A1A"/>
                          </a:solidFill>
                          <a:latin typeface="Arial"/>
                        </a:defRPr>
                      </a:pPr>
                      <a:r>
                        <a:t>Moderate (shared)</a:t>
                      </a:r>
                    </a:p>
                  </a:txBody>
                  <a:tcPr>
                    <a:solidFill>
                      <a:srgbClr val="FFFFFF"/>
                    </a:solidFill>
                  </a:tcPr>
                </a:tc>
              </a:tr>
              <a:tr h="386080">
                <a:tc>
                  <a:txBody>
                    <a:bodyPr/>
                    <a:lstStyle/>
                    <a:p>
                      <a:pPr>
                        <a:defRPr sz="900">
                          <a:solidFill>
                            <a:srgbClr val="1A1A1A"/>
                          </a:solidFill>
                          <a:latin typeface="Arial"/>
                        </a:defRPr>
                      </a:pPr>
                      <a:r>
                        <a:t>Year 2-3</a:t>
                      </a:r>
                    </a:p>
                  </a:txBody>
                  <a:tcPr>
                    <a:solidFill>
                      <a:srgbClr val="F2F2F2"/>
                    </a:solidFill>
                  </a:tcPr>
                </a:tc>
                <a:tc>
                  <a:txBody>
                    <a:bodyPr/>
                    <a:lstStyle/>
                    <a:p>
                      <a:pPr>
                        <a:defRPr sz="900">
                          <a:solidFill>
                            <a:srgbClr val="1A1A1A"/>
                          </a:solidFill>
                          <a:latin typeface="Arial"/>
                        </a:defRPr>
                      </a:pPr>
                      <a:r>
                        <a:t>10-20% renewal escalation</a:t>
                      </a:r>
                    </a:p>
                  </a:txBody>
                  <a:tcPr>
                    <a:solidFill>
                      <a:srgbClr val="F2F2F2"/>
                    </a:solidFill>
                  </a:tcPr>
                </a:tc>
                <a:tc>
                  <a:txBody>
                    <a:bodyPr/>
                    <a:lstStyle/>
                    <a:p>
                      <a:pPr>
                        <a:defRPr sz="900">
                          <a:solidFill>
                            <a:srgbClr val="1A1A1A"/>
                          </a:solidFill>
                          <a:latin typeface="Arial"/>
                        </a:defRPr>
                      </a:pPr>
                      <a:r>
                        <a:t>Breakeven point</a:t>
                      </a:r>
                    </a:p>
                  </a:txBody>
                  <a:tcPr>
                    <a:solidFill>
                      <a:srgbClr val="F2F2F2"/>
                    </a:solidFill>
                  </a:tcPr>
                </a:tc>
                <a:tc>
                  <a:txBody>
                    <a:bodyPr/>
                    <a:lstStyle/>
                    <a:p>
                      <a:pPr>
                        <a:defRPr sz="900">
                          <a:solidFill>
                            <a:srgbClr val="1A1A1A"/>
                          </a:solidFill>
                          <a:latin typeface="Arial"/>
                        </a:defRPr>
                      </a:pPr>
                      <a:r>
                        <a:t>Captive conversion M18</a:t>
                      </a:r>
                    </a:p>
                  </a:txBody>
                  <a:tcPr>
                    <a:solidFill>
                      <a:srgbClr val="F2F2F2"/>
                    </a:solidFill>
                  </a:tcPr>
                </a:tc>
              </a:tr>
              <a:tr h="386080">
                <a:tc>
                  <a:txBody>
                    <a:bodyPr/>
                    <a:lstStyle/>
                    <a:p>
                      <a:pPr>
                        <a:defRPr sz="900">
                          <a:solidFill>
                            <a:srgbClr val="1A1A1A"/>
                          </a:solidFill>
                          <a:latin typeface="Arial"/>
                        </a:defRPr>
                      </a:pPr>
                      <a:r>
                        <a:t>Year 3-5</a:t>
                      </a:r>
                    </a:p>
                  </a:txBody>
                  <a:tcPr>
                    <a:solidFill>
                      <a:srgbClr val="FFFFFF"/>
                    </a:solidFill>
                  </a:tcPr>
                </a:tc>
                <a:tc>
                  <a:txBody>
                    <a:bodyPr/>
                    <a:lstStyle/>
                    <a:p>
                      <a:pPr>
                        <a:defRPr sz="900">
                          <a:solidFill>
                            <a:srgbClr val="1A1A1A"/>
                          </a:solidFill>
                          <a:latin typeface="Arial"/>
                        </a:defRPr>
                      </a:pPr>
                      <a:r>
                        <a:t>Escalating; vendor lock-in</a:t>
                      </a:r>
                    </a:p>
                  </a:txBody>
                  <a:tcPr>
                    <a:solidFill>
                      <a:srgbClr val="FFFFFF"/>
                    </a:solidFill>
                  </a:tcPr>
                </a:tc>
                <a:tc>
                  <a:txBody>
                    <a:bodyPr/>
                    <a:lstStyle/>
                    <a:p>
                      <a:pPr>
                        <a:defRPr sz="900">
                          <a:solidFill>
                            <a:srgbClr val="1A1A1A"/>
                          </a:solidFill>
                          <a:latin typeface="Arial"/>
                        </a:defRPr>
                      </a:pPr>
                      <a:r>
                        <a:t>15-20% savings vs outsource</a:t>
                      </a:r>
                    </a:p>
                  </a:txBody>
                  <a:tcPr>
                    <a:solidFill>
                      <a:srgbClr val="FFFFFF"/>
                    </a:solidFill>
                  </a:tcPr>
                </a:tc>
                <a:tc>
                  <a:txBody>
                    <a:bodyPr/>
                    <a:lstStyle/>
                    <a:p>
                      <a:pPr>
                        <a:defRPr sz="900">
                          <a:solidFill>
                            <a:srgbClr val="1A1A1A"/>
                          </a:solidFill>
                          <a:latin typeface="Arial"/>
                        </a:defRPr>
                      </a:pPr>
                      <a:r>
                        <a:t>15-20% savings</a:t>
                      </a:r>
                    </a:p>
                  </a:txBody>
                  <a:tcPr>
                    <a:solidFill>
                      <a:srgbClr val="FFFFFF"/>
                    </a:solidFill>
                  </a:tcPr>
                </a:tc>
              </a:tr>
              <a:tr h="386080">
                <a:tc>
                  <a:txBody>
                    <a:bodyPr/>
                    <a:lstStyle/>
                    <a:p>
                      <a:pPr>
                        <a:defRPr sz="900">
                          <a:solidFill>
                            <a:srgbClr val="1A1A1A"/>
                          </a:solidFill>
                          <a:latin typeface="Arial"/>
                        </a:defRPr>
                      </a:pPr>
                      <a:r>
                        <a:t>Setup Time</a:t>
                      </a:r>
                    </a:p>
                  </a:txBody>
                  <a:tcPr>
                    <a:solidFill>
                      <a:srgbClr val="F2F2F2"/>
                    </a:solidFill>
                  </a:tcPr>
                </a:tc>
                <a:tc>
                  <a:txBody>
                    <a:bodyPr/>
                    <a:lstStyle/>
                    <a:p>
                      <a:pPr>
                        <a:defRPr sz="900">
                          <a:solidFill>
                            <a:srgbClr val="1A1A1A"/>
                          </a:solidFill>
                          <a:latin typeface="Arial"/>
                        </a:defRPr>
                      </a:pPr>
                      <a:r>
                        <a:t>Weeks to months</a:t>
                      </a:r>
                    </a:p>
                  </a:txBody>
                  <a:tcPr>
                    <a:solidFill>
                      <a:srgbClr val="F2F2F2"/>
                    </a:solidFill>
                  </a:tcPr>
                </a:tc>
                <a:tc>
                  <a:txBody>
                    <a:bodyPr/>
                    <a:lstStyle/>
                    <a:p>
                      <a:pPr>
                        <a:defRPr sz="900">
                          <a:solidFill>
                            <a:srgbClr val="1A1A1A"/>
                          </a:solidFill>
                          <a:latin typeface="Arial"/>
                        </a:defRPr>
                      </a:pPr>
                      <a:r>
                        <a:t>12-24 months</a:t>
                      </a:r>
                    </a:p>
                  </a:txBody>
                  <a:tcPr>
                    <a:solidFill>
                      <a:srgbClr val="F2F2F2"/>
                    </a:solidFill>
                  </a:tcPr>
                </a:tc>
                <a:tc>
                  <a:txBody>
                    <a:bodyPr/>
                    <a:lstStyle/>
                    <a:p>
                      <a:pPr>
                        <a:defRPr sz="900">
                          <a:solidFill>
                            <a:srgbClr val="1A1A1A"/>
                          </a:solidFill>
                          <a:latin typeface="Arial"/>
                        </a:defRPr>
                      </a:pPr>
                      <a:r>
                        <a:t>4-6 months</a:t>
                      </a:r>
                    </a:p>
                  </a:txBody>
                  <a:tcPr>
                    <a:solidFill>
                      <a:srgbClr val="F2F2F2"/>
                    </a:solidFill>
                  </a:tcPr>
                </a:tc>
              </a:tr>
              <a:tr h="386080">
                <a:tc>
                  <a:txBody>
                    <a:bodyPr/>
                    <a:lstStyle/>
                    <a:p>
                      <a:pPr>
                        <a:defRPr sz="900">
                          <a:solidFill>
                            <a:srgbClr val="1A1A1A"/>
                          </a:solidFill>
                          <a:latin typeface="Arial"/>
                        </a:defRPr>
                      </a:pPr>
                      <a:r>
                        <a:t>Control &amp; IP</a:t>
                      </a:r>
                    </a:p>
                  </a:txBody>
                  <a:tcPr>
                    <a:solidFill>
                      <a:srgbClr val="FFFFFF"/>
                    </a:solidFill>
                  </a:tcPr>
                </a:tc>
                <a:tc>
                  <a:txBody>
                    <a:bodyPr/>
                    <a:lstStyle/>
                    <a:p>
                      <a:pPr>
                        <a:defRPr sz="900">
                          <a:solidFill>
                            <a:srgbClr val="1A1A1A"/>
                          </a:solidFill>
                          <a:latin typeface="Arial"/>
                        </a:defRPr>
                      </a:pPr>
                      <a:r>
                        <a:t>Limited; vendor owns</a:t>
                      </a:r>
                    </a:p>
                  </a:txBody>
                  <a:tcPr>
                    <a:solidFill>
                      <a:srgbClr val="FFFFFF"/>
                    </a:solidFill>
                  </a:tcPr>
                </a:tc>
                <a:tc>
                  <a:txBody>
                    <a:bodyPr/>
                    <a:lstStyle/>
                    <a:p>
                      <a:pPr>
                        <a:defRPr sz="900">
                          <a:solidFill>
                            <a:srgbClr val="1A1A1A"/>
                          </a:solidFill>
                          <a:latin typeface="Arial"/>
                        </a:defRPr>
                      </a:pPr>
                      <a:r>
                        <a:t>Full ownership</a:t>
                      </a:r>
                    </a:p>
                  </a:txBody>
                  <a:tcPr>
                    <a:solidFill>
                      <a:srgbClr val="FFFFFF"/>
                    </a:solidFill>
                  </a:tcPr>
                </a:tc>
                <a:tc>
                  <a:txBody>
                    <a:bodyPr/>
                    <a:lstStyle/>
                    <a:p>
                      <a:pPr>
                        <a:defRPr sz="900">
                          <a:solidFill>
                            <a:srgbClr val="1A1A1A"/>
                          </a:solidFill>
                          <a:latin typeface="Arial"/>
                        </a:defRPr>
                      </a:pPr>
                      <a:r>
                        <a:t>Full post-handover</a:t>
                      </a:r>
                    </a:p>
                  </a:txBody>
                  <a:tcPr>
                    <a:solidFill>
                      <a:srgbClr val="FFFFFF"/>
                    </a:solidFill>
                  </a:tcPr>
                </a:tc>
              </a:tr>
              <a:tr h="386080">
                <a:tc>
                  <a:txBody>
                    <a:bodyPr/>
                    <a:lstStyle/>
                    <a:p>
                      <a:pPr>
                        <a:defRPr sz="900">
                          <a:solidFill>
                            <a:srgbClr val="1A1A1A"/>
                          </a:solidFill>
                          <a:latin typeface="Arial"/>
                        </a:defRPr>
                      </a:pPr>
                      <a:r>
                        <a:t>Innovation</a:t>
                      </a:r>
                    </a:p>
                  </a:txBody>
                  <a:tcPr>
                    <a:solidFill>
                      <a:srgbClr val="F2F2F2"/>
                    </a:solidFill>
                  </a:tcPr>
                </a:tc>
                <a:tc>
                  <a:txBody>
                    <a:bodyPr/>
                    <a:lstStyle/>
                    <a:p>
                      <a:pPr>
                        <a:defRPr sz="900">
                          <a:solidFill>
                            <a:srgbClr val="1A1A1A"/>
                          </a:solidFill>
                          <a:latin typeface="Arial"/>
                        </a:defRPr>
                      </a:pPr>
                      <a:r>
                        <a:t>Moderate; 1x patents</a:t>
                      </a:r>
                    </a:p>
                  </a:txBody>
                  <a:tcPr>
                    <a:solidFill>
                      <a:srgbClr val="F2F2F2"/>
                    </a:solidFill>
                  </a:tcPr>
                </a:tc>
                <a:tc>
                  <a:txBody>
                    <a:bodyPr/>
                    <a:lstStyle/>
                    <a:p>
                      <a:pPr>
                        <a:defRPr sz="900">
                          <a:solidFill>
                            <a:srgbClr val="1A1A1A"/>
                          </a:solidFill>
                          <a:latin typeface="Arial"/>
                        </a:defRPr>
                      </a:pPr>
                      <a:r>
                        <a:t>3.2x more patents/$1M</a:t>
                      </a:r>
                    </a:p>
                  </a:txBody>
                  <a:tcPr>
                    <a:solidFill>
                      <a:srgbClr val="F2F2F2"/>
                    </a:solidFill>
                  </a:tcPr>
                </a:tc>
                <a:tc>
                  <a:txBody>
                    <a:bodyPr/>
                    <a:lstStyle/>
                    <a:p>
                      <a:pPr>
                        <a:defRPr sz="900">
                          <a:solidFill>
                            <a:srgbClr val="1A1A1A"/>
                          </a:solidFill>
                          <a:latin typeface="Arial"/>
                        </a:defRPr>
                      </a:pPr>
                      <a:r>
                        <a:t>3.2x post-conversion</a:t>
                      </a:r>
                    </a:p>
                  </a:txBody>
                  <a:tcPr>
                    <a:solidFill>
                      <a:srgbClr val="F2F2F2"/>
                    </a:solidFill>
                  </a:tcPr>
                </a:tc>
              </a:tr>
              <a:tr h="386080">
                <a:tc>
                  <a:txBody>
                    <a:bodyPr/>
                    <a:lstStyle/>
                    <a:p>
                      <a:pPr>
                        <a:defRPr sz="900">
                          <a:solidFill>
                            <a:srgbClr val="1A1A1A"/>
                          </a:solidFill>
                          <a:latin typeface="Arial"/>
                        </a:defRPr>
                      </a:pPr>
                      <a:r>
                        <a:t>Retention</a:t>
                      </a:r>
                    </a:p>
                  </a:txBody>
                  <a:tcPr>
                    <a:solidFill>
                      <a:srgbClr val="FFFFFF"/>
                    </a:solidFill>
                  </a:tcPr>
                </a:tc>
                <a:tc>
                  <a:txBody>
                    <a:bodyPr/>
                    <a:lstStyle/>
                    <a:p>
                      <a:pPr>
                        <a:defRPr sz="900">
                          <a:solidFill>
                            <a:srgbClr val="1A1A1A"/>
                          </a:solidFill>
                          <a:latin typeface="Arial"/>
                        </a:defRPr>
                      </a:pPr>
                      <a:r>
                        <a:t>30-35% BPO attrition</a:t>
                      </a:r>
                    </a:p>
                  </a:txBody>
                  <a:tcPr>
                    <a:solidFill>
                      <a:srgbClr val="FFFFFF"/>
                    </a:solidFill>
                  </a:tcPr>
                </a:tc>
                <a:tc>
                  <a:txBody>
                    <a:bodyPr/>
                    <a:lstStyle/>
                    <a:p>
                      <a:pPr>
                        <a:defRPr sz="900">
                          <a:solidFill>
                            <a:srgbClr val="1A1A1A"/>
                          </a:solidFill>
                          <a:latin typeface="Arial"/>
                        </a:defRPr>
                      </a:pPr>
                      <a:r>
                        <a:t>11.5-12.6% GCC attrition</a:t>
                      </a:r>
                    </a:p>
                  </a:txBody>
                  <a:tcPr>
                    <a:solidFill>
                      <a:srgbClr val="FFFFFF"/>
                    </a:solidFill>
                  </a:tcPr>
                </a:tc>
                <a:tc>
                  <a:txBody>
                    <a:bodyPr/>
                    <a:lstStyle/>
                    <a:p>
                      <a:pPr>
                        <a:defRPr sz="900">
                          <a:solidFill>
                            <a:srgbClr val="1A1A1A"/>
                          </a:solidFill>
                          <a:latin typeface="Arial"/>
                        </a:defRPr>
                      </a:pPr>
                      <a:r>
                        <a:t>GCC-level post-M18</a:t>
                      </a:r>
                    </a:p>
                  </a:txBody>
                  <a:tcPr>
                    <a:solidFill>
                      <a:srgbClr val="FFFFFF"/>
                    </a:solidFill>
                  </a:tcPr>
                </a:tc>
              </a:tr>
              <a:tr h="386080">
                <a:tc>
                  <a:txBody>
                    <a:bodyPr/>
                    <a:lstStyle/>
                    <a:p>
                      <a:pPr>
                        <a:defRPr sz="900">
                          <a:solidFill>
                            <a:srgbClr val="1A1A1A"/>
                          </a:solidFill>
                          <a:latin typeface="Arial"/>
                        </a:defRPr>
                      </a:pPr>
                      <a:r>
                        <a:t>Risk Profile</a:t>
                      </a:r>
                    </a:p>
                  </a:txBody>
                  <a:tcPr>
                    <a:solidFill>
                      <a:srgbClr val="F2F2F2"/>
                    </a:solidFill>
                  </a:tcPr>
                </a:tc>
                <a:tc>
                  <a:txBody>
                    <a:bodyPr/>
                    <a:lstStyle/>
                    <a:p>
                      <a:pPr>
                        <a:defRPr sz="900">
                          <a:solidFill>
                            <a:srgbClr val="1A1A1A"/>
                          </a:solidFill>
                          <a:latin typeface="Arial"/>
                        </a:defRPr>
                      </a:pPr>
                      <a:r>
                        <a:t>Grows over time (DORA)</a:t>
                      </a:r>
                    </a:p>
                  </a:txBody>
                  <a:tcPr>
                    <a:solidFill>
                      <a:srgbClr val="F2F2F2"/>
                    </a:solidFill>
                  </a:tcPr>
                </a:tc>
                <a:tc>
                  <a:txBody>
                    <a:bodyPr/>
                    <a:lstStyle/>
                    <a:p>
                      <a:pPr>
                        <a:defRPr sz="900">
                          <a:solidFill>
                            <a:srgbClr val="1A1A1A"/>
                          </a:solidFill>
                          <a:latin typeface="Arial"/>
                        </a:defRPr>
                      </a:pPr>
                      <a:r>
                        <a:t>Lower long-term</a:t>
                      </a:r>
                    </a:p>
                  </a:txBody>
                  <a:tcPr>
                    <a:solidFill>
                      <a:srgbClr val="F2F2F2"/>
                    </a:solidFill>
                  </a:tcPr>
                </a:tc>
                <a:tc>
                  <a:txBody>
                    <a:bodyPr/>
                    <a:lstStyle/>
                    <a:p>
                      <a:pPr>
                        <a:defRPr sz="900">
                          <a:solidFill>
                            <a:srgbClr val="1A1A1A"/>
                          </a:solidFill>
                          <a:latin typeface="Arial"/>
                        </a:defRPr>
                      </a:pPr>
                      <a:r>
                        <a:t>Best of both</a:t>
                      </a:r>
                    </a:p>
                  </a:txBody>
                  <a:tcPr>
                    <a:solidFill>
                      <a:srgbClr val="F2F2F2"/>
                    </a:solidFill>
                  </a:tcPr>
                </a:tc>
              </a:tr>
            </a:tbl>
          </a:graphicData>
        </a:graphic>
      </p:graphicFrame>
      <p:sp>
        <p:nvSpPr>
          <p:cNvPr id="5" name="TextBox 4"/>
          <p:cNvSpPr txBox="1"/>
          <p:nvPr/>
        </p:nvSpPr>
        <p:spPr>
          <a:xfrm>
            <a:off x="548640" y="4663440"/>
            <a:ext cx="2011680" cy="640080"/>
          </a:xfrm>
          <a:prstGeom prst="rect">
            <a:avLst/>
          </a:prstGeom>
          <a:noFill/>
        </p:spPr>
        <p:txBody>
          <a:bodyPr wrap="square">
            <a:spAutoFit/>
          </a:bodyPr>
          <a:lstStyle/>
          <a:p>
            <a:pPr algn="ctr">
              <a:lnSpc>
                <a:spcPts val="3219"/>
              </a:lnSpc>
              <a:spcAft>
                <a:spcPts val="0"/>
              </a:spcAft>
              <a:defRPr sz="2800" b="1">
                <a:solidFill>
                  <a:srgbClr val="E84D0E"/>
                </a:solidFill>
                <a:latin typeface="Arial"/>
              </a:defRPr>
            </a:pPr>
            <a:r>
              <a:t>M24-30</a:t>
            </a:r>
          </a:p>
        </p:txBody>
      </p:sp>
      <p:sp>
        <p:nvSpPr>
          <p:cNvPr id="6" name="TextBox 5"/>
          <p:cNvSpPr txBox="1"/>
          <p:nvPr/>
        </p:nvSpPr>
        <p:spPr>
          <a:xfrm>
            <a:off x="548640" y="5212079"/>
            <a:ext cx="2011680" cy="457200"/>
          </a:xfrm>
          <a:prstGeom prst="rect">
            <a:avLst/>
          </a:prstGeom>
          <a:noFill/>
        </p:spPr>
        <p:txBody>
          <a:bodyPr wrap="square">
            <a:spAutoFit/>
          </a:bodyPr>
          <a:lstStyle/>
          <a:p>
            <a:pPr algn="ctr">
              <a:lnSpc>
                <a:spcPts val="1150"/>
              </a:lnSpc>
              <a:spcAft>
                <a:spcPts val="0"/>
              </a:spcAft>
              <a:defRPr sz="1000" b="0">
                <a:solidFill>
                  <a:srgbClr val="666666"/>
                </a:solidFill>
                <a:latin typeface="Arial"/>
              </a:defRPr>
            </a:pPr>
            <a:r>
              <a:t>Breakeven Point</a:t>
            </a:r>
          </a:p>
        </p:txBody>
      </p:sp>
      <p:sp>
        <p:nvSpPr>
          <p:cNvPr id="7" name="TextBox 6"/>
          <p:cNvSpPr txBox="1"/>
          <p:nvPr/>
        </p:nvSpPr>
        <p:spPr>
          <a:xfrm>
            <a:off x="2926080" y="4663440"/>
            <a:ext cx="2011680" cy="640080"/>
          </a:xfrm>
          <a:prstGeom prst="rect">
            <a:avLst/>
          </a:prstGeom>
          <a:noFill/>
        </p:spPr>
        <p:txBody>
          <a:bodyPr wrap="square">
            <a:spAutoFit/>
          </a:bodyPr>
          <a:lstStyle/>
          <a:p>
            <a:pPr algn="ctr">
              <a:lnSpc>
                <a:spcPts val="3219"/>
              </a:lnSpc>
              <a:spcAft>
                <a:spcPts val="0"/>
              </a:spcAft>
              <a:defRPr sz="2800" b="1">
                <a:solidFill>
                  <a:srgbClr val="E84D0E"/>
                </a:solidFill>
                <a:latin typeface="Arial"/>
              </a:defRPr>
            </a:pPr>
            <a:r>
              <a:t>15-20%</a:t>
            </a:r>
          </a:p>
        </p:txBody>
      </p:sp>
      <p:sp>
        <p:nvSpPr>
          <p:cNvPr id="8" name="TextBox 7"/>
          <p:cNvSpPr txBox="1"/>
          <p:nvPr/>
        </p:nvSpPr>
        <p:spPr>
          <a:xfrm>
            <a:off x="2926080" y="5212079"/>
            <a:ext cx="2011680" cy="457200"/>
          </a:xfrm>
          <a:prstGeom prst="rect">
            <a:avLst/>
          </a:prstGeom>
          <a:noFill/>
        </p:spPr>
        <p:txBody>
          <a:bodyPr wrap="square">
            <a:spAutoFit/>
          </a:bodyPr>
          <a:lstStyle/>
          <a:p>
            <a:pPr algn="ctr">
              <a:lnSpc>
                <a:spcPts val="1150"/>
              </a:lnSpc>
              <a:spcAft>
                <a:spcPts val="0"/>
              </a:spcAft>
              <a:defRPr sz="1000" b="0">
                <a:solidFill>
                  <a:srgbClr val="666666"/>
                </a:solidFill>
                <a:latin typeface="Arial"/>
              </a:defRPr>
            </a:pPr>
            <a:r>
              <a:t>Savings vs Outsourcing</a:t>
            </a:r>
            <a:br/>
            <a:r>
              <a:t>(Post Year 3)</a:t>
            </a:r>
          </a:p>
        </p:txBody>
      </p:sp>
      <p:sp>
        <p:nvSpPr>
          <p:cNvPr id="9" name="TextBox 8"/>
          <p:cNvSpPr txBox="1"/>
          <p:nvPr/>
        </p:nvSpPr>
        <p:spPr>
          <a:xfrm>
            <a:off x="5303520" y="4663440"/>
            <a:ext cx="2011680" cy="640080"/>
          </a:xfrm>
          <a:prstGeom prst="rect">
            <a:avLst/>
          </a:prstGeom>
          <a:noFill/>
        </p:spPr>
        <p:txBody>
          <a:bodyPr wrap="square">
            <a:spAutoFit/>
          </a:bodyPr>
          <a:lstStyle/>
          <a:p>
            <a:pPr algn="ctr">
              <a:lnSpc>
                <a:spcPts val="3219"/>
              </a:lnSpc>
              <a:spcAft>
                <a:spcPts val="0"/>
              </a:spcAft>
              <a:defRPr sz="2800" b="1">
                <a:solidFill>
                  <a:srgbClr val="E84D0E"/>
                </a:solidFill>
                <a:latin typeface="Arial"/>
              </a:defRPr>
            </a:pPr>
            <a:r>
              <a:t>4-6 mo</a:t>
            </a:r>
          </a:p>
        </p:txBody>
      </p:sp>
      <p:sp>
        <p:nvSpPr>
          <p:cNvPr id="10" name="TextBox 9"/>
          <p:cNvSpPr txBox="1"/>
          <p:nvPr/>
        </p:nvSpPr>
        <p:spPr>
          <a:xfrm>
            <a:off x="5303520" y="5212079"/>
            <a:ext cx="2011680" cy="457200"/>
          </a:xfrm>
          <a:prstGeom prst="rect">
            <a:avLst/>
          </a:prstGeom>
          <a:noFill/>
        </p:spPr>
        <p:txBody>
          <a:bodyPr wrap="square">
            <a:spAutoFit/>
          </a:bodyPr>
          <a:lstStyle/>
          <a:p>
            <a:pPr algn="ctr">
              <a:lnSpc>
                <a:spcPts val="1150"/>
              </a:lnSpc>
              <a:spcAft>
                <a:spcPts val="0"/>
              </a:spcAft>
              <a:defRPr sz="1000" b="0">
                <a:solidFill>
                  <a:srgbClr val="666666"/>
                </a:solidFill>
                <a:latin typeface="Arial"/>
              </a:defRPr>
            </a:pPr>
            <a:r>
              <a:t>BOT Operational</a:t>
            </a:r>
            <a:br/>
            <a:r>
              <a:t>Timeline</a:t>
            </a:r>
          </a:p>
        </p:txBody>
      </p:sp>
      <p:sp>
        <p:nvSpPr>
          <p:cNvPr id="11" name="Rectangle 10"/>
          <p:cNvSpPr/>
          <p:nvPr/>
        </p:nvSpPr>
        <p:spPr>
          <a:xfrm>
            <a:off x="8046720" y="4663440"/>
            <a:ext cx="3566160" cy="868680"/>
          </a:xfrm>
          <a:prstGeom prst="rect">
            <a:avLst/>
          </a:prstGeom>
          <a:solidFill>
            <a:srgbClr val="FDEDED"/>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C0392B"/>
                </a:solidFill>
                <a:latin typeface="Arial"/>
              </a:defRPr>
            </a:pPr>
            <a:r>
              <a:t>COST OF INACTION</a:t>
            </a:r>
          </a:p>
          <a:p>
            <a:pPr>
              <a:spcBef>
                <a:spcPts val="400"/>
              </a:spcBef>
              <a:defRPr sz="900">
                <a:solidFill>
                  <a:srgbClr val="1A1A1A"/>
                </a:solidFill>
                <a:latin typeface="Arial"/>
              </a:defRPr>
            </a:pPr>
            <a:r>
              <a:t>10-15% salary inflation per year of delay. A 500 FTE GCC delayed by 1 year = $2-4M in additional costs.</a:t>
            </a:r>
          </a:p>
        </p:txBody>
      </p:sp>
      <p:sp>
        <p:nvSpPr>
          <p:cNvPr id="12" name="Rectangle 11"/>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A 500 FTE GCC delivers cumulative savings of 15-20% over outsourcing by Year 5 — the financial case is unambiguous at scale</a:t>
            </a:r>
          </a:p>
        </p:txBody>
      </p:sp>
      <p:sp>
        <p:nvSpPr>
          <p:cNvPr id="13" name="TextBox 12"/>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9</a:t>
            </a:r>
          </a:p>
        </p:txBody>
      </p:sp>
      <p:sp>
        <p:nvSpPr>
          <p:cNvPr id="14" name="TextBox 13"/>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ANSR, Zinnov, Everest Group, 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ACT III: OPERATING MODEL</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GCC Wins on 6 of 8 Dimensions in a 3+ Year Horizon</a:t>
            </a:r>
          </a:p>
        </p:txBody>
      </p:sp>
      <p:graphicFrame>
        <p:nvGraphicFramePr>
          <p:cNvPr id="4" name="Table 3"/>
          <p:cNvGraphicFramePr>
            <a:graphicFrameLocks noGrp="1"/>
          </p:cNvGraphicFramePr>
          <p:nvPr/>
        </p:nvGraphicFramePr>
        <p:xfrm>
          <a:off x="548640" y="1097280"/>
          <a:ext cx="11064240" cy="3474720"/>
        </p:xfrm>
        <a:graphic>
          <a:graphicData uri="http://schemas.openxmlformats.org/drawingml/2006/table">
            <a:tbl>
              <a:tblPr firstRow="1" bandRow="1">
                <a:tableStyleId>{5C22544A-7EE6-4342-B048-85BDC9FD1C3A}</a:tableStyleId>
              </a:tblPr>
              <a:tblGrid>
                <a:gridCol w="2286000"/>
                <a:gridCol w="3200400"/>
                <a:gridCol w="3200400"/>
                <a:gridCol w="2377440"/>
              </a:tblGrid>
              <a:tr h="386080">
                <a:tc>
                  <a:txBody>
                    <a:bodyPr/>
                    <a:lstStyle/>
                    <a:p>
                      <a:pPr>
                        <a:defRPr sz="900" b="1">
                          <a:solidFill>
                            <a:srgbClr val="FFFFFF"/>
                          </a:solidFill>
                          <a:latin typeface="Arial"/>
                        </a:defRPr>
                      </a:pPr>
                      <a:r>
                        <a:t>Dimension</a:t>
                      </a:r>
                    </a:p>
                  </a:txBody>
                  <a:tcPr>
                    <a:solidFill>
                      <a:srgbClr val="2D2D2D"/>
                    </a:solidFill>
                  </a:tcPr>
                </a:tc>
                <a:tc>
                  <a:txBody>
                    <a:bodyPr/>
                    <a:lstStyle/>
                    <a:p>
                      <a:pPr>
                        <a:defRPr sz="900" b="1">
                          <a:solidFill>
                            <a:srgbClr val="FFFFFF"/>
                          </a:solidFill>
                          <a:latin typeface="Arial"/>
                        </a:defRPr>
                      </a:pPr>
                      <a:r>
                        <a:t>GCC Model</a:t>
                      </a:r>
                    </a:p>
                  </a:txBody>
                  <a:tcPr>
                    <a:solidFill>
                      <a:srgbClr val="2D2D2D"/>
                    </a:solidFill>
                  </a:tcPr>
                </a:tc>
                <a:tc>
                  <a:txBody>
                    <a:bodyPr/>
                    <a:lstStyle/>
                    <a:p>
                      <a:pPr>
                        <a:defRPr sz="900" b="1">
                          <a:solidFill>
                            <a:srgbClr val="FFFFFF"/>
                          </a:solidFill>
                          <a:latin typeface="Arial"/>
                        </a:defRPr>
                      </a:pPr>
                      <a:r>
                        <a:t>Third-Party</a:t>
                      </a:r>
                    </a:p>
                  </a:txBody>
                  <a:tcPr>
                    <a:solidFill>
                      <a:srgbClr val="2D2D2D"/>
                    </a:solidFill>
                  </a:tcPr>
                </a:tc>
                <a:tc>
                  <a:txBody>
                    <a:bodyPr/>
                    <a:lstStyle/>
                    <a:p>
                      <a:pPr>
                        <a:defRPr sz="900" b="1">
                          <a:solidFill>
                            <a:srgbClr val="FFFFFF"/>
                          </a:solidFill>
                          <a:latin typeface="Arial"/>
                        </a:defRPr>
                      </a:pPr>
                      <a:r>
                        <a:t>Winner</a:t>
                      </a:r>
                    </a:p>
                  </a:txBody>
                  <a:tcPr>
                    <a:solidFill>
                      <a:srgbClr val="2D2D2D"/>
                    </a:solidFill>
                  </a:tcPr>
                </a:tc>
              </a:tr>
              <a:tr h="386080">
                <a:tc>
                  <a:txBody>
                    <a:bodyPr/>
                    <a:lstStyle/>
                    <a:p>
                      <a:pPr>
                        <a:defRPr sz="900">
                          <a:solidFill>
                            <a:srgbClr val="1A1A1A"/>
                          </a:solidFill>
                          <a:latin typeface="Arial"/>
                        </a:defRPr>
                      </a:pPr>
                      <a:r>
                        <a:t>Long-term Cost (Y3+)</a:t>
                      </a:r>
                    </a:p>
                  </a:txBody>
                  <a:tcPr>
                    <a:solidFill>
                      <a:srgbClr val="FFFFFF"/>
                    </a:solidFill>
                  </a:tcPr>
                </a:tc>
                <a:tc>
                  <a:txBody>
                    <a:bodyPr/>
                    <a:lstStyle/>
                    <a:p>
                      <a:pPr>
                        <a:defRPr sz="900">
                          <a:solidFill>
                            <a:srgbClr val="1A1A1A"/>
                          </a:solidFill>
                          <a:latin typeface="Arial"/>
                        </a:defRPr>
                      </a:pPr>
                      <a:r>
                        <a:t>20% annual decline</a:t>
                      </a:r>
                    </a:p>
                  </a:txBody>
                  <a:tcPr>
                    <a:solidFill>
                      <a:srgbClr val="FFFFFF"/>
                    </a:solidFill>
                  </a:tcPr>
                </a:tc>
                <a:tc>
                  <a:txBody>
                    <a:bodyPr/>
                    <a:lstStyle/>
                    <a:p>
                      <a:pPr>
                        <a:defRPr sz="900">
                          <a:solidFill>
                            <a:srgbClr val="1A1A1A"/>
                          </a:solidFill>
                          <a:latin typeface="Arial"/>
                        </a:defRPr>
                      </a:pPr>
                      <a:r>
                        <a:t>10-20% escalation on renewal</a:t>
                      </a:r>
                    </a:p>
                  </a:txBody>
                  <a:tcPr>
                    <a:solidFill>
                      <a:srgbClr val="FFFFFF"/>
                    </a:solidFill>
                  </a:tcPr>
                </a:tc>
                <a:tc>
                  <a:txBody>
                    <a:bodyPr/>
                    <a:lstStyle/>
                    <a:p>
                      <a:pPr>
                        <a:defRPr sz="900">
                          <a:solidFill>
                            <a:srgbClr val="1A1A1A"/>
                          </a:solidFill>
                          <a:latin typeface="Arial"/>
                        </a:defRPr>
                      </a:pPr>
                      <a:r>
                        <a:t>GCC</a:t>
                      </a:r>
                    </a:p>
                  </a:txBody>
                  <a:tcPr>
                    <a:solidFill>
                      <a:srgbClr val="FFFFFF"/>
                    </a:solidFill>
                  </a:tcPr>
                </a:tc>
              </a:tr>
              <a:tr h="386080">
                <a:tc>
                  <a:txBody>
                    <a:bodyPr/>
                    <a:lstStyle/>
                    <a:p>
                      <a:pPr>
                        <a:defRPr sz="900">
                          <a:solidFill>
                            <a:srgbClr val="1A1A1A"/>
                          </a:solidFill>
                          <a:latin typeface="Arial"/>
                        </a:defRPr>
                      </a:pPr>
                      <a:r>
                        <a:t>Control &amp; IP</a:t>
                      </a:r>
                    </a:p>
                  </a:txBody>
                  <a:tcPr>
                    <a:solidFill>
                      <a:srgbClr val="F2F2F2"/>
                    </a:solidFill>
                  </a:tcPr>
                </a:tc>
                <a:tc>
                  <a:txBody>
                    <a:bodyPr/>
                    <a:lstStyle/>
                    <a:p>
                      <a:pPr>
                        <a:defRPr sz="900">
                          <a:solidFill>
                            <a:srgbClr val="1A1A1A"/>
                          </a:solidFill>
                          <a:latin typeface="Arial"/>
                        </a:defRPr>
                      </a:pPr>
                      <a:r>
                        <a:t>Full ownership</a:t>
                      </a:r>
                    </a:p>
                  </a:txBody>
                  <a:tcPr>
                    <a:solidFill>
                      <a:srgbClr val="F2F2F2"/>
                    </a:solidFill>
                  </a:tcPr>
                </a:tc>
                <a:tc>
                  <a:txBody>
                    <a:bodyPr/>
                    <a:lstStyle/>
                    <a:p>
                      <a:pPr>
                        <a:defRPr sz="900">
                          <a:solidFill>
                            <a:srgbClr val="1A1A1A"/>
                          </a:solidFill>
                          <a:latin typeface="Arial"/>
                        </a:defRPr>
                      </a:pPr>
                      <a:r>
                        <a:t>Limited; vendor lock-in</a:t>
                      </a:r>
                    </a:p>
                  </a:txBody>
                  <a:tcPr>
                    <a:solidFill>
                      <a:srgbClr val="F2F2F2"/>
                    </a:solidFill>
                  </a:tcPr>
                </a:tc>
                <a:tc>
                  <a:txBody>
                    <a:bodyPr/>
                    <a:lstStyle/>
                    <a:p>
                      <a:pPr>
                        <a:defRPr sz="900">
                          <a:solidFill>
                            <a:srgbClr val="1A1A1A"/>
                          </a:solidFill>
                          <a:latin typeface="Arial"/>
                        </a:defRPr>
                      </a:pPr>
                      <a:r>
                        <a:t>GCC</a:t>
                      </a:r>
                    </a:p>
                  </a:txBody>
                  <a:tcPr>
                    <a:solidFill>
                      <a:srgbClr val="F2F2F2"/>
                    </a:solidFill>
                  </a:tcPr>
                </a:tc>
              </a:tr>
              <a:tr h="386080">
                <a:tc>
                  <a:txBody>
                    <a:bodyPr/>
                    <a:lstStyle/>
                    <a:p>
                      <a:pPr>
                        <a:defRPr sz="900">
                          <a:solidFill>
                            <a:srgbClr val="1A1A1A"/>
                          </a:solidFill>
                          <a:latin typeface="Arial"/>
                        </a:defRPr>
                      </a:pPr>
                      <a:r>
                        <a:t>Innovation</a:t>
                      </a:r>
                    </a:p>
                  </a:txBody>
                  <a:tcPr>
                    <a:solidFill>
                      <a:srgbClr val="FFFFFF"/>
                    </a:solidFill>
                  </a:tcPr>
                </a:tc>
                <a:tc>
                  <a:txBody>
                    <a:bodyPr/>
                    <a:lstStyle/>
                    <a:p>
                      <a:pPr>
                        <a:defRPr sz="900">
                          <a:solidFill>
                            <a:srgbClr val="1A1A1A"/>
                          </a:solidFill>
                          <a:latin typeface="Arial"/>
                        </a:defRPr>
                      </a:pPr>
                      <a:r>
                        <a:t>3.2x more patents/$1M</a:t>
                      </a:r>
                    </a:p>
                  </a:txBody>
                  <a:tcPr>
                    <a:solidFill>
                      <a:srgbClr val="FFFFFF"/>
                    </a:solidFill>
                  </a:tcPr>
                </a:tc>
                <a:tc>
                  <a:txBody>
                    <a:bodyPr/>
                    <a:lstStyle/>
                    <a:p>
                      <a:pPr>
                        <a:defRPr sz="900">
                          <a:solidFill>
                            <a:srgbClr val="1A1A1A"/>
                          </a:solidFill>
                          <a:latin typeface="Arial"/>
                        </a:defRPr>
                      </a:pPr>
                      <a:r>
                        <a:t>Moderate</a:t>
                      </a:r>
                    </a:p>
                  </a:txBody>
                  <a:tcPr>
                    <a:solidFill>
                      <a:srgbClr val="FFFFFF"/>
                    </a:solidFill>
                  </a:tcPr>
                </a:tc>
                <a:tc>
                  <a:txBody>
                    <a:bodyPr/>
                    <a:lstStyle/>
                    <a:p>
                      <a:pPr>
                        <a:defRPr sz="900">
                          <a:solidFill>
                            <a:srgbClr val="1A1A1A"/>
                          </a:solidFill>
                          <a:latin typeface="Arial"/>
                        </a:defRPr>
                      </a:pPr>
                      <a:r>
                        <a:t>GCC</a:t>
                      </a:r>
                    </a:p>
                  </a:txBody>
                  <a:tcPr>
                    <a:solidFill>
                      <a:srgbClr val="FFFFFF"/>
                    </a:solidFill>
                  </a:tcPr>
                </a:tc>
              </a:tr>
              <a:tr h="386080">
                <a:tc>
                  <a:txBody>
                    <a:bodyPr/>
                    <a:lstStyle/>
                    <a:p>
                      <a:pPr>
                        <a:defRPr sz="900">
                          <a:solidFill>
                            <a:srgbClr val="1A1A1A"/>
                          </a:solidFill>
                          <a:latin typeface="Arial"/>
                        </a:defRPr>
                      </a:pPr>
                      <a:r>
                        <a:t>Talent Retention</a:t>
                      </a:r>
                    </a:p>
                  </a:txBody>
                  <a:tcPr>
                    <a:solidFill>
                      <a:srgbClr val="F2F2F2"/>
                    </a:solidFill>
                  </a:tcPr>
                </a:tc>
                <a:tc>
                  <a:txBody>
                    <a:bodyPr/>
                    <a:lstStyle/>
                    <a:p>
                      <a:pPr>
                        <a:defRPr sz="900">
                          <a:solidFill>
                            <a:srgbClr val="1A1A1A"/>
                          </a:solidFill>
                          <a:latin typeface="Arial"/>
                        </a:defRPr>
                      </a:pPr>
                      <a:r>
                        <a:t>40% higher vs vendor teams</a:t>
                      </a:r>
                    </a:p>
                  </a:txBody>
                  <a:tcPr>
                    <a:solidFill>
                      <a:srgbClr val="F2F2F2"/>
                    </a:solidFill>
                  </a:tcPr>
                </a:tc>
                <a:tc>
                  <a:txBody>
                    <a:bodyPr/>
                    <a:lstStyle/>
                    <a:p>
                      <a:pPr>
                        <a:defRPr sz="900">
                          <a:solidFill>
                            <a:srgbClr val="1A1A1A"/>
                          </a:solidFill>
                          <a:latin typeface="Arial"/>
                        </a:defRPr>
                      </a:pPr>
                      <a:r>
                        <a:t>30-35% BPO attrition</a:t>
                      </a:r>
                    </a:p>
                  </a:txBody>
                  <a:tcPr>
                    <a:solidFill>
                      <a:srgbClr val="F2F2F2"/>
                    </a:solidFill>
                  </a:tcPr>
                </a:tc>
                <a:tc>
                  <a:txBody>
                    <a:bodyPr/>
                    <a:lstStyle/>
                    <a:p>
                      <a:pPr>
                        <a:defRPr sz="900">
                          <a:solidFill>
                            <a:srgbClr val="1A1A1A"/>
                          </a:solidFill>
                          <a:latin typeface="Arial"/>
                        </a:defRPr>
                      </a:pPr>
                      <a:r>
                        <a:t>GCC</a:t>
                      </a:r>
                    </a:p>
                  </a:txBody>
                  <a:tcPr>
                    <a:solidFill>
                      <a:srgbClr val="F2F2F2"/>
                    </a:solidFill>
                  </a:tcPr>
                </a:tc>
              </a:tr>
              <a:tr h="386080">
                <a:tc>
                  <a:txBody>
                    <a:bodyPr/>
                    <a:lstStyle/>
                    <a:p>
                      <a:pPr>
                        <a:defRPr sz="900">
                          <a:solidFill>
                            <a:srgbClr val="1A1A1A"/>
                          </a:solidFill>
                          <a:latin typeface="Arial"/>
                        </a:defRPr>
                      </a:pPr>
                      <a:r>
                        <a:t>Regulatory Compliance</a:t>
                      </a:r>
                    </a:p>
                  </a:txBody>
                  <a:tcPr>
                    <a:solidFill>
                      <a:srgbClr val="FFFFFF"/>
                    </a:solidFill>
                  </a:tcPr>
                </a:tc>
                <a:tc>
                  <a:txBody>
                    <a:bodyPr/>
                    <a:lstStyle/>
                    <a:p>
                      <a:pPr>
                        <a:defRPr sz="900">
                          <a:solidFill>
                            <a:srgbClr val="1A1A1A"/>
                          </a:solidFill>
                          <a:latin typeface="Arial"/>
                        </a:defRPr>
                      </a:pPr>
                      <a:r>
                        <a:t>By design (in-house)</a:t>
                      </a:r>
                    </a:p>
                  </a:txBody>
                  <a:tcPr>
                    <a:solidFill>
                      <a:srgbClr val="FFFFFF"/>
                    </a:solidFill>
                  </a:tcPr>
                </a:tc>
                <a:tc>
                  <a:txBody>
                    <a:bodyPr/>
                    <a:lstStyle/>
                    <a:p>
                      <a:pPr>
                        <a:defRPr sz="900">
                          <a:solidFill>
                            <a:srgbClr val="1A1A1A"/>
                          </a:solidFill>
                          <a:latin typeface="Arial"/>
                        </a:defRPr>
                      </a:pPr>
                      <a:r>
                        <a:t>Requires extensive oversight</a:t>
                      </a:r>
                    </a:p>
                  </a:txBody>
                  <a:tcPr>
                    <a:solidFill>
                      <a:srgbClr val="FFFFFF"/>
                    </a:solidFill>
                  </a:tcPr>
                </a:tc>
                <a:tc>
                  <a:txBody>
                    <a:bodyPr/>
                    <a:lstStyle/>
                    <a:p>
                      <a:pPr>
                        <a:defRPr sz="900">
                          <a:solidFill>
                            <a:srgbClr val="1A1A1A"/>
                          </a:solidFill>
                          <a:latin typeface="Arial"/>
                        </a:defRPr>
                      </a:pPr>
                      <a:r>
                        <a:t>GCC</a:t>
                      </a:r>
                    </a:p>
                  </a:txBody>
                  <a:tcPr>
                    <a:solidFill>
                      <a:srgbClr val="FFFFFF"/>
                    </a:solidFill>
                  </a:tcPr>
                </a:tc>
              </a:tr>
              <a:tr h="386080">
                <a:tc>
                  <a:txBody>
                    <a:bodyPr/>
                    <a:lstStyle/>
                    <a:p>
                      <a:pPr>
                        <a:defRPr sz="900">
                          <a:solidFill>
                            <a:srgbClr val="1A1A1A"/>
                          </a:solidFill>
                          <a:latin typeface="Arial"/>
                        </a:defRPr>
                      </a:pPr>
                      <a:r>
                        <a:t>COVID/BCP Resilience</a:t>
                      </a:r>
                    </a:p>
                  </a:txBody>
                  <a:tcPr>
                    <a:solidFill>
                      <a:srgbClr val="F2F2F2"/>
                    </a:solidFill>
                  </a:tcPr>
                </a:tc>
                <a:tc>
                  <a:txBody>
                    <a:bodyPr/>
                    <a:lstStyle/>
                    <a:p>
                      <a:pPr>
                        <a:defRPr sz="900">
                          <a:solidFill>
                            <a:srgbClr val="1A1A1A"/>
                          </a:solidFill>
                          <a:latin typeface="Arial"/>
                        </a:defRPr>
                      </a:pPr>
                      <a:r>
                        <a:t>100%+ pre-crisis baseline</a:t>
                      </a:r>
                    </a:p>
                  </a:txBody>
                  <a:tcPr>
                    <a:solidFill>
                      <a:srgbClr val="F2F2F2"/>
                    </a:solidFill>
                  </a:tcPr>
                </a:tc>
                <a:tc>
                  <a:txBody>
                    <a:bodyPr/>
                    <a:lstStyle/>
                    <a:p>
                      <a:pPr>
                        <a:defRPr sz="900">
                          <a:solidFill>
                            <a:srgbClr val="1A1A1A"/>
                          </a:solidFill>
                          <a:latin typeface="Arial"/>
                        </a:defRPr>
                      </a:pPr>
                      <a:r>
                        <a:t>Struggled with continuity</a:t>
                      </a:r>
                    </a:p>
                  </a:txBody>
                  <a:tcPr>
                    <a:solidFill>
                      <a:srgbClr val="F2F2F2"/>
                    </a:solidFill>
                  </a:tcPr>
                </a:tc>
                <a:tc>
                  <a:txBody>
                    <a:bodyPr/>
                    <a:lstStyle/>
                    <a:p>
                      <a:pPr>
                        <a:defRPr sz="900">
                          <a:solidFill>
                            <a:srgbClr val="1A1A1A"/>
                          </a:solidFill>
                          <a:latin typeface="Arial"/>
                        </a:defRPr>
                      </a:pPr>
                      <a:r>
                        <a:t>GCC</a:t>
                      </a:r>
                    </a:p>
                  </a:txBody>
                  <a:tcPr>
                    <a:solidFill>
                      <a:srgbClr val="F2F2F2"/>
                    </a:solidFill>
                  </a:tcPr>
                </a:tc>
              </a:tr>
              <a:tr h="386080">
                <a:tc>
                  <a:txBody>
                    <a:bodyPr/>
                    <a:lstStyle/>
                    <a:p>
                      <a:pPr>
                        <a:defRPr sz="900">
                          <a:solidFill>
                            <a:srgbClr val="1A1A1A"/>
                          </a:solidFill>
                          <a:latin typeface="Arial"/>
                        </a:defRPr>
                      </a:pPr>
                      <a:r>
                        <a:t>Setup Speed</a:t>
                      </a:r>
                    </a:p>
                  </a:txBody>
                  <a:tcPr>
                    <a:solidFill>
                      <a:srgbClr val="FFFFFF"/>
                    </a:solidFill>
                  </a:tcPr>
                </a:tc>
                <a:tc>
                  <a:txBody>
                    <a:bodyPr/>
                    <a:lstStyle/>
                    <a:p>
                      <a:pPr>
                        <a:defRPr sz="900">
                          <a:solidFill>
                            <a:srgbClr val="1A1A1A"/>
                          </a:solidFill>
                          <a:latin typeface="Arial"/>
                        </a:defRPr>
                      </a:pPr>
                      <a:r>
                        <a:t>12-24 months</a:t>
                      </a:r>
                    </a:p>
                  </a:txBody>
                  <a:tcPr>
                    <a:solidFill>
                      <a:srgbClr val="FFFFFF"/>
                    </a:solidFill>
                  </a:tcPr>
                </a:tc>
                <a:tc>
                  <a:txBody>
                    <a:bodyPr/>
                    <a:lstStyle/>
                    <a:p>
                      <a:pPr>
                        <a:defRPr sz="900">
                          <a:solidFill>
                            <a:srgbClr val="1A1A1A"/>
                          </a:solidFill>
                          <a:latin typeface="Arial"/>
                        </a:defRPr>
                      </a:pPr>
                      <a:r>
                        <a:t>Weeks to months</a:t>
                      </a:r>
                    </a:p>
                  </a:txBody>
                  <a:tcPr>
                    <a:solidFill>
                      <a:srgbClr val="FFFFFF"/>
                    </a:solidFill>
                  </a:tcPr>
                </a:tc>
                <a:tc>
                  <a:txBody>
                    <a:bodyPr/>
                    <a:lstStyle/>
                    <a:p>
                      <a:pPr>
                        <a:defRPr sz="900">
                          <a:solidFill>
                            <a:srgbClr val="1A1A1A"/>
                          </a:solidFill>
                          <a:latin typeface="Arial"/>
                        </a:defRPr>
                      </a:pPr>
                      <a:r>
                        <a:t>Third-Party</a:t>
                      </a:r>
                    </a:p>
                  </a:txBody>
                  <a:tcPr>
                    <a:solidFill>
                      <a:srgbClr val="FFFFFF"/>
                    </a:solidFill>
                  </a:tcPr>
                </a:tc>
              </a:tr>
              <a:tr h="386080">
                <a:tc>
                  <a:txBody>
                    <a:bodyPr/>
                    <a:lstStyle/>
                    <a:p>
                      <a:pPr>
                        <a:defRPr sz="900">
                          <a:solidFill>
                            <a:srgbClr val="1A1A1A"/>
                          </a:solidFill>
                          <a:latin typeface="Arial"/>
                        </a:defRPr>
                      </a:pPr>
                      <a:r>
                        <a:t>Upfront Cost</a:t>
                      </a:r>
                    </a:p>
                  </a:txBody>
                  <a:tcPr>
                    <a:solidFill>
                      <a:srgbClr val="F2F2F2"/>
                    </a:solidFill>
                  </a:tcPr>
                </a:tc>
                <a:tc>
                  <a:txBody>
                    <a:bodyPr/>
                    <a:lstStyle/>
                    <a:p>
                      <a:pPr>
                        <a:defRPr sz="900">
                          <a:solidFill>
                            <a:srgbClr val="1A1A1A"/>
                          </a:solidFill>
                          <a:latin typeface="Arial"/>
                        </a:defRPr>
                      </a:pPr>
                      <a:r>
                        <a:t>High CapEx</a:t>
                      </a:r>
                    </a:p>
                  </a:txBody>
                  <a:tcPr>
                    <a:solidFill>
                      <a:srgbClr val="F2F2F2"/>
                    </a:solidFill>
                  </a:tcPr>
                </a:tc>
                <a:tc>
                  <a:txBody>
                    <a:bodyPr/>
                    <a:lstStyle/>
                    <a:p>
                      <a:pPr>
                        <a:defRPr sz="900">
                          <a:solidFill>
                            <a:srgbClr val="1A1A1A"/>
                          </a:solidFill>
                          <a:latin typeface="Arial"/>
                        </a:defRPr>
                      </a:pPr>
                      <a:r>
                        <a:t>Low initial investment</a:t>
                      </a:r>
                    </a:p>
                  </a:txBody>
                  <a:tcPr>
                    <a:solidFill>
                      <a:srgbClr val="F2F2F2"/>
                    </a:solidFill>
                  </a:tcPr>
                </a:tc>
                <a:tc>
                  <a:txBody>
                    <a:bodyPr/>
                    <a:lstStyle/>
                    <a:p>
                      <a:pPr>
                        <a:defRPr sz="900">
                          <a:solidFill>
                            <a:srgbClr val="1A1A1A"/>
                          </a:solidFill>
                          <a:latin typeface="Arial"/>
                        </a:defRPr>
                      </a:pPr>
                      <a:r>
                        <a:t>Third-Party</a:t>
                      </a:r>
                    </a:p>
                  </a:txBody>
                  <a:tcPr>
                    <a:solidFill>
                      <a:srgbClr val="F2F2F2"/>
                    </a:solidFill>
                  </a:tcPr>
                </a:tc>
              </a:tr>
            </a:tbl>
          </a:graphicData>
        </a:graphic>
      </p:graphicFrame>
      <p:sp>
        <p:nvSpPr>
          <p:cNvPr id="5" name="TextBox 4"/>
          <p:cNvSpPr txBox="1"/>
          <p:nvPr/>
        </p:nvSpPr>
        <p:spPr>
          <a:xfrm>
            <a:off x="548640" y="4754880"/>
            <a:ext cx="2011680" cy="640080"/>
          </a:xfrm>
          <a:prstGeom prst="rect">
            <a:avLst/>
          </a:prstGeom>
          <a:noFill/>
        </p:spPr>
        <p:txBody>
          <a:bodyPr wrap="square">
            <a:spAutoFit/>
          </a:bodyPr>
          <a:lstStyle/>
          <a:p>
            <a:pPr algn="ctr">
              <a:lnSpc>
                <a:spcPts val="3679"/>
              </a:lnSpc>
              <a:spcAft>
                <a:spcPts val="0"/>
              </a:spcAft>
              <a:defRPr sz="3200" b="1">
                <a:solidFill>
                  <a:srgbClr val="E84D0E"/>
                </a:solidFill>
                <a:latin typeface="Arial"/>
              </a:defRPr>
            </a:pPr>
            <a:r>
              <a:t>6 of 8</a:t>
            </a:r>
          </a:p>
        </p:txBody>
      </p:sp>
      <p:sp>
        <p:nvSpPr>
          <p:cNvPr id="6" name="TextBox 5"/>
          <p:cNvSpPr txBox="1"/>
          <p:nvPr/>
        </p:nvSpPr>
        <p:spPr>
          <a:xfrm>
            <a:off x="548640" y="5303520"/>
            <a:ext cx="2011680" cy="457200"/>
          </a:xfrm>
          <a:prstGeom prst="rect">
            <a:avLst/>
          </a:prstGeom>
          <a:noFill/>
        </p:spPr>
        <p:txBody>
          <a:bodyPr wrap="square">
            <a:spAutoFit/>
          </a:bodyPr>
          <a:lstStyle/>
          <a:p>
            <a:pPr algn="ctr">
              <a:lnSpc>
                <a:spcPts val="1150"/>
              </a:lnSpc>
              <a:spcAft>
                <a:spcPts val="0"/>
              </a:spcAft>
              <a:defRPr sz="1000" b="0">
                <a:solidFill>
                  <a:srgbClr val="666666"/>
                </a:solidFill>
                <a:latin typeface="Arial"/>
              </a:defRPr>
            </a:pPr>
            <a:r>
              <a:t>Dimensions Won by GCC</a:t>
            </a:r>
          </a:p>
        </p:txBody>
      </p:sp>
      <p:sp>
        <p:nvSpPr>
          <p:cNvPr id="7" name="TextBox 6"/>
          <p:cNvSpPr txBox="1"/>
          <p:nvPr/>
        </p:nvSpPr>
        <p:spPr>
          <a:xfrm>
            <a:off x="3200400" y="4754880"/>
            <a:ext cx="2011680" cy="640080"/>
          </a:xfrm>
          <a:prstGeom prst="rect">
            <a:avLst/>
          </a:prstGeom>
          <a:noFill/>
        </p:spPr>
        <p:txBody>
          <a:bodyPr wrap="square">
            <a:spAutoFit/>
          </a:bodyPr>
          <a:lstStyle/>
          <a:p>
            <a:pPr algn="ctr">
              <a:lnSpc>
                <a:spcPts val="3679"/>
              </a:lnSpc>
              <a:spcAft>
                <a:spcPts val="0"/>
              </a:spcAft>
              <a:defRPr sz="3200" b="1">
                <a:solidFill>
                  <a:srgbClr val="666666"/>
                </a:solidFill>
                <a:latin typeface="Arial"/>
              </a:defRPr>
            </a:pPr>
            <a:r>
              <a:t>2 of 8</a:t>
            </a:r>
          </a:p>
        </p:txBody>
      </p:sp>
      <p:sp>
        <p:nvSpPr>
          <p:cNvPr id="8" name="TextBox 7"/>
          <p:cNvSpPr txBox="1"/>
          <p:nvPr/>
        </p:nvSpPr>
        <p:spPr>
          <a:xfrm>
            <a:off x="3200400" y="5303520"/>
            <a:ext cx="2011680" cy="457200"/>
          </a:xfrm>
          <a:prstGeom prst="rect">
            <a:avLst/>
          </a:prstGeom>
          <a:noFill/>
        </p:spPr>
        <p:txBody>
          <a:bodyPr wrap="square">
            <a:spAutoFit/>
          </a:bodyPr>
          <a:lstStyle/>
          <a:p>
            <a:pPr algn="ctr">
              <a:lnSpc>
                <a:spcPts val="1150"/>
              </a:lnSpc>
              <a:spcAft>
                <a:spcPts val="0"/>
              </a:spcAft>
              <a:defRPr sz="1000" b="0">
                <a:solidFill>
                  <a:srgbClr val="666666"/>
                </a:solidFill>
                <a:latin typeface="Arial"/>
              </a:defRPr>
            </a:pPr>
            <a:r>
              <a:t>Dimensions Won by</a:t>
            </a:r>
            <a:br/>
            <a:r>
              <a:t>Third-Party</a:t>
            </a:r>
          </a:p>
        </p:txBody>
      </p:sp>
      <p:sp>
        <p:nvSpPr>
          <p:cNvPr id="9" name="Rectangle 8"/>
          <p:cNvSpPr/>
          <p:nvPr/>
        </p:nvSpPr>
        <p:spPr>
          <a:xfrm>
            <a:off x="5943600" y="4754880"/>
            <a:ext cx="5669280" cy="82296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666666"/>
                </a:solidFill>
                <a:latin typeface="Arial"/>
              </a:defRPr>
            </a:pPr>
            <a:r>
              <a:t>WHEN OUTSOURCING WINS</a:t>
            </a:r>
          </a:p>
          <a:p>
            <a:pPr>
              <a:spcBef>
                <a:spcPts val="400"/>
              </a:spcBef>
              <a:defRPr sz="900">
                <a:solidFill>
                  <a:srgbClr val="1A1A1A"/>
                </a:solidFill>
                <a:latin typeface="Arial"/>
              </a:defRPr>
            </a:pPr>
            <a:r>
              <a:t>Only if you plan to exit within 2 years, need burst capacity, or require niche skills for short-duration projects.</a:t>
            </a:r>
          </a:p>
        </p:txBody>
      </p:sp>
      <p:sp>
        <p:nvSpPr>
          <p:cNvPr id="10" name="Rectangle 9"/>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GCC costs more upfront but wins decisively on control and risk — outsourcing only wins if you plan to exit within 2 years</a:t>
            </a:r>
          </a:p>
        </p:txBody>
      </p:sp>
      <p:sp>
        <p:nvSpPr>
          <p:cNvPr id="11" name="TextBox 10"/>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10</a:t>
            </a:r>
          </a:p>
        </p:txBody>
      </p:sp>
      <p:sp>
        <p:nvSpPr>
          <p:cNvPr id="12" name="TextBox 11"/>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ANSR, Zinnov, McKinsey, Forrester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GCC STRATEGIC VALUE</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From Cost Center to Innovation Engine: The GCC Strategic Shift</a:t>
            </a:r>
          </a:p>
        </p:txBody>
      </p:sp>
      <p:sp>
        <p:nvSpPr>
          <p:cNvPr id="4" name="TextBox 3"/>
          <p:cNvSpPr txBox="1"/>
          <p:nvPr/>
        </p:nvSpPr>
        <p:spPr>
          <a:xfrm>
            <a:off x="548640" y="1188720"/>
            <a:ext cx="2011680" cy="640080"/>
          </a:xfrm>
          <a:prstGeom prst="rect">
            <a:avLst/>
          </a:prstGeom>
          <a:noFill/>
        </p:spPr>
        <p:txBody>
          <a:bodyPr wrap="square">
            <a:spAutoFit/>
          </a:bodyPr>
          <a:lstStyle/>
          <a:p>
            <a:pPr algn="ctr">
              <a:lnSpc>
                <a:spcPts val="4140"/>
              </a:lnSpc>
              <a:spcAft>
                <a:spcPts val="0"/>
              </a:spcAft>
              <a:defRPr sz="3600" b="1">
                <a:solidFill>
                  <a:srgbClr val="E84D0E"/>
                </a:solidFill>
                <a:latin typeface="Arial"/>
              </a:defRPr>
            </a:pPr>
            <a:r>
              <a:t>3.2x</a:t>
            </a:r>
          </a:p>
        </p:txBody>
      </p:sp>
      <p:sp>
        <p:nvSpPr>
          <p:cNvPr id="5" name="TextBox 4"/>
          <p:cNvSpPr txBox="1"/>
          <p:nvPr/>
        </p:nvSpPr>
        <p:spPr>
          <a:xfrm>
            <a:off x="5486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More Digital Patents</a:t>
            </a:r>
            <a:br/>
            <a:r>
              <a:t>per $1M Invested</a:t>
            </a:r>
          </a:p>
        </p:txBody>
      </p:sp>
      <p:sp>
        <p:nvSpPr>
          <p:cNvPr id="6" name="TextBox 5"/>
          <p:cNvSpPr txBox="1"/>
          <p:nvPr/>
        </p:nvSpPr>
        <p:spPr>
          <a:xfrm>
            <a:off x="3383280" y="1188720"/>
            <a:ext cx="2011680" cy="640080"/>
          </a:xfrm>
          <a:prstGeom prst="rect">
            <a:avLst/>
          </a:prstGeom>
          <a:noFill/>
        </p:spPr>
        <p:txBody>
          <a:bodyPr wrap="square">
            <a:spAutoFit/>
          </a:bodyPr>
          <a:lstStyle/>
          <a:p>
            <a:pPr algn="ctr">
              <a:lnSpc>
                <a:spcPts val="4140"/>
              </a:lnSpc>
              <a:spcAft>
                <a:spcPts val="0"/>
              </a:spcAft>
              <a:defRPr sz="3600" b="1">
                <a:solidFill>
                  <a:srgbClr val="E84D0E"/>
                </a:solidFill>
                <a:latin typeface="Arial"/>
              </a:defRPr>
            </a:pPr>
            <a:r>
              <a:t>55%</a:t>
            </a:r>
          </a:p>
        </p:txBody>
      </p:sp>
      <p:sp>
        <p:nvSpPr>
          <p:cNvPr id="7" name="TextBox 6"/>
          <p:cNvSpPr txBox="1"/>
          <p:nvPr/>
        </p:nvSpPr>
        <p:spPr>
          <a:xfrm>
            <a:off x="338328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Enterprise Tech Products</a:t>
            </a:r>
            <a:br/>
            <a:r>
              <a:t>Originate in GCCs</a:t>
            </a:r>
          </a:p>
        </p:txBody>
      </p:sp>
      <p:sp>
        <p:nvSpPr>
          <p:cNvPr id="8" name="TextBox 7"/>
          <p:cNvSpPr txBox="1"/>
          <p:nvPr/>
        </p:nvSpPr>
        <p:spPr>
          <a:xfrm>
            <a:off x="6217920" y="1188720"/>
            <a:ext cx="2011680" cy="640080"/>
          </a:xfrm>
          <a:prstGeom prst="rect">
            <a:avLst/>
          </a:prstGeom>
          <a:noFill/>
        </p:spPr>
        <p:txBody>
          <a:bodyPr wrap="square">
            <a:spAutoFit/>
          </a:bodyPr>
          <a:lstStyle/>
          <a:p>
            <a:pPr algn="ctr">
              <a:lnSpc>
                <a:spcPts val="4140"/>
              </a:lnSpc>
              <a:spcAft>
                <a:spcPts val="0"/>
              </a:spcAft>
              <a:defRPr sz="3600" b="1">
                <a:solidFill>
                  <a:srgbClr val="E84D0E"/>
                </a:solidFill>
                <a:latin typeface="Arial"/>
              </a:defRPr>
            </a:pPr>
            <a:r>
              <a:t>63%</a:t>
            </a:r>
          </a:p>
        </p:txBody>
      </p:sp>
      <p:sp>
        <p:nvSpPr>
          <p:cNvPr id="9" name="TextBox 8"/>
          <p:cNvSpPr txBox="1"/>
          <p:nvPr/>
        </p:nvSpPr>
        <p:spPr>
          <a:xfrm>
            <a:off x="621792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CXOs Say GCCs Are</a:t>
            </a:r>
            <a:br/>
            <a:r>
              <a:t>Central to Innovation</a:t>
            </a:r>
          </a:p>
        </p:txBody>
      </p:sp>
      <p:sp>
        <p:nvSpPr>
          <p:cNvPr id="10" name="TextBox 9"/>
          <p:cNvSpPr txBox="1"/>
          <p:nvPr/>
        </p:nvSpPr>
        <p:spPr>
          <a:xfrm>
            <a:off x="9052560" y="1188720"/>
            <a:ext cx="2011680" cy="640080"/>
          </a:xfrm>
          <a:prstGeom prst="rect">
            <a:avLst/>
          </a:prstGeom>
          <a:noFill/>
        </p:spPr>
        <p:txBody>
          <a:bodyPr wrap="square">
            <a:spAutoFit/>
          </a:bodyPr>
          <a:lstStyle/>
          <a:p>
            <a:pPr algn="ctr">
              <a:lnSpc>
                <a:spcPts val="4140"/>
              </a:lnSpc>
              <a:spcAft>
                <a:spcPts val="0"/>
              </a:spcAft>
              <a:defRPr sz="3600" b="1">
                <a:solidFill>
                  <a:srgbClr val="E84D0E"/>
                </a:solidFill>
                <a:latin typeface="Arial"/>
              </a:defRPr>
            </a:pPr>
            <a:r>
              <a:t>80%</a:t>
            </a:r>
          </a:p>
        </p:txBody>
      </p:sp>
      <p:sp>
        <p:nvSpPr>
          <p:cNvPr id="11" name="TextBox 10"/>
          <p:cNvSpPr txBox="1"/>
          <p:nvPr/>
        </p:nvSpPr>
        <p:spPr>
          <a:xfrm>
            <a:off x="905256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New GCCs Prioritize</a:t>
            </a:r>
            <a:br/>
            <a:r>
              <a:t>AI/ML Capabilities</a:t>
            </a:r>
          </a:p>
        </p:txBody>
      </p:sp>
      <p:sp>
        <p:nvSpPr>
          <p:cNvPr id="12" name="Rectangle 11"/>
          <p:cNvSpPr/>
          <p:nvPr/>
        </p:nvSpPr>
        <p:spPr>
          <a:xfrm>
            <a:off x="548640" y="274320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INNOVATION IN ACTION: FINANCIAL SERVICES GCCs</a:t>
            </a:r>
          </a:p>
        </p:txBody>
      </p:sp>
      <p:sp>
        <p:nvSpPr>
          <p:cNvPr id="13" name="Rectangle 12"/>
          <p:cNvSpPr/>
          <p:nvPr/>
        </p:nvSpPr>
        <p:spPr>
          <a:xfrm>
            <a:off x="548640" y="3154680"/>
            <a:ext cx="3474720" cy="155448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GOLDMAN SACHS INDIA</a:t>
            </a:r>
          </a:p>
          <a:p>
            <a:pPr>
              <a:spcBef>
                <a:spcPts val="400"/>
              </a:spcBef>
              <a:defRPr sz="900">
                <a:solidFill>
                  <a:srgbClr val="1A1A1A"/>
                </a:solidFill>
                <a:latin typeface="Arial"/>
              </a:defRPr>
            </a:pPr>
            <a:r>
              <a:t>300 IT support (2004) → 9,000+ innovation professionals. AI lab, algorithmic trading, cybersecurity. 'Most Admired GCC' 2025.</a:t>
            </a:r>
          </a:p>
        </p:txBody>
      </p:sp>
      <p:sp>
        <p:nvSpPr>
          <p:cNvPr id="14" name="Rectangle 13"/>
          <p:cNvSpPr/>
          <p:nvPr/>
        </p:nvSpPr>
        <p:spPr>
          <a:xfrm>
            <a:off x="4297680" y="3154680"/>
            <a:ext cx="3474720" cy="155448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JP MORGAN INDIA</a:t>
            </a:r>
          </a:p>
          <a:p>
            <a:pPr>
              <a:spcBef>
                <a:spcPts val="400"/>
              </a:spcBef>
              <a:defRPr sz="900">
                <a:solidFill>
                  <a:srgbClr val="1A1A1A"/>
                </a:solidFill>
                <a:latin typeface="Arial"/>
              </a:defRPr>
            </a:pPr>
            <a:r>
              <a:t>50,000+ employees. $17-18B annual tech investment. 1,975 patents globally. 300+ AI use cases. Building 2M sq ft Mumbai campus.</a:t>
            </a:r>
          </a:p>
        </p:txBody>
      </p:sp>
      <p:sp>
        <p:nvSpPr>
          <p:cNvPr id="15" name="Rectangle 14"/>
          <p:cNvSpPr/>
          <p:nvPr/>
        </p:nvSpPr>
        <p:spPr>
          <a:xfrm>
            <a:off x="8046720" y="3154680"/>
            <a:ext cx="3474720" cy="155448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DEUTSCHE BANK</a:t>
            </a:r>
          </a:p>
          <a:p>
            <a:pPr>
              <a:spcBef>
                <a:spcPts val="400"/>
              </a:spcBef>
              <a:defRPr sz="900">
                <a:solidFill>
                  <a:srgbClr val="1A1A1A"/>
                </a:solidFill>
                <a:latin typeface="Arial"/>
              </a:defRPr>
            </a:pPr>
            <a:r>
              <a:t>18,500+ employees. 'Catalysts of transformation.' Integral part of massive digital transformation program.</a:t>
            </a:r>
          </a:p>
        </p:txBody>
      </p:sp>
      <p:sp>
        <p:nvSpPr>
          <p:cNvPr id="16" name="Rectangle 15"/>
          <p:cNvSpPr/>
          <p:nvPr/>
        </p:nvSpPr>
        <p:spPr>
          <a:xfrm>
            <a:off x="548640" y="4846320"/>
            <a:ext cx="11064240" cy="64008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27AE60"/>
                </a:solidFill>
                <a:latin typeface="Arial"/>
              </a:defRPr>
            </a:pPr>
            <a:r>
              <a:t>FINANCIAL IMPACT</a:t>
            </a:r>
          </a:p>
          <a:p>
            <a:pPr>
              <a:spcBef>
                <a:spcPts val="400"/>
              </a:spcBef>
              <a:defRPr sz="900">
                <a:solidFill>
                  <a:srgbClr val="1A1A1A"/>
                </a:solidFill>
                <a:latin typeface="Arial"/>
              </a:defRPr>
            </a:pPr>
            <a:r>
              <a:t>For a $50M annual spend: 15-20% lower TCO after Year 3 = $7.5-10M savings. GCC AI investment growing at 52% CAGR (EY).</a:t>
            </a:r>
          </a:p>
        </p:txBody>
      </p:sp>
      <p:sp>
        <p:nvSpPr>
          <p:cNvPr id="17" name="Rectangle 16"/>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GCCs are where the future products of financial services firms are being built — not back offices</a:t>
            </a:r>
          </a:p>
        </p:txBody>
      </p:sp>
      <p:sp>
        <p:nvSpPr>
          <p:cNvPr id="18" name="TextBox 17"/>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11</a:t>
            </a:r>
          </a:p>
        </p:txBody>
      </p:sp>
      <p:sp>
        <p:nvSpPr>
          <p:cNvPr id="19" name="TextBox 18"/>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McKinsey, ANSR, NASSCOM Patent Pulse 2025, EY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RISK ANALYSIS</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Escalating Third-Party Risks in a Post-DORA World</a:t>
            </a:r>
          </a:p>
        </p:txBody>
      </p:sp>
      <p:sp>
        <p:nvSpPr>
          <p:cNvPr id="4" name="TextBox 3"/>
          <p:cNvSpPr txBox="1"/>
          <p:nvPr/>
        </p:nvSpPr>
        <p:spPr>
          <a:xfrm>
            <a:off x="548640" y="1188720"/>
            <a:ext cx="2011680" cy="640080"/>
          </a:xfrm>
          <a:prstGeom prst="rect">
            <a:avLst/>
          </a:prstGeom>
          <a:noFill/>
        </p:spPr>
        <p:txBody>
          <a:bodyPr wrap="square">
            <a:spAutoFit/>
          </a:bodyPr>
          <a:lstStyle/>
          <a:p>
            <a:pPr algn="ctr">
              <a:lnSpc>
                <a:spcPts val="3679"/>
              </a:lnSpc>
              <a:spcAft>
                <a:spcPts val="0"/>
              </a:spcAft>
              <a:defRPr sz="3200" b="1">
                <a:solidFill>
                  <a:srgbClr val="C0392B"/>
                </a:solidFill>
                <a:latin typeface="Arial"/>
              </a:defRPr>
            </a:pPr>
            <a:r>
              <a:t>30%</a:t>
            </a:r>
          </a:p>
        </p:txBody>
      </p:sp>
      <p:sp>
        <p:nvSpPr>
          <p:cNvPr id="5" name="TextBox 4"/>
          <p:cNvSpPr txBox="1"/>
          <p:nvPr/>
        </p:nvSpPr>
        <p:spPr>
          <a:xfrm>
            <a:off x="5486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Data Breaches From</a:t>
            </a:r>
            <a:br/>
            <a:r>
              <a:t>Third Parties (2024)</a:t>
            </a:r>
          </a:p>
        </p:txBody>
      </p:sp>
      <p:sp>
        <p:nvSpPr>
          <p:cNvPr id="6" name="TextBox 5"/>
          <p:cNvSpPr txBox="1"/>
          <p:nvPr/>
        </p:nvSpPr>
        <p:spPr>
          <a:xfrm>
            <a:off x="3383280" y="1188720"/>
            <a:ext cx="2011680" cy="640080"/>
          </a:xfrm>
          <a:prstGeom prst="rect">
            <a:avLst/>
          </a:prstGeom>
          <a:noFill/>
        </p:spPr>
        <p:txBody>
          <a:bodyPr wrap="square">
            <a:spAutoFit/>
          </a:bodyPr>
          <a:lstStyle/>
          <a:p>
            <a:pPr algn="ctr">
              <a:lnSpc>
                <a:spcPts val="3679"/>
              </a:lnSpc>
              <a:spcAft>
                <a:spcPts val="0"/>
              </a:spcAft>
              <a:defRPr sz="3200" b="1">
                <a:solidFill>
                  <a:srgbClr val="C0392B"/>
                </a:solidFill>
                <a:latin typeface="Arial"/>
              </a:defRPr>
            </a:pPr>
            <a:r>
              <a:t>$6.08M</a:t>
            </a:r>
          </a:p>
        </p:txBody>
      </p:sp>
      <p:sp>
        <p:nvSpPr>
          <p:cNvPr id="7" name="TextBox 6"/>
          <p:cNvSpPr txBox="1"/>
          <p:nvPr/>
        </p:nvSpPr>
        <p:spPr>
          <a:xfrm>
            <a:off x="338328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Avg Financial Services</a:t>
            </a:r>
            <a:br/>
            <a:r>
              <a:t>Breach Cost (IBM)</a:t>
            </a:r>
          </a:p>
        </p:txBody>
      </p:sp>
      <p:sp>
        <p:nvSpPr>
          <p:cNvPr id="8" name="TextBox 7"/>
          <p:cNvSpPr txBox="1"/>
          <p:nvPr/>
        </p:nvSpPr>
        <p:spPr>
          <a:xfrm>
            <a:off x="6217920" y="1188720"/>
            <a:ext cx="2011680" cy="640080"/>
          </a:xfrm>
          <a:prstGeom prst="rect">
            <a:avLst/>
          </a:prstGeom>
          <a:noFill/>
        </p:spPr>
        <p:txBody>
          <a:bodyPr wrap="square">
            <a:spAutoFit/>
          </a:bodyPr>
          <a:lstStyle/>
          <a:p>
            <a:pPr algn="ctr">
              <a:lnSpc>
                <a:spcPts val="3679"/>
              </a:lnSpc>
              <a:spcAft>
                <a:spcPts val="0"/>
              </a:spcAft>
              <a:defRPr sz="3200" b="1">
                <a:solidFill>
                  <a:srgbClr val="C0392B"/>
                </a:solidFill>
                <a:latin typeface="Arial"/>
              </a:defRPr>
            </a:pPr>
            <a:r>
              <a:t>$4.6B</a:t>
            </a:r>
          </a:p>
        </p:txBody>
      </p:sp>
      <p:sp>
        <p:nvSpPr>
          <p:cNvPr id="9" name="TextBox 8"/>
          <p:cNvSpPr txBox="1"/>
          <p:nvPr/>
        </p:nvSpPr>
        <p:spPr>
          <a:xfrm>
            <a:off x="621792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Global Financial</a:t>
            </a:r>
            <a:br/>
            <a:r>
              <a:t>Penalties (522% YoY)</a:t>
            </a:r>
          </a:p>
        </p:txBody>
      </p:sp>
      <p:sp>
        <p:nvSpPr>
          <p:cNvPr id="10" name="TextBox 9"/>
          <p:cNvSpPr txBox="1"/>
          <p:nvPr/>
        </p:nvSpPr>
        <p:spPr>
          <a:xfrm>
            <a:off x="9052560" y="1188720"/>
            <a:ext cx="2011680" cy="640080"/>
          </a:xfrm>
          <a:prstGeom prst="rect">
            <a:avLst/>
          </a:prstGeom>
          <a:noFill/>
        </p:spPr>
        <p:txBody>
          <a:bodyPr wrap="square">
            <a:spAutoFit/>
          </a:bodyPr>
          <a:lstStyle/>
          <a:p>
            <a:pPr algn="ctr">
              <a:lnSpc>
                <a:spcPts val="3679"/>
              </a:lnSpc>
              <a:spcAft>
                <a:spcPts val="0"/>
              </a:spcAft>
              <a:defRPr sz="3200" b="1">
                <a:solidFill>
                  <a:srgbClr val="C0392B"/>
                </a:solidFill>
                <a:latin typeface="Arial"/>
              </a:defRPr>
            </a:pPr>
            <a:r>
              <a:t>$0.5-1B</a:t>
            </a:r>
          </a:p>
        </p:txBody>
      </p:sp>
      <p:sp>
        <p:nvSpPr>
          <p:cNvPr id="11" name="TextBox 10"/>
          <p:cNvSpPr txBox="1"/>
          <p:nvPr/>
        </p:nvSpPr>
        <p:spPr>
          <a:xfrm>
            <a:off x="905256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Outsourcing Failure</a:t>
            </a:r>
            <a:br/>
            <a:r>
              <a:t>Cost Per Incident</a:t>
            </a:r>
          </a:p>
        </p:txBody>
      </p:sp>
      <p:sp>
        <p:nvSpPr>
          <p:cNvPr id="12" name="Rectangle 11"/>
          <p:cNvSpPr/>
          <p:nvPr/>
        </p:nvSpPr>
        <p:spPr>
          <a:xfrm>
            <a:off x="548640" y="274320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REGULATORY LANDSCAPE CLOSING THE OUTSOURCING WINDOW</a:t>
            </a:r>
          </a:p>
        </p:txBody>
      </p:sp>
      <p:graphicFrame>
        <p:nvGraphicFramePr>
          <p:cNvPr id="13" name="Table 12"/>
          <p:cNvGraphicFramePr>
            <a:graphicFrameLocks noGrp="1"/>
          </p:cNvGraphicFramePr>
          <p:nvPr/>
        </p:nvGraphicFramePr>
        <p:xfrm>
          <a:off x="548640" y="3154680"/>
          <a:ext cx="6858000" cy="2286000"/>
        </p:xfrm>
        <a:graphic>
          <a:graphicData uri="http://schemas.openxmlformats.org/drawingml/2006/table">
            <a:tbl>
              <a:tblPr firstRow="1" bandRow="1">
                <a:tableStyleId>{5C22544A-7EE6-4342-B048-85BDC9FD1C3A}</a:tableStyleId>
              </a:tblPr>
              <a:tblGrid>
                <a:gridCol w="1828800"/>
                <a:gridCol w="1371600"/>
                <a:gridCol w="3657600"/>
              </a:tblGrid>
              <a:tr h="381000">
                <a:tc>
                  <a:txBody>
                    <a:bodyPr/>
                    <a:lstStyle/>
                    <a:p>
                      <a:pPr>
                        <a:defRPr sz="900" b="1">
                          <a:solidFill>
                            <a:srgbClr val="FFFFFF"/>
                          </a:solidFill>
                          <a:latin typeface="Arial"/>
                        </a:defRPr>
                      </a:pPr>
                      <a:r>
                        <a:t>Regulation</a:t>
                      </a:r>
                    </a:p>
                  </a:txBody>
                  <a:tcPr>
                    <a:solidFill>
                      <a:srgbClr val="2D2D2D"/>
                    </a:solidFill>
                  </a:tcPr>
                </a:tc>
                <a:tc>
                  <a:txBody>
                    <a:bodyPr/>
                    <a:lstStyle/>
                    <a:p>
                      <a:pPr>
                        <a:defRPr sz="900" b="1">
                          <a:solidFill>
                            <a:srgbClr val="FFFFFF"/>
                          </a:solidFill>
                          <a:latin typeface="Arial"/>
                        </a:defRPr>
                      </a:pPr>
                      <a:r>
                        <a:t>Effective</a:t>
                      </a:r>
                    </a:p>
                  </a:txBody>
                  <a:tcPr>
                    <a:solidFill>
                      <a:srgbClr val="2D2D2D"/>
                    </a:solidFill>
                  </a:tcPr>
                </a:tc>
                <a:tc>
                  <a:txBody>
                    <a:bodyPr/>
                    <a:lstStyle/>
                    <a:p>
                      <a:pPr>
                        <a:defRPr sz="900" b="1">
                          <a:solidFill>
                            <a:srgbClr val="FFFFFF"/>
                          </a:solidFill>
                          <a:latin typeface="Arial"/>
                        </a:defRPr>
                      </a:pPr>
                      <a:r>
                        <a:t>Impact on Outsourcing</a:t>
                      </a:r>
                    </a:p>
                  </a:txBody>
                  <a:tcPr>
                    <a:solidFill>
                      <a:srgbClr val="2D2D2D"/>
                    </a:solidFill>
                  </a:tcPr>
                </a:tc>
              </a:tr>
              <a:tr h="381000">
                <a:tc>
                  <a:txBody>
                    <a:bodyPr/>
                    <a:lstStyle/>
                    <a:p>
                      <a:pPr>
                        <a:defRPr sz="900">
                          <a:solidFill>
                            <a:srgbClr val="1A1A1A"/>
                          </a:solidFill>
                          <a:latin typeface="Arial"/>
                        </a:defRPr>
                      </a:pPr>
                      <a:r>
                        <a:t>EU DORA</a:t>
                      </a:r>
                    </a:p>
                  </a:txBody>
                  <a:tcPr>
                    <a:solidFill>
                      <a:srgbClr val="FFFFFF"/>
                    </a:solidFill>
                  </a:tcPr>
                </a:tc>
                <a:tc>
                  <a:txBody>
                    <a:bodyPr/>
                    <a:lstStyle/>
                    <a:p>
                      <a:pPr>
                        <a:defRPr sz="900">
                          <a:solidFill>
                            <a:srgbClr val="1A1A1A"/>
                          </a:solidFill>
                          <a:latin typeface="Arial"/>
                        </a:defRPr>
                      </a:pPr>
                      <a:r>
                        <a:t>Jan 2025</a:t>
                      </a:r>
                    </a:p>
                  </a:txBody>
                  <a:tcPr>
                    <a:solidFill>
                      <a:srgbClr val="FFFFFF"/>
                    </a:solidFill>
                  </a:tcPr>
                </a:tc>
                <a:tc>
                  <a:txBody>
                    <a:bodyPr/>
                    <a:lstStyle/>
                    <a:p>
                      <a:pPr>
                        <a:defRPr sz="900">
                          <a:solidFill>
                            <a:srgbClr val="1A1A1A"/>
                          </a:solidFill>
                          <a:latin typeface="Arial"/>
                        </a:defRPr>
                      </a:pPr>
                      <a:r>
                        <a:t>Directly targets outsourcing concentration risk</a:t>
                      </a:r>
                    </a:p>
                  </a:txBody>
                  <a:tcPr>
                    <a:solidFill>
                      <a:srgbClr val="FFFFFF"/>
                    </a:solidFill>
                  </a:tcPr>
                </a:tc>
              </a:tr>
              <a:tr h="381000">
                <a:tc>
                  <a:txBody>
                    <a:bodyPr/>
                    <a:lstStyle/>
                    <a:p>
                      <a:pPr>
                        <a:defRPr sz="900">
                          <a:solidFill>
                            <a:srgbClr val="1A1A1A"/>
                          </a:solidFill>
                          <a:latin typeface="Arial"/>
                        </a:defRPr>
                      </a:pPr>
                      <a:r>
                        <a:t>RBI Master Direction</a:t>
                      </a:r>
                    </a:p>
                  </a:txBody>
                  <a:tcPr>
                    <a:solidFill>
                      <a:srgbClr val="F2F2F2"/>
                    </a:solidFill>
                  </a:tcPr>
                </a:tc>
                <a:tc>
                  <a:txBody>
                    <a:bodyPr/>
                    <a:lstStyle/>
                    <a:p>
                      <a:pPr>
                        <a:defRPr sz="900">
                          <a:solidFill>
                            <a:srgbClr val="1A1A1A"/>
                          </a:solidFill>
                          <a:latin typeface="Arial"/>
                        </a:defRPr>
                      </a:pPr>
                      <a:r>
                        <a:t>2023</a:t>
                      </a:r>
                    </a:p>
                  </a:txBody>
                  <a:tcPr>
                    <a:solidFill>
                      <a:srgbClr val="F2F2F2"/>
                    </a:solidFill>
                  </a:tcPr>
                </a:tc>
                <a:tc>
                  <a:txBody>
                    <a:bodyPr/>
                    <a:lstStyle/>
                    <a:p>
                      <a:pPr>
                        <a:defRPr sz="900">
                          <a:solidFill>
                            <a:srgbClr val="1A1A1A"/>
                          </a:solidFill>
                          <a:latin typeface="Arial"/>
                        </a:defRPr>
                      </a:pPr>
                      <a:r>
                        <a:t>Board-level oversight of material outsourcing</a:t>
                      </a:r>
                    </a:p>
                  </a:txBody>
                  <a:tcPr>
                    <a:solidFill>
                      <a:srgbClr val="F2F2F2"/>
                    </a:solidFill>
                  </a:tcPr>
                </a:tc>
              </a:tr>
              <a:tr h="381000">
                <a:tc>
                  <a:txBody>
                    <a:bodyPr/>
                    <a:lstStyle/>
                    <a:p>
                      <a:pPr>
                        <a:defRPr sz="900">
                          <a:solidFill>
                            <a:srgbClr val="1A1A1A"/>
                          </a:solidFill>
                          <a:latin typeface="Arial"/>
                        </a:defRPr>
                      </a:pPr>
                      <a:r>
                        <a:t>PCI-DSS 4.0.1</a:t>
                      </a:r>
                    </a:p>
                  </a:txBody>
                  <a:tcPr>
                    <a:solidFill>
                      <a:srgbClr val="FFFFFF"/>
                    </a:solidFill>
                  </a:tcPr>
                </a:tc>
                <a:tc>
                  <a:txBody>
                    <a:bodyPr/>
                    <a:lstStyle/>
                    <a:p>
                      <a:pPr>
                        <a:defRPr sz="900">
                          <a:solidFill>
                            <a:srgbClr val="1A1A1A"/>
                          </a:solidFill>
                          <a:latin typeface="Arial"/>
                        </a:defRPr>
                      </a:pPr>
                      <a:r>
                        <a:t>Mar 2025</a:t>
                      </a:r>
                    </a:p>
                  </a:txBody>
                  <a:tcPr>
                    <a:solidFill>
                      <a:srgbClr val="FFFFFF"/>
                    </a:solidFill>
                  </a:tcPr>
                </a:tc>
                <a:tc>
                  <a:txBody>
                    <a:bodyPr/>
                    <a:lstStyle/>
                    <a:p>
                      <a:pPr>
                        <a:defRPr sz="900">
                          <a:solidFill>
                            <a:srgbClr val="1A1A1A"/>
                          </a:solidFill>
                          <a:latin typeface="Arial"/>
                        </a:defRPr>
                      </a:pPr>
                      <a:r>
                        <a:t>Captive perimeter reduces multi-tenant risk</a:t>
                      </a:r>
                    </a:p>
                  </a:txBody>
                  <a:tcPr>
                    <a:solidFill>
                      <a:srgbClr val="FFFFFF"/>
                    </a:solidFill>
                  </a:tcPr>
                </a:tc>
              </a:tr>
              <a:tr h="381000">
                <a:tc>
                  <a:txBody>
                    <a:bodyPr/>
                    <a:lstStyle/>
                    <a:p>
                      <a:pPr>
                        <a:defRPr sz="900">
                          <a:solidFill>
                            <a:srgbClr val="1A1A1A"/>
                          </a:solidFill>
                          <a:latin typeface="Arial"/>
                        </a:defRPr>
                      </a:pPr>
                      <a:r>
                        <a:t>India DPDP Act</a:t>
                      </a:r>
                    </a:p>
                  </a:txBody>
                  <a:tcPr>
                    <a:solidFill>
                      <a:srgbClr val="F2F2F2"/>
                    </a:solidFill>
                  </a:tcPr>
                </a:tc>
                <a:tc>
                  <a:txBody>
                    <a:bodyPr/>
                    <a:lstStyle/>
                    <a:p>
                      <a:pPr>
                        <a:defRPr sz="900">
                          <a:solidFill>
                            <a:srgbClr val="1A1A1A"/>
                          </a:solidFill>
                          <a:latin typeface="Arial"/>
                        </a:defRPr>
                      </a:pPr>
                      <a:r>
                        <a:t>2024</a:t>
                      </a:r>
                    </a:p>
                  </a:txBody>
                  <a:tcPr>
                    <a:solidFill>
                      <a:srgbClr val="F2F2F2"/>
                    </a:solidFill>
                  </a:tcPr>
                </a:tc>
                <a:tc>
                  <a:txBody>
                    <a:bodyPr/>
                    <a:lstStyle/>
                    <a:p>
                      <a:pPr>
                        <a:defRPr sz="900">
                          <a:solidFill>
                            <a:srgbClr val="1A1A1A"/>
                          </a:solidFill>
                          <a:latin typeface="Arial"/>
                        </a:defRPr>
                      </a:pPr>
                      <a:r>
                        <a:t>'Outsourcing Exemption' structurally favors GCCs</a:t>
                      </a:r>
                    </a:p>
                  </a:txBody>
                  <a:tcPr>
                    <a:solidFill>
                      <a:srgbClr val="F2F2F2"/>
                    </a:solidFill>
                  </a:tcPr>
                </a:tc>
              </a:tr>
              <a:tr h="381000">
                <a:tc>
                  <a:txBody>
                    <a:bodyPr/>
                    <a:lstStyle/>
                    <a:p>
                      <a:pPr>
                        <a:defRPr sz="900">
                          <a:solidFill>
                            <a:srgbClr val="1A1A1A"/>
                          </a:solidFill>
                          <a:latin typeface="Arial"/>
                        </a:defRPr>
                      </a:pPr>
                      <a:r>
                        <a:t>GDPR</a:t>
                      </a:r>
                    </a:p>
                  </a:txBody>
                  <a:tcPr>
                    <a:solidFill>
                      <a:srgbClr val="FFFFFF"/>
                    </a:solidFill>
                  </a:tcPr>
                </a:tc>
                <a:tc>
                  <a:txBody>
                    <a:bodyPr/>
                    <a:lstStyle/>
                    <a:p>
                      <a:pPr>
                        <a:defRPr sz="900">
                          <a:solidFill>
                            <a:srgbClr val="1A1A1A"/>
                          </a:solidFill>
                          <a:latin typeface="Arial"/>
                        </a:defRPr>
                      </a:pPr>
                      <a:r>
                        <a:t>Ongoing</a:t>
                      </a:r>
                    </a:p>
                  </a:txBody>
                  <a:tcPr>
                    <a:solidFill>
                      <a:srgbClr val="FFFFFF"/>
                    </a:solidFill>
                  </a:tcPr>
                </a:tc>
                <a:tc>
                  <a:txBody>
                    <a:bodyPr/>
                    <a:lstStyle/>
                    <a:p>
                      <a:pPr>
                        <a:defRPr sz="900">
                          <a:solidFill>
                            <a:srgbClr val="1A1A1A"/>
                          </a:solidFill>
                          <a:latin typeface="Arial"/>
                        </a:defRPr>
                      </a:pPr>
                      <a:r>
                        <a:t>Fines up to EUR 20M or 4% revenue</a:t>
                      </a:r>
                    </a:p>
                  </a:txBody>
                  <a:tcPr>
                    <a:solidFill>
                      <a:srgbClr val="FFFFFF"/>
                    </a:solidFill>
                  </a:tcPr>
                </a:tc>
              </a:tr>
            </a:tbl>
          </a:graphicData>
        </a:graphic>
      </p:graphicFrame>
      <p:sp>
        <p:nvSpPr>
          <p:cNvPr id="14" name="Rectangle 13"/>
          <p:cNvSpPr/>
          <p:nvPr/>
        </p:nvSpPr>
        <p:spPr>
          <a:xfrm>
            <a:off x="7772400" y="3154680"/>
            <a:ext cx="3840480" cy="1828800"/>
          </a:xfrm>
          <a:prstGeom prst="rect">
            <a:avLst/>
          </a:prstGeom>
          <a:solidFill>
            <a:srgbClr val="FDEDED"/>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C0392B"/>
                </a:solidFill>
                <a:latin typeface="Arial"/>
              </a:defRPr>
            </a:pPr>
            <a:r>
              <a:t>REAL-WORLD BREACHES</a:t>
            </a:r>
          </a:p>
          <a:p>
            <a:pPr>
              <a:spcBef>
                <a:spcPts val="400"/>
              </a:spcBef>
              <a:defRPr sz="900">
                <a:solidFill>
                  <a:srgbClr val="1A1A1A"/>
                </a:solidFill>
                <a:latin typeface="Arial"/>
              </a:defRPr>
            </a:pPr>
            <a:r>
              <a:t>SitusAMC (2024): JPMorgan, Citi SSNs exposed via vendor</a:t>
            </a:r>
            <a:br/>
            <a:r>
              <a:t>MOVEit/CL0P (2023): 1,000 institutions including Deutsche, EY</a:t>
            </a:r>
            <a:br/>
            <a:r>
              <a:t>Deloitte Brain Cipher: 1TB stolen, 640K individuals affected</a:t>
            </a:r>
          </a:p>
        </p:txBody>
      </p:sp>
      <p:sp>
        <p:nvSpPr>
          <p:cNvPr id="15" name="Rectangle 14"/>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Regulators are systematically closing the outsourcing window for critical financial services functions</a:t>
            </a:r>
          </a:p>
        </p:txBody>
      </p:sp>
      <p:sp>
        <p:nvSpPr>
          <p:cNvPr id="16" name="TextBox 15"/>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12</a:t>
            </a:r>
          </a:p>
        </p:txBody>
      </p:sp>
      <p:sp>
        <p:nvSpPr>
          <p:cNvPr id="17" name="TextBox 16"/>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FINMA, IBM 2025, CSO Online, Securiti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RISK MANAGEMENT</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Top 10 GCC Risks with Proven Mitigation Strategies</a:t>
            </a:r>
          </a:p>
        </p:txBody>
      </p:sp>
      <p:graphicFrame>
        <p:nvGraphicFramePr>
          <p:cNvPr id="4" name="Table 3"/>
          <p:cNvGraphicFramePr>
            <a:graphicFrameLocks noGrp="1"/>
          </p:cNvGraphicFramePr>
          <p:nvPr/>
        </p:nvGraphicFramePr>
        <p:xfrm>
          <a:off x="548640" y="1097280"/>
          <a:ext cx="11064240" cy="4389120"/>
        </p:xfrm>
        <a:graphic>
          <a:graphicData uri="http://schemas.openxmlformats.org/drawingml/2006/table">
            <a:tbl>
              <a:tblPr firstRow="1" bandRow="1">
                <a:tableStyleId>{5C22544A-7EE6-4342-B048-85BDC9FD1C3A}</a:tableStyleId>
              </a:tblPr>
              <a:tblGrid>
                <a:gridCol w="457200"/>
                <a:gridCol w="2286000"/>
                <a:gridCol w="1097280"/>
                <a:gridCol w="7223760"/>
              </a:tblGrid>
              <a:tr h="399010">
                <a:tc>
                  <a:txBody>
                    <a:bodyPr/>
                    <a:lstStyle/>
                    <a:p>
                      <a:pPr>
                        <a:defRPr sz="900" b="1">
                          <a:solidFill>
                            <a:srgbClr val="FFFFFF"/>
                          </a:solidFill>
                          <a:latin typeface="Arial"/>
                        </a:defRPr>
                      </a:pPr>
                      <a:r>
                        <a:t>#</a:t>
                      </a:r>
                    </a:p>
                  </a:txBody>
                  <a:tcPr>
                    <a:solidFill>
                      <a:srgbClr val="2D2D2D"/>
                    </a:solidFill>
                  </a:tcPr>
                </a:tc>
                <a:tc>
                  <a:txBody>
                    <a:bodyPr/>
                    <a:lstStyle/>
                    <a:p>
                      <a:pPr>
                        <a:defRPr sz="900" b="1">
                          <a:solidFill>
                            <a:srgbClr val="FFFFFF"/>
                          </a:solidFill>
                          <a:latin typeface="Arial"/>
                        </a:defRPr>
                      </a:pPr>
                      <a:r>
                        <a:t>Risk</a:t>
                      </a:r>
                    </a:p>
                  </a:txBody>
                  <a:tcPr>
                    <a:solidFill>
                      <a:srgbClr val="2D2D2D"/>
                    </a:solidFill>
                  </a:tcPr>
                </a:tc>
                <a:tc>
                  <a:txBody>
                    <a:bodyPr/>
                    <a:lstStyle/>
                    <a:p>
                      <a:pPr>
                        <a:defRPr sz="900" b="1">
                          <a:solidFill>
                            <a:srgbClr val="FFFFFF"/>
                          </a:solidFill>
                          <a:latin typeface="Arial"/>
                        </a:defRPr>
                      </a:pPr>
                      <a:r>
                        <a:t>Severity</a:t>
                      </a:r>
                    </a:p>
                  </a:txBody>
                  <a:tcPr>
                    <a:solidFill>
                      <a:srgbClr val="2D2D2D"/>
                    </a:solidFill>
                  </a:tcPr>
                </a:tc>
                <a:tc>
                  <a:txBody>
                    <a:bodyPr/>
                    <a:lstStyle/>
                    <a:p>
                      <a:pPr>
                        <a:defRPr sz="900" b="1">
                          <a:solidFill>
                            <a:srgbClr val="FFFFFF"/>
                          </a:solidFill>
                          <a:latin typeface="Arial"/>
                        </a:defRPr>
                      </a:pPr>
                      <a:r>
                        <a:t>Mitigation Strategy</a:t>
                      </a:r>
                    </a:p>
                  </a:txBody>
                  <a:tcPr>
                    <a:solidFill>
                      <a:srgbClr val="2D2D2D"/>
                    </a:solidFill>
                  </a:tcPr>
                </a:tc>
              </a:tr>
              <a:tr h="399010">
                <a:tc>
                  <a:txBody>
                    <a:bodyPr/>
                    <a:lstStyle/>
                    <a:p>
                      <a:pPr>
                        <a:defRPr sz="900">
                          <a:solidFill>
                            <a:srgbClr val="1A1A1A"/>
                          </a:solidFill>
                          <a:latin typeface="Arial"/>
                        </a:defRPr>
                      </a:pPr>
                      <a:r>
                        <a:t>1</a:t>
                      </a:r>
                    </a:p>
                  </a:txBody>
                  <a:tcPr>
                    <a:solidFill>
                      <a:srgbClr val="FFFFFF"/>
                    </a:solidFill>
                  </a:tcPr>
                </a:tc>
                <a:tc>
                  <a:txBody>
                    <a:bodyPr/>
                    <a:lstStyle/>
                    <a:p>
                      <a:pPr>
                        <a:defRPr sz="900">
                          <a:solidFill>
                            <a:srgbClr val="1A1A1A"/>
                          </a:solidFill>
                          <a:latin typeface="Arial"/>
                        </a:defRPr>
                      </a:pPr>
                      <a:r>
                        <a:t>Talent Attrition</a:t>
                      </a:r>
                    </a:p>
                  </a:txBody>
                  <a:tcPr>
                    <a:solidFill>
                      <a:srgbClr val="FFFFFF"/>
                    </a:solidFill>
                  </a:tcPr>
                </a:tc>
                <a:tc>
                  <a:txBody>
                    <a:bodyPr/>
                    <a:lstStyle/>
                    <a:p>
                      <a:pPr>
                        <a:defRPr sz="900">
                          <a:solidFill>
                            <a:srgbClr val="1A1A1A"/>
                          </a:solidFill>
                          <a:latin typeface="Arial"/>
                        </a:defRPr>
                      </a:pPr>
                      <a:r>
                        <a:t>HIGH</a:t>
                      </a:r>
                    </a:p>
                  </a:txBody>
                  <a:tcPr>
                    <a:solidFill>
                      <a:srgbClr val="FFFFFF"/>
                    </a:solidFill>
                  </a:tcPr>
                </a:tc>
                <a:tc>
                  <a:txBody>
                    <a:bodyPr/>
                    <a:lstStyle/>
                    <a:p>
                      <a:pPr>
                        <a:defRPr sz="900">
                          <a:solidFill>
                            <a:srgbClr val="1A1A1A"/>
                          </a:solidFill>
                          <a:latin typeface="Arial"/>
                        </a:defRPr>
                      </a:pPr>
                      <a:r>
                        <a:t>Multi-city model + ESOPs/RSUs + differentiated EVP</a:t>
                      </a:r>
                    </a:p>
                  </a:txBody>
                  <a:tcPr>
                    <a:solidFill>
                      <a:srgbClr val="FFFFFF"/>
                    </a:solidFill>
                  </a:tcPr>
                </a:tc>
              </a:tr>
              <a:tr h="399010">
                <a:tc>
                  <a:txBody>
                    <a:bodyPr/>
                    <a:lstStyle/>
                    <a:p>
                      <a:pPr>
                        <a:defRPr sz="900">
                          <a:solidFill>
                            <a:srgbClr val="1A1A1A"/>
                          </a:solidFill>
                          <a:latin typeface="Arial"/>
                        </a:defRPr>
                      </a:pPr>
                      <a:r>
                        <a:t>2</a:t>
                      </a:r>
                    </a:p>
                  </a:txBody>
                  <a:tcPr>
                    <a:solidFill>
                      <a:srgbClr val="F2F2F2"/>
                    </a:solidFill>
                  </a:tcPr>
                </a:tc>
                <a:tc>
                  <a:txBody>
                    <a:bodyPr/>
                    <a:lstStyle/>
                    <a:p>
                      <a:pPr>
                        <a:defRPr sz="900">
                          <a:solidFill>
                            <a:srgbClr val="1A1A1A"/>
                          </a:solidFill>
                          <a:latin typeface="Arial"/>
                        </a:defRPr>
                      </a:pPr>
                      <a:r>
                        <a:t>GCC-to-GCC Poaching</a:t>
                      </a:r>
                    </a:p>
                  </a:txBody>
                  <a:tcPr>
                    <a:solidFill>
                      <a:srgbClr val="F2F2F2"/>
                    </a:solidFill>
                  </a:tcPr>
                </a:tc>
                <a:tc>
                  <a:txBody>
                    <a:bodyPr/>
                    <a:lstStyle/>
                    <a:p>
                      <a:pPr>
                        <a:defRPr sz="900">
                          <a:solidFill>
                            <a:srgbClr val="1A1A1A"/>
                          </a:solidFill>
                          <a:latin typeface="Arial"/>
                        </a:defRPr>
                      </a:pPr>
                      <a:r>
                        <a:t>HIGH</a:t>
                      </a:r>
                    </a:p>
                  </a:txBody>
                  <a:tcPr>
                    <a:solidFill>
                      <a:srgbClr val="F2F2F2"/>
                    </a:solidFill>
                  </a:tcPr>
                </a:tc>
                <a:tc>
                  <a:txBody>
                    <a:bodyPr/>
                    <a:lstStyle/>
                    <a:p>
                      <a:pPr>
                        <a:defRPr sz="900">
                          <a:solidFill>
                            <a:srgbClr val="1A1A1A"/>
                          </a:solidFill>
                          <a:latin typeface="Arial"/>
                        </a:defRPr>
                      </a:pPr>
                      <a:r>
                        <a:t>Unique EVP positioning; 'founding member' advantage</a:t>
                      </a:r>
                    </a:p>
                  </a:txBody>
                  <a:tcPr>
                    <a:solidFill>
                      <a:srgbClr val="F2F2F2"/>
                    </a:solidFill>
                  </a:tcPr>
                </a:tc>
              </a:tr>
              <a:tr h="399010">
                <a:tc>
                  <a:txBody>
                    <a:bodyPr/>
                    <a:lstStyle/>
                    <a:p>
                      <a:pPr>
                        <a:defRPr sz="900">
                          <a:solidFill>
                            <a:srgbClr val="1A1A1A"/>
                          </a:solidFill>
                          <a:latin typeface="Arial"/>
                        </a:defRPr>
                      </a:pPr>
                      <a:r>
                        <a:t>3</a:t>
                      </a:r>
                    </a:p>
                  </a:txBody>
                  <a:tcPr>
                    <a:solidFill>
                      <a:srgbClr val="FFFFFF"/>
                    </a:solidFill>
                  </a:tcPr>
                </a:tc>
                <a:tc>
                  <a:txBody>
                    <a:bodyPr/>
                    <a:lstStyle/>
                    <a:p>
                      <a:pPr>
                        <a:defRPr sz="900">
                          <a:solidFill>
                            <a:srgbClr val="1A1A1A"/>
                          </a:solidFill>
                          <a:latin typeface="Arial"/>
                        </a:defRPr>
                      </a:pPr>
                      <a:r>
                        <a:t>Regulatory Change</a:t>
                      </a:r>
                    </a:p>
                  </a:txBody>
                  <a:tcPr>
                    <a:solidFill>
                      <a:srgbClr val="FFFFFF"/>
                    </a:solidFill>
                  </a:tcPr>
                </a:tc>
                <a:tc>
                  <a:txBody>
                    <a:bodyPr/>
                    <a:lstStyle/>
                    <a:p>
                      <a:pPr>
                        <a:defRPr sz="900">
                          <a:solidFill>
                            <a:srgbClr val="1A1A1A"/>
                          </a:solidFill>
                          <a:latin typeface="Arial"/>
                        </a:defRPr>
                      </a:pPr>
                      <a:r>
                        <a:t>MEDIUM</a:t>
                      </a:r>
                    </a:p>
                  </a:txBody>
                  <a:tcPr>
                    <a:solidFill>
                      <a:srgbClr val="FFFFFF"/>
                    </a:solidFill>
                  </a:tcPr>
                </a:tc>
                <a:tc>
                  <a:txBody>
                    <a:bodyPr/>
                    <a:lstStyle/>
                    <a:p>
                      <a:pPr>
                        <a:defRPr sz="900">
                          <a:solidFill>
                            <a:srgbClr val="1A1A1A"/>
                          </a:solidFill>
                          <a:latin typeface="Arial"/>
                        </a:defRPr>
                      </a:pPr>
                      <a:r>
                        <a:t>GCC classified as in-house under RBI (not outsourced)</a:t>
                      </a:r>
                    </a:p>
                  </a:txBody>
                  <a:tcPr>
                    <a:solidFill>
                      <a:srgbClr val="FFFFFF"/>
                    </a:solidFill>
                  </a:tcPr>
                </a:tc>
              </a:tr>
              <a:tr h="399010">
                <a:tc>
                  <a:txBody>
                    <a:bodyPr/>
                    <a:lstStyle/>
                    <a:p>
                      <a:pPr>
                        <a:defRPr sz="900">
                          <a:solidFill>
                            <a:srgbClr val="1A1A1A"/>
                          </a:solidFill>
                          <a:latin typeface="Arial"/>
                        </a:defRPr>
                      </a:pPr>
                      <a:r>
                        <a:t>4</a:t>
                      </a:r>
                    </a:p>
                  </a:txBody>
                  <a:tcPr>
                    <a:solidFill>
                      <a:srgbClr val="F2F2F2"/>
                    </a:solidFill>
                  </a:tcPr>
                </a:tc>
                <a:tc>
                  <a:txBody>
                    <a:bodyPr/>
                    <a:lstStyle/>
                    <a:p>
                      <a:pPr>
                        <a:defRPr sz="900">
                          <a:solidFill>
                            <a:srgbClr val="1A1A1A"/>
                          </a:solidFill>
                          <a:latin typeface="Arial"/>
                        </a:defRPr>
                      </a:pPr>
                      <a:r>
                        <a:t>Data Breach</a:t>
                      </a:r>
                    </a:p>
                  </a:txBody>
                  <a:tcPr>
                    <a:solidFill>
                      <a:srgbClr val="F2F2F2"/>
                    </a:solidFill>
                  </a:tcPr>
                </a:tc>
                <a:tc>
                  <a:txBody>
                    <a:bodyPr/>
                    <a:lstStyle/>
                    <a:p>
                      <a:pPr>
                        <a:defRPr sz="900">
                          <a:solidFill>
                            <a:srgbClr val="1A1A1A"/>
                          </a:solidFill>
                          <a:latin typeface="Arial"/>
                        </a:defRPr>
                      </a:pPr>
                      <a:r>
                        <a:t>HIGH</a:t>
                      </a:r>
                    </a:p>
                  </a:txBody>
                  <a:tcPr>
                    <a:solidFill>
                      <a:srgbClr val="F2F2F2"/>
                    </a:solidFill>
                  </a:tcPr>
                </a:tc>
                <a:tc>
                  <a:txBody>
                    <a:bodyPr/>
                    <a:lstStyle/>
                    <a:p>
                      <a:pPr>
                        <a:defRPr sz="900">
                          <a:solidFill>
                            <a:srgbClr val="1A1A1A"/>
                          </a:solidFill>
                          <a:latin typeface="Arial"/>
                        </a:defRPr>
                      </a:pPr>
                      <a:r>
                        <a:t>Captive perimeter; no multi-tenant risk; SOC 2 controls</a:t>
                      </a:r>
                    </a:p>
                  </a:txBody>
                  <a:tcPr>
                    <a:solidFill>
                      <a:srgbClr val="F2F2F2"/>
                    </a:solidFill>
                  </a:tcPr>
                </a:tc>
              </a:tr>
              <a:tr h="399010">
                <a:tc>
                  <a:txBody>
                    <a:bodyPr/>
                    <a:lstStyle/>
                    <a:p>
                      <a:pPr>
                        <a:defRPr sz="900">
                          <a:solidFill>
                            <a:srgbClr val="1A1A1A"/>
                          </a:solidFill>
                          <a:latin typeface="Arial"/>
                        </a:defRPr>
                      </a:pPr>
                      <a:r>
                        <a:t>5</a:t>
                      </a:r>
                    </a:p>
                  </a:txBody>
                  <a:tcPr>
                    <a:solidFill>
                      <a:srgbClr val="FFFFFF"/>
                    </a:solidFill>
                  </a:tcPr>
                </a:tc>
                <a:tc>
                  <a:txBody>
                    <a:bodyPr/>
                    <a:lstStyle/>
                    <a:p>
                      <a:pPr>
                        <a:defRPr sz="900">
                          <a:solidFill>
                            <a:srgbClr val="1A1A1A"/>
                          </a:solidFill>
                          <a:latin typeface="Arial"/>
                        </a:defRPr>
                      </a:pPr>
                      <a:r>
                        <a:t>Cost Overrun</a:t>
                      </a:r>
                    </a:p>
                  </a:txBody>
                  <a:tcPr>
                    <a:solidFill>
                      <a:srgbClr val="FFFFFF"/>
                    </a:solidFill>
                  </a:tcPr>
                </a:tc>
                <a:tc>
                  <a:txBody>
                    <a:bodyPr/>
                    <a:lstStyle/>
                    <a:p>
                      <a:pPr>
                        <a:defRPr sz="900">
                          <a:solidFill>
                            <a:srgbClr val="1A1A1A"/>
                          </a:solidFill>
                          <a:latin typeface="Arial"/>
                        </a:defRPr>
                      </a:pPr>
                      <a:r>
                        <a:t>MEDIUM</a:t>
                      </a:r>
                    </a:p>
                  </a:txBody>
                  <a:tcPr>
                    <a:solidFill>
                      <a:srgbClr val="FFFFFF"/>
                    </a:solidFill>
                  </a:tcPr>
                </a:tc>
                <a:tc>
                  <a:txBody>
                    <a:bodyPr/>
                    <a:lstStyle/>
                    <a:p>
                      <a:pPr>
                        <a:defRPr sz="900">
                          <a:solidFill>
                            <a:srgbClr val="1A1A1A"/>
                          </a:solidFill>
                          <a:latin typeface="Arial"/>
                        </a:defRPr>
                      </a:pPr>
                      <a:r>
                        <a:t>BOT model for initial phase; phased scaling</a:t>
                      </a:r>
                    </a:p>
                  </a:txBody>
                  <a:tcPr>
                    <a:solidFill>
                      <a:srgbClr val="FFFFFF"/>
                    </a:solidFill>
                  </a:tcPr>
                </a:tc>
              </a:tr>
              <a:tr h="399010">
                <a:tc>
                  <a:txBody>
                    <a:bodyPr/>
                    <a:lstStyle/>
                    <a:p>
                      <a:pPr>
                        <a:defRPr sz="900">
                          <a:solidFill>
                            <a:srgbClr val="1A1A1A"/>
                          </a:solidFill>
                          <a:latin typeface="Arial"/>
                        </a:defRPr>
                      </a:pPr>
                      <a:r>
                        <a:t>6</a:t>
                      </a:r>
                    </a:p>
                  </a:txBody>
                  <a:tcPr>
                    <a:solidFill>
                      <a:srgbClr val="F2F2F2"/>
                    </a:solidFill>
                  </a:tcPr>
                </a:tc>
                <a:tc>
                  <a:txBody>
                    <a:bodyPr/>
                    <a:lstStyle/>
                    <a:p>
                      <a:pPr>
                        <a:defRPr sz="900">
                          <a:solidFill>
                            <a:srgbClr val="1A1A1A"/>
                          </a:solidFill>
                          <a:latin typeface="Arial"/>
                        </a:defRPr>
                      </a:pPr>
                      <a:r>
                        <a:t>Knowledge Transfer</a:t>
                      </a:r>
                    </a:p>
                  </a:txBody>
                  <a:tcPr>
                    <a:solidFill>
                      <a:srgbClr val="F2F2F2"/>
                    </a:solidFill>
                  </a:tcPr>
                </a:tc>
                <a:tc>
                  <a:txBody>
                    <a:bodyPr/>
                    <a:lstStyle/>
                    <a:p>
                      <a:pPr>
                        <a:defRPr sz="900">
                          <a:solidFill>
                            <a:srgbClr val="1A1A1A"/>
                          </a:solidFill>
                          <a:latin typeface="Arial"/>
                        </a:defRPr>
                      </a:pPr>
                      <a:r>
                        <a:t>MEDIUM</a:t>
                      </a:r>
                    </a:p>
                  </a:txBody>
                  <a:tcPr>
                    <a:solidFill>
                      <a:srgbClr val="F2F2F2"/>
                    </a:solidFill>
                  </a:tcPr>
                </a:tc>
                <a:tc>
                  <a:txBody>
                    <a:bodyPr/>
                    <a:lstStyle/>
                    <a:p>
                      <a:pPr>
                        <a:defRPr sz="900">
                          <a:solidFill>
                            <a:srgbClr val="1A1A1A"/>
                          </a:solidFill>
                          <a:latin typeface="Arial"/>
                        </a:defRPr>
                      </a:pPr>
                      <a:r>
                        <a:t>90-day structured cycles; overlap periods</a:t>
                      </a:r>
                    </a:p>
                  </a:txBody>
                  <a:tcPr>
                    <a:solidFill>
                      <a:srgbClr val="F2F2F2"/>
                    </a:solidFill>
                  </a:tcPr>
                </a:tc>
              </a:tr>
              <a:tr h="399010">
                <a:tc>
                  <a:txBody>
                    <a:bodyPr/>
                    <a:lstStyle/>
                    <a:p>
                      <a:pPr>
                        <a:defRPr sz="900">
                          <a:solidFill>
                            <a:srgbClr val="1A1A1A"/>
                          </a:solidFill>
                          <a:latin typeface="Arial"/>
                        </a:defRPr>
                      </a:pPr>
                      <a:r>
                        <a:t>7</a:t>
                      </a:r>
                    </a:p>
                  </a:txBody>
                  <a:tcPr>
                    <a:solidFill>
                      <a:srgbClr val="FFFFFF"/>
                    </a:solidFill>
                  </a:tcPr>
                </a:tc>
                <a:tc>
                  <a:txBody>
                    <a:bodyPr/>
                    <a:lstStyle/>
                    <a:p>
                      <a:pPr>
                        <a:defRPr sz="900">
                          <a:solidFill>
                            <a:srgbClr val="1A1A1A"/>
                          </a:solidFill>
                          <a:latin typeface="Arial"/>
                        </a:defRPr>
                      </a:pPr>
                      <a:r>
                        <a:t>Geopolitical Disruption</a:t>
                      </a:r>
                    </a:p>
                  </a:txBody>
                  <a:tcPr>
                    <a:solidFill>
                      <a:srgbClr val="FFFFFF"/>
                    </a:solidFill>
                  </a:tcPr>
                </a:tc>
                <a:tc>
                  <a:txBody>
                    <a:bodyPr/>
                    <a:lstStyle/>
                    <a:p>
                      <a:pPr>
                        <a:defRPr sz="900">
                          <a:solidFill>
                            <a:srgbClr val="1A1A1A"/>
                          </a:solidFill>
                          <a:latin typeface="Arial"/>
                        </a:defRPr>
                      </a:pPr>
                      <a:r>
                        <a:t>LOW</a:t>
                      </a:r>
                    </a:p>
                  </a:txBody>
                  <a:tcPr>
                    <a:solidFill>
                      <a:srgbClr val="FFFFFF"/>
                    </a:solidFill>
                  </a:tcPr>
                </a:tc>
                <a:tc>
                  <a:txBody>
                    <a:bodyPr/>
                    <a:lstStyle/>
                    <a:p>
                      <a:pPr>
                        <a:defRPr sz="900">
                          <a:solidFill>
                            <a:srgbClr val="1A1A1A"/>
                          </a:solidFill>
                          <a:latin typeface="Arial"/>
                        </a:defRPr>
                      </a:pPr>
                      <a:r>
                        <a:t>India's non-aligned posture + multi-city BCP</a:t>
                      </a:r>
                    </a:p>
                  </a:txBody>
                  <a:tcPr>
                    <a:solidFill>
                      <a:srgbClr val="FFFFFF"/>
                    </a:solidFill>
                  </a:tcPr>
                </a:tc>
              </a:tr>
              <a:tr h="399010">
                <a:tc>
                  <a:txBody>
                    <a:bodyPr/>
                    <a:lstStyle/>
                    <a:p>
                      <a:pPr>
                        <a:defRPr sz="900">
                          <a:solidFill>
                            <a:srgbClr val="1A1A1A"/>
                          </a:solidFill>
                          <a:latin typeface="Arial"/>
                        </a:defRPr>
                      </a:pPr>
                      <a:r>
                        <a:t>8</a:t>
                      </a:r>
                    </a:p>
                  </a:txBody>
                  <a:tcPr>
                    <a:solidFill>
                      <a:srgbClr val="F2F2F2"/>
                    </a:solidFill>
                  </a:tcPr>
                </a:tc>
                <a:tc>
                  <a:txBody>
                    <a:bodyPr/>
                    <a:lstStyle/>
                    <a:p>
                      <a:pPr>
                        <a:defRPr sz="900">
                          <a:solidFill>
                            <a:srgbClr val="1A1A1A"/>
                          </a:solidFill>
                          <a:latin typeface="Arial"/>
                        </a:defRPr>
                      </a:pPr>
                      <a:r>
                        <a:t>Real Estate Inflation</a:t>
                      </a:r>
                    </a:p>
                  </a:txBody>
                  <a:tcPr>
                    <a:solidFill>
                      <a:srgbClr val="F2F2F2"/>
                    </a:solidFill>
                  </a:tcPr>
                </a:tc>
                <a:tc>
                  <a:txBody>
                    <a:bodyPr/>
                    <a:lstStyle/>
                    <a:p>
                      <a:pPr>
                        <a:defRPr sz="900">
                          <a:solidFill>
                            <a:srgbClr val="1A1A1A"/>
                          </a:solidFill>
                          <a:latin typeface="Arial"/>
                        </a:defRPr>
                      </a:pPr>
                      <a:r>
                        <a:t>MEDIUM</a:t>
                      </a:r>
                    </a:p>
                  </a:txBody>
                  <a:tcPr>
                    <a:solidFill>
                      <a:srgbClr val="F2F2F2"/>
                    </a:solidFill>
                  </a:tcPr>
                </a:tc>
                <a:tc>
                  <a:txBody>
                    <a:bodyPr/>
                    <a:lstStyle/>
                    <a:p>
                      <a:pPr>
                        <a:defRPr sz="900">
                          <a:solidFill>
                            <a:srgbClr val="1A1A1A"/>
                          </a:solidFill>
                          <a:latin typeface="Arial"/>
                        </a:defRPr>
                      </a:pPr>
                      <a:r>
                        <a:t>Tier-2 satellites (30-40% savings); flex spaces</a:t>
                      </a:r>
                    </a:p>
                  </a:txBody>
                  <a:tcPr>
                    <a:solidFill>
                      <a:srgbClr val="F2F2F2"/>
                    </a:solidFill>
                  </a:tcPr>
                </a:tc>
              </a:tr>
              <a:tr h="399010">
                <a:tc>
                  <a:txBody>
                    <a:bodyPr/>
                    <a:lstStyle/>
                    <a:p>
                      <a:pPr>
                        <a:defRPr sz="900">
                          <a:solidFill>
                            <a:srgbClr val="1A1A1A"/>
                          </a:solidFill>
                          <a:latin typeface="Arial"/>
                        </a:defRPr>
                      </a:pPr>
                      <a:r>
                        <a:t>9</a:t>
                      </a:r>
                    </a:p>
                  </a:txBody>
                  <a:tcPr>
                    <a:solidFill>
                      <a:srgbClr val="FFFFFF"/>
                    </a:solidFill>
                  </a:tcPr>
                </a:tc>
                <a:tc>
                  <a:txBody>
                    <a:bodyPr/>
                    <a:lstStyle/>
                    <a:p>
                      <a:pPr>
                        <a:defRPr sz="900">
                          <a:solidFill>
                            <a:srgbClr val="1A1A1A"/>
                          </a:solidFill>
                          <a:latin typeface="Arial"/>
                        </a:defRPr>
                      </a:pPr>
                      <a:r>
                        <a:t>Salary Inflation (10.4%)</a:t>
                      </a:r>
                    </a:p>
                  </a:txBody>
                  <a:tcPr>
                    <a:solidFill>
                      <a:srgbClr val="FFFFFF"/>
                    </a:solidFill>
                  </a:tcPr>
                </a:tc>
                <a:tc>
                  <a:txBody>
                    <a:bodyPr/>
                    <a:lstStyle/>
                    <a:p>
                      <a:pPr>
                        <a:defRPr sz="900">
                          <a:solidFill>
                            <a:srgbClr val="1A1A1A"/>
                          </a:solidFill>
                          <a:latin typeface="Arial"/>
                        </a:defRPr>
                      </a:pPr>
                      <a:r>
                        <a:t>HIGH</a:t>
                      </a:r>
                    </a:p>
                  </a:txBody>
                  <a:tcPr>
                    <a:solidFill>
                      <a:srgbClr val="FFFFFF"/>
                    </a:solidFill>
                  </a:tcPr>
                </a:tc>
                <a:tc>
                  <a:txBody>
                    <a:bodyPr/>
                    <a:lstStyle/>
                    <a:p>
                      <a:pPr>
                        <a:defRPr sz="900">
                          <a:solidFill>
                            <a:srgbClr val="1A1A1A"/>
                          </a:solidFill>
                          <a:latin typeface="Arial"/>
                        </a:defRPr>
                      </a:pPr>
                      <a:r>
                        <a:t>Long-term incentives; variable pay optimization</a:t>
                      </a:r>
                    </a:p>
                  </a:txBody>
                  <a:tcPr>
                    <a:solidFill>
                      <a:srgbClr val="FFFFFF"/>
                    </a:solidFill>
                  </a:tcPr>
                </a:tc>
              </a:tr>
              <a:tr h="399020">
                <a:tc>
                  <a:txBody>
                    <a:bodyPr/>
                    <a:lstStyle/>
                    <a:p>
                      <a:pPr>
                        <a:defRPr sz="900">
                          <a:solidFill>
                            <a:srgbClr val="1A1A1A"/>
                          </a:solidFill>
                          <a:latin typeface="Arial"/>
                        </a:defRPr>
                      </a:pPr>
                      <a:r>
                        <a:t>10</a:t>
                      </a:r>
                    </a:p>
                  </a:txBody>
                  <a:tcPr>
                    <a:solidFill>
                      <a:srgbClr val="F2F2F2"/>
                    </a:solidFill>
                  </a:tcPr>
                </a:tc>
                <a:tc>
                  <a:txBody>
                    <a:bodyPr/>
                    <a:lstStyle/>
                    <a:p>
                      <a:pPr>
                        <a:defRPr sz="900">
                          <a:solidFill>
                            <a:srgbClr val="1A1A1A"/>
                          </a:solidFill>
                          <a:latin typeface="Arial"/>
                        </a:defRPr>
                      </a:pPr>
                      <a:r>
                        <a:t>Execution Delay</a:t>
                      </a:r>
                    </a:p>
                  </a:txBody>
                  <a:tcPr>
                    <a:solidFill>
                      <a:srgbClr val="F2F2F2"/>
                    </a:solidFill>
                  </a:tcPr>
                </a:tc>
                <a:tc>
                  <a:txBody>
                    <a:bodyPr/>
                    <a:lstStyle/>
                    <a:p>
                      <a:pPr>
                        <a:defRPr sz="900">
                          <a:solidFill>
                            <a:srgbClr val="1A1A1A"/>
                          </a:solidFill>
                          <a:latin typeface="Arial"/>
                        </a:defRPr>
                      </a:pPr>
                      <a:r>
                        <a:t>MEDIUM</a:t>
                      </a:r>
                    </a:p>
                  </a:txBody>
                  <a:tcPr>
                    <a:solidFill>
                      <a:srgbClr val="F2F2F2"/>
                    </a:solidFill>
                  </a:tcPr>
                </a:tc>
                <a:tc>
                  <a:txBody>
                    <a:bodyPr/>
                    <a:lstStyle/>
                    <a:p>
                      <a:pPr>
                        <a:defRPr sz="900">
                          <a:solidFill>
                            <a:srgbClr val="1A1A1A"/>
                          </a:solidFill>
                          <a:latin typeface="Arial"/>
                        </a:defRPr>
                      </a:pPr>
                      <a:r>
                        <a:t>BOT partner model: operational in 4-6 months</a:t>
                      </a:r>
                    </a:p>
                  </a:txBody>
                  <a:tcPr>
                    <a:solidFill>
                      <a:srgbClr val="F2F2F2"/>
                    </a:solidFill>
                  </a:tcPr>
                </a:tc>
              </a:tr>
            </a:tbl>
          </a:graphicData>
        </a:graphic>
      </p:graphicFrame>
      <p:sp>
        <p:nvSpPr>
          <p:cNvPr id="5" name="Rectangle 4"/>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Every risk on this register has a proven mitigation — inaction risk now exceeds GCC setup risk</a:t>
            </a:r>
          </a:p>
        </p:txBody>
      </p:sp>
      <p:sp>
        <p:nvSpPr>
          <p:cNvPr id="6" name="TextBox 5"/>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13</a:t>
            </a:r>
          </a:p>
        </p:txBody>
      </p:sp>
      <p:sp>
        <p:nvSpPr>
          <p:cNvPr id="7" name="TextBox 6"/>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Zinnov, ANSR, Everest Group, FINMA, RBI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RECOMMENDED MODEL</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Hybrid GCC: Captive Core with BOT Entry and Selective Outsourcing</a:t>
            </a:r>
          </a:p>
        </p:txBody>
      </p:sp>
      <p:sp>
        <p:nvSpPr>
          <p:cNvPr id="4" name="Chevron 3"/>
          <p:cNvSpPr/>
          <p:nvPr/>
        </p:nvSpPr>
        <p:spPr>
          <a:xfrm>
            <a:off x="548640" y="1188720"/>
            <a:ext cx="2720340" cy="594360"/>
          </a:xfrm>
          <a:prstGeom prst="chevron">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25400"/>
          <a:lstStyle/>
          <a:p>
            <a:pPr algn="ctr">
              <a:defRPr sz="900" b="1">
                <a:solidFill>
                  <a:srgbClr val="FFFFFF"/>
                </a:solidFill>
                <a:latin typeface="Arial"/>
              </a:defRPr>
            </a:pPr>
            <a:r>
              <a:t>PHASE 1: BOT</a:t>
            </a:r>
          </a:p>
        </p:txBody>
      </p:sp>
      <p:sp>
        <p:nvSpPr>
          <p:cNvPr id="5" name="Chevron 4"/>
          <p:cNvSpPr/>
          <p:nvPr/>
        </p:nvSpPr>
        <p:spPr>
          <a:xfrm>
            <a:off x="3314700" y="1188720"/>
            <a:ext cx="2720340" cy="594360"/>
          </a:xfrm>
          <a:prstGeom prst="chevron">
            <a:avLst/>
          </a:prstGeom>
          <a:solidFill>
            <a:srgbClr val="D9571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25400"/>
          <a:lstStyle/>
          <a:p>
            <a:pPr algn="ctr">
              <a:defRPr sz="900" b="1">
                <a:solidFill>
                  <a:srgbClr val="FFFFFF"/>
                </a:solidFill>
                <a:latin typeface="Arial"/>
              </a:defRPr>
            </a:pPr>
            <a:r>
              <a:t>PHASE 2: CONVERT</a:t>
            </a:r>
          </a:p>
        </p:txBody>
      </p:sp>
      <p:sp>
        <p:nvSpPr>
          <p:cNvPr id="6" name="Chevron 5"/>
          <p:cNvSpPr/>
          <p:nvPr/>
        </p:nvSpPr>
        <p:spPr>
          <a:xfrm>
            <a:off x="6080759" y="1188720"/>
            <a:ext cx="2720340" cy="594360"/>
          </a:xfrm>
          <a:prstGeom prst="chevron">
            <a:avLst/>
          </a:prstGeom>
          <a:solidFill>
            <a:srgbClr val="CA6118"/>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25400"/>
          <a:lstStyle/>
          <a:p>
            <a:pPr algn="ctr">
              <a:defRPr sz="900" b="1">
                <a:solidFill>
                  <a:srgbClr val="FFFFFF"/>
                </a:solidFill>
                <a:latin typeface="Arial"/>
              </a:defRPr>
            </a:pPr>
            <a:r>
              <a:t>PHASE 3: SCALE</a:t>
            </a:r>
          </a:p>
        </p:txBody>
      </p:sp>
      <p:sp>
        <p:nvSpPr>
          <p:cNvPr id="7" name="Chevron 6"/>
          <p:cNvSpPr/>
          <p:nvPr/>
        </p:nvSpPr>
        <p:spPr>
          <a:xfrm>
            <a:off x="8846819" y="1188720"/>
            <a:ext cx="2720340" cy="594360"/>
          </a:xfrm>
          <a:prstGeom prst="chevron">
            <a:avLst/>
          </a:prstGeom>
          <a:solidFill>
            <a:srgbClr val="BB6B1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25400"/>
          <a:lstStyle/>
          <a:p>
            <a:pPr algn="ctr">
              <a:defRPr sz="900" b="1">
                <a:solidFill>
                  <a:srgbClr val="FFFFFF"/>
                </a:solidFill>
                <a:latin typeface="Arial"/>
              </a:defRPr>
            </a:pPr>
            <a:r>
              <a:t>PHASE 4: OPTIMIZE</a:t>
            </a:r>
          </a:p>
        </p:txBody>
      </p:sp>
      <p:sp>
        <p:nvSpPr>
          <p:cNvPr id="8" name="TextBox 7"/>
          <p:cNvSpPr txBox="1"/>
          <p:nvPr/>
        </p:nvSpPr>
        <p:spPr>
          <a:xfrm>
            <a:off x="548640" y="1828800"/>
            <a:ext cx="2674620" cy="548640"/>
          </a:xfrm>
          <a:prstGeom prst="rect">
            <a:avLst/>
          </a:prstGeom>
          <a:noFill/>
        </p:spPr>
        <p:txBody>
          <a:bodyPr wrap="square">
            <a:spAutoFit/>
          </a:bodyPr>
          <a:lstStyle/>
          <a:p>
            <a:pPr algn="ctr">
              <a:lnSpc>
                <a:spcPts val="919"/>
              </a:lnSpc>
              <a:spcAft>
                <a:spcPts val="0"/>
              </a:spcAft>
              <a:defRPr sz="800" b="0">
                <a:solidFill>
                  <a:srgbClr val="666666"/>
                </a:solidFill>
                <a:latin typeface="Arial"/>
              </a:defRPr>
            </a:pPr>
            <a:r>
              <a:t>4-6 months</a:t>
            </a:r>
            <a:br/>
            <a:r>
              <a:t>Setup via partner</a:t>
            </a:r>
          </a:p>
        </p:txBody>
      </p:sp>
      <p:sp>
        <p:nvSpPr>
          <p:cNvPr id="9" name="TextBox 8"/>
          <p:cNvSpPr txBox="1"/>
          <p:nvPr/>
        </p:nvSpPr>
        <p:spPr>
          <a:xfrm>
            <a:off x="3314700" y="1828800"/>
            <a:ext cx="2674620" cy="548640"/>
          </a:xfrm>
          <a:prstGeom prst="rect">
            <a:avLst/>
          </a:prstGeom>
          <a:noFill/>
        </p:spPr>
        <p:txBody>
          <a:bodyPr wrap="square">
            <a:spAutoFit/>
          </a:bodyPr>
          <a:lstStyle/>
          <a:p>
            <a:pPr algn="ctr">
              <a:lnSpc>
                <a:spcPts val="919"/>
              </a:lnSpc>
              <a:spcAft>
                <a:spcPts val="0"/>
              </a:spcAft>
              <a:defRPr sz="800" b="0">
                <a:solidFill>
                  <a:srgbClr val="666666"/>
                </a:solidFill>
                <a:latin typeface="Arial"/>
              </a:defRPr>
            </a:pPr>
            <a:r>
              <a:t>Month 18</a:t>
            </a:r>
            <a:br/>
            <a:r>
              <a:t>Captive conversion</a:t>
            </a:r>
          </a:p>
        </p:txBody>
      </p:sp>
      <p:sp>
        <p:nvSpPr>
          <p:cNvPr id="10" name="TextBox 9"/>
          <p:cNvSpPr txBox="1"/>
          <p:nvPr/>
        </p:nvSpPr>
        <p:spPr>
          <a:xfrm>
            <a:off x="6080759" y="1828800"/>
            <a:ext cx="2674620" cy="548640"/>
          </a:xfrm>
          <a:prstGeom prst="rect">
            <a:avLst/>
          </a:prstGeom>
          <a:noFill/>
        </p:spPr>
        <p:txBody>
          <a:bodyPr wrap="square">
            <a:spAutoFit/>
          </a:bodyPr>
          <a:lstStyle/>
          <a:p>
            <a:pPr algn="ctr">
              <a:lnSpc>
                <a:spcPts val="919"/>
              </a:lnSpc>
              <a:spcAft>
                <a:spcPts val="0"/>
              </a:spcAft>
              <a:defRPr sz="800" b="0">
                <a:solidFill>
                  <a:srgbClr val="666666"/>
                </a:solidFill>
                <a:latin typeface="Arial"/>
              </a:defRPr>
            </a:pPr>
            <a:r>
              <a:t>Month 8-14</a:t>
            </a:r>
            <a:br/>
            <a:r>
              <a:t>Second city, 300 FTE</a:t>
            </a:r>
          </a:p>
        </p:txBody>
      </p:sp>
      <p:sp>
        <p:nvSpPr>
          <p:cNvPr id="11" name="TextBox 10"/>
          <p:cNvSpPr txBox="1"/>
          <p:nvPr/>
        </p:nvSpPr>
        <p:spPr>
          <a:xfrm>
            <a:off x="8846819" y="1828800"/>
            <a:ext cx="2674620" cy="548640"/>
          </a:xfrm>
          <a:prstGeom prst="rect">
            <a:avLst/>
          </a:prstGeom>
          <a:noFill/>
        </p:spPr>
        <p:txBody>
          <a:bodyPr wrap="square">
            <a:spAutoFit/>
          </a:bodyPr>
          <a:lstStyle/>
          <a:p>
            <a:pPr algn="ctr">
              <a:lnSpc>
                <a:spcPts val="919"/>
              </a:lnSpc>
              <a:spcAft>
                <a:spcPts val="0"/>
              </a:spcAft>
              <a:defRPr sz="800" b="0">
                <a:solidFill>
                  <a:srgbClr val="666666"/>
                </a:solidFill>
                <a:latin typeface="Arial"/>
              </a:defRPr>
            </a:pPr>
            <a:r>
              <a:t>Month 14-18</a:t>
            </a:r>
            <a:br/>
            <a:r>
              <a:t>500 FTE, breakeven</a:t>
            </a:r>
          </a:p>
        </p:txBody>
      </p:sp>
      <p:sp>
        <p:nvSpPr>
          <p:cNvPr id="12" name="Rectangle 11"/>
          <p:cNvSpPr/>
          <p:nvPr/>
        </p:nvSpPr>
        <p:spPr>
          <a:xfrm>
            <a:off x="548640" y="246888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WHAT STAYS CAPTIVE vs WHAT TO OUTSOURCE</a:t>
            </a:r>
          </a:p>
        </p:txBody>
      </p:sp>
      <p:sp>
        <p:nvSpPr>
          <p:cNvPr id="13" name="Rectangle 12"/>
          <p:cNvSpPr/>
          <p:nvPr/>
        </p:nvSpPr>
        <p:spPr>
          <a:xfrm>
            <a:off x="548640" y="2880360"/>
            <a:ext cx="5029200" cy="210312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27AE60"/>
                </a:solidFill>
                <a:latin typeface="Arial"/>
              </a:defRPr>
            </a:pPr>
            <a:r>
              <a:t>GCC-OWNED CORE (70-80% FTE)</a:t>
            </a:r>
          </a:p>
          <a:p>
            <a:pPr>
              <a:spcBef>
                <a:spcPts val="400"/>
              </a:spcBef>
              <a:defRPr sz="900">
                <a:solidFill>
                  <a:srgbClr val="1A1A1A"/>
                </a:solidFill>
                <a:latin typeface="Arial"/>
              </a:defRPr>
            </a:pPr>
            <a:r>
              <a:t>• Risk, Compliance &amp; Cybersecurity</a:t>
            </a:r>
            <a:br/>
            <a:r>
              <a:t>• Innovation &amp; AI/ML Labs</a:t>
            </a:r>
            <a:br/>
            <a:r>
              <a:t>• Core IP &amp; Product Development</a:t>
            </a:r>
            <a:br/>
            <a:r>
              <a:t>• Regulatory Reporting (DORA, RBI)</a:t>
            </a:r>
            <a:br/>
            <a:r>
              <a:t>• Data Analytics &amp; Decision Science</a:t>
            </a:r>
          </a:p>
        </p:txBody>
      </p:sp>
      <p:sp>
        <p:nvSpPr>
          <p:cNvPr id="14" name="Rectangle 13"/>
          <p:cNvSpPr/>
          <p:nvPr/>
        </p:nvSpPr>
        <p:spPr>
          <a:xfrm>
            <a:off x="5943600" y="2880360"/>
            <a:ext cx="5669280" cy="210312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SELECTIVE OUTSOURCING (20-30% FTE)</a:t>
            </a:r>
          </a:p>
          <a:p>
            <a:pPr>
              <a:spcBef>
                <a:spcPts val="400"/>
              </a:spcBef>
              <a:defRPr sz="900">
                <a:solidFill>
                  <a:srgbClr val="1A1A1A"/>
                </a:solidFill>
                <a:latin typeface="Arial"/>
              </a:defRPr>
            </a:pPr>
            <a:r>
              <a:t>• Burst/Peak Capacity (seasonal)</a:t>
            </a:r>
            <a:br/>
            <a:r>
              <a:t>• Non-core BPO &amp; Back-office</a:t>
            </a:r>
            <a:br/>
            <a:r>
              <a:t>• Niche Skills (short-duration)</a:t>
            </a:r>
            <a:br/>
            <a:r>
              <a:t>• Infrastructure Management</a:t>
            </a:r>
            <a:br/>
            <a:r>
              <a:t>• Training &amp; L&amp;D Delivery</a:t>
            </a:r>
          </a:p>
        </p:txBody>
      </p:sp>
      <p:sp>
        <p:nvSpPr>
          <p:cNvPr id="15" name="TextBox 14"/>
          <p:cNvSpPr txBox="1"/>
          <p:nvPr/>
        </p:nvSpPr>
        <p:spPr>
          <a:xfrm>
            <a:off x="548640" y="5029200"/>
            <a:ext cx="2011680" cy="640080"/>
          </a:xfrm>
          <a:prstGeom prst="rect">
            <a:avLst/>
          </a:prstGeom>
          <a:noFill/>
        </p:spPr>
        <p:txBody>
          <a:bodyPr wrap="square">
            <a:spAutoFit/>
          </a:bodyPr>
          <a:lstStyle/>
          <a:p>
            <a:pPr algn="ctr">
              <a:lnSpc>
                <a:spcPts val="2760"/>
              </a:lnSpc>
              <a:spcAft>
                <a:spcPts val="0"/>
              </a:spcAft>
              <a:defRPr sz="2400" b="1">
                <a:solidFill>
                  <a:srgbClr val="E84D0E"/>
                </a:solidFill>
                <a:latin typeface="Arial"/>
              </a:defRPr>
            </a:pPr>
            <a:r>
              <a:t>&lt;10% → 40%</a:t>
            </a:r>
          </a:p>
        </p:txBody>
      </p:sp>
      <p:sp>
        <p:nvSpPr>
          <p:cNvPr id="16" name="TextBox 15"/>
          <p:cNvSpPr txBox="1"/>
          <p:nvPr/>
        </p:nvSpPr>
        <p:spPr>
          <a:xfrm>
            <a:off x="548640" y="557784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BOT Adoption Surge</a:t>
            </a:r>
            <a:br/>
            <a:r>
              <a:t>(Everest Group)</a:t>
            </a:r>
          </a:p>
        </p:txBody>
      </p:sp>
      <p:sp>
        <p:nvSpPr>
          <p:cNvPr id="17" name="TextBox 16"/>
          <p:cNvSpPr txBox="1"/>
          <p:nvPr/>
        </p:nvSpPr>
        <p:spPr>
          <a:xfrm>
            <a:off x="4572000" y="5029200"/>
            <a:ext cx="2011680" cy="640080"/>
          </a:xfrm>
          <a:prstGeom prst="rect">
            <a:avLst/>
          </a:prstGeom>
          <a:noFill/>
        </p:spPr>
        <p:txBody>
          <a:bodyPr wrap="square">
            <a:spAutoFit/>
          </a:bodyPr>
          <a:lstStyle/>
          <a:p>
            <a:pPr algn="ctr">
              <a:lnSpc>
                <a:spcPts val="2760"/>
              </a:lnSpc>
              <a:spcAft>
                <a:spcPts val="0"/>
              </a:spcAft>
              <a:defRPr sz="2400" b="1">
                <a:solidFill>
                  <a:srgbClr val="E84D0E"/>
                </a:solidFill>
                <a:latin typeface="Arial"/>
              </a:defRPr>
            </a:pPr>
            <a:r>
              <a:t>2x</a:t>
            </a:r>
          </a:p>
        </p:txBody>
      </p:sp>
      <p:sp>
        <p:nvSpPr>
          <p:cNvPr id="18" name="TextBox 17"/>
          <p:cNvSpPr txBox="1"/>
          <p:nvPr/>
        </p:nvSpPr>
        <p:spPr>
          <a:xfrm>
            <a:off x="4572000" y="557784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Mega GCC companies outsource</a:t>
            </a:r>
            <a:br/>
            <a:r>
              <a:t>2x more (hybrid works at scale)</a:t>
            </a:r>
          </a:p>
        </p:txBody>
      </p:sp>
      <p:sp>
        <p:nvSpPr>
          <p:cNvPr id="19" name="Rectangle 18"/>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Start with BOT to de-risk, transition to captive within 18 months, keep selective outsourcing for non-core</a:t>
            </a:r>
          </a:p>
        </p:txBody>
      </p:sp>
      <p:sp>
        <p:nvSpPr>
          <p:cNvPr id="20" name="TextBox 19"/>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14</a:t>
            </a:r>
          </a:p>
        </p:txBody>
      </p:sp>
      <p:sp>
        <p:nvSpPr>
          <p:cNvPr id="21" name="TextBox 20"/>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Everest Group, Zinnov, Tholons, ANSR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ACT III: TALENT STRATEGY</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Why Financial Services GCCs Cannot Out-Hire Their Way to Growth</a:t>
            </a:r>
          </a:p>
        </p:txBody>
      </p:sp>
      <p:sp>
        <p:nvSpPr>
          <p:cNvPr id="4" name="TextBox 3"/>
          <p:cNvSpPr txBox="1"/>
          <p:nvPr/>
        </p:nvSpPr>
        <p:spPr>
          <a:xfrm>
            <a:off x="548640" y="1188720"/>
            <a:ext cx="2011680" cy="640080"/>
          </a:xfrm>
          <a:prstGeom prst="rect">
            <a:avLst/>
          </a:prstGeom>
          <a:noFill/>
        </p:spPr>
        <p:txBody>
          <a:bodyPr wrap="square">
            <a:spAutoFit/>
          </a:bodyPr>
          <a:lstStyle/>
          <a:p>
            <a:pPr algn="ctr">
              <a:lnSpc>
                <a:spcPts val="4140"/>
              </a:lnSpc>
              <a:spcAft>
                <a:spcPts val="0"/>
              </a:spcAft>
              <a:defRPr sz="3600" b="1">
                <a:solidFill>
                  <a:srgbClr val="C0392B"/>
                </a:solidFill>
                <a:latin typeface="Arial"/>
              </a:defRPr>
            </a:pPr>
            <a:r>
              <a:t>60%</a:t>
            </a:r>
          </a:p>
        </p:txBody>
      </p:sp>
      <p:sp>
        <p:nvSpPr>
          <p:cNvPr id="5" name="TextBox 4"/>
          <p:cNvSpPr txBox="1"/>
          <p:nvPr/>
        </p:nvSpPr>
        <p:spPr>
          <a:xfrm>
            <a:off x="54864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GCC Hiring From</a:t>
            </a:r>
            <a:br/>
            <a:r>
              <a:t>Other GCCs</a:t>
            </a:r>
          </a:p>
        </p:txBody>
      </p:sp>
      <p:sp>
        <p:nvSpPr>
          <p:cNvPr id="6" name="TextBox 5"/>
          <p:cNvSpPr txBox="1"/>
          <p:nvPr/>
        </p:nvSpPr>
        <p:spPr>
          <a:xfrm>
            <a:off x="3383280" y="1188720"/>
            <a:ext cx="2011680" cy="640080"/>
          </a:xfrm>
          <a:prstGeom prst="rect">
            <a:avLst/>
          </a:prstGeom>
          <a:noFill/>
        </p:spPr>
        <p:txBody>
          <a:bodyPr wrap="square">
            <a:spAutoFit/>
          </a:bodyPr>
          <a:lstStyle/>
          <a:p>
            <a:pPr algn="ctr">
              <a:lnSpc>
                <a:spcPts val="4140"/>
              </a:lnSpc>
              <a:spcAft>
                <a:spcPts val="0"/>
              </a:spcAft>
              <a:defRPr sz="3600" b="1">
                <a:solidFill>
                  <a:srgbClr val="C0392B"/>
                </a:solidFill>
                <a:latin typeface="Arial"/>
              </a:defRPr>
            </a:pPr>
            <a:r>
              <a:t>49%</a:t>
            </a:r>
          </a:p>
        </p:txBody>
      </p:sp>
      <p:sp>
        <p:nvSpPr>
          <p:cNvPr id="7" name="TextBox 6"/>
          <p:cNvSpPr txBox="1"/>
          <p:nvPr/>
        </p:nvSpPr>
        <p:spPr>
          <a:xfrm>
            <a:off x="338328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AI/ML Demand</a:t>
            </a:r>
            <a:br/>
            <a:r>
              <a:t>Met by Supply</a:t>
            </a:r>
          </a:p>
        </p:txBody>
      </p:sp>
      <p:sp>
        <p:nvSpPr>
          <p:cNvPr id="8" name="TextBox 7"/>
          <p:cNvSpPr txBox="1"/>
          <p:nvPr/>
        </p:nvSpPr>
        <p:spPr>
          <a:xfrm>
            <a:off x="6217920" y="1188720"/>
            <a:ext cx="2011680" cy="640080"/>
          </a:xfrm>
          <a:prstGeom prst="rect">
            <a:avLst/>
          </a:prstGeom>
          <a:noFill/>
        </p:spPr>
        <p:txBody>
          <a:bodyPr wrap="square">
            <a:spAutoFit/>
          </a:bodyPr>
          <a:lstStyle/>
          <a:p>
            <a:pPr algn="ctr">
              <a:lnSpc>
                <a:spcPts val="4140"/>
              </a:lnSpc>
              <a:spcAft>
                <a:spcPts val="0"/>
              </a:spcAft>
              <a:defRPr sz="3600" b="1">
                <a:solidFill>
                  <a:srgbClr val="C0392B"/>
                </a:solidFill>
                <a:latin typeface="Arial"/>
              </a:defRPr>
            </a:pPr>
            <a:r>
              <a:t>75%</a:t>
            </a:r>
          </a:p>
        </p:txBody>
      </p:sp>
      <p:sp>
        <p:nvSpPr>
          <p:cNvPr id="9" name="TextBox 8"/>
          <p:cNvSpPr txBox="1"/>
          <p:nvPr/>
        </p:nvSpPr>
        <p:spPr>
          <a:xfrm>
            <a:off x="621792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Gen Z Plan to Leave</a:t>
            </a:r>
            <a:br/>
            <a:r>
              <a:t>Within 2 Years</a:t>
            </a:r>
          </a:p>
        </p:txBody>
      </p:sp>
      <p:sp>
        <p:nvSpPr>
          <p:cNvPr id="10" name="TextBox 9"/>
          <p:cNvSpPr txBox="1"/>
          <p:nvPr/>
        </p:nvSpPr>
        <p:spPr>
          <a:xfrm>
            <a:off x="9052560" y="1188720"/>
            <a:ext cx="2011680" cy="640080"/>
          </a:xfrm>
          <a:prstGeom prst="rect">
            <a:avLst/>
          </a:prstGeom>
          <a:noFill/>
        </p:spPr>
        <p:txBody>
          <a:bodyPr wrap="square">
            <a:spAutoFit/>
          </a:bodyPr>
          <a:lstStyle/>
          <a:p>
            <a:pPr algn="ctr">
              <a:lnSpc>
                <a:spcPts val="4140"/>
              </a:lnSpc>
              <a:spcAft>
                <a:spcPts val="0"/>
              </a:spcAft>
              <a:defRPr sz="3600" b="1">
                <a:solidFill>
                  <a:srgbClr val="C0392B"/>
                </a:solidFill>
                <a:latin typeface="Arial"/>
              </a:defRPr>
            </a:pPr>
            <a:r>
              <a:t>10.4%</a:t>
            </a:r>
          </a:p>
        </p:txBody>
      </p:sp>
      <p:sp>
        <p:nvSpPr>
          <p:cNvPr id="11" name="TextBox 10"/>
          <p:cNvSpPr txBox="1"/>
          <p:nvPr/>
        </p:nvSpPr>
        <p:spPr>
          <a:xfrm>
            <a:off x="9052560" y="173736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Projected Salary</a:t>
            </a:r>
            <a:br/>
            <a:r>
              <a:t>Increment 2026</a:t>
            </a:r>
          </a:p>
        </p:txBody>
      </p:sp>
      <p:sp>
        <p:nvSpPr>
          <p:cNvPr id="12" name="Rectangle 11"/>
          <p:cNvSpPr/>
          <p:nvPr/>
        </p:nvSpPr>
        <p:spPr>
          <a:xfrm>
            <a:off x="548640" y="274320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THE CIRCULAR HIRING TRAP</a:t>
            </a:r>
          </a:p>
        </p:txBody>
      </p:sp>
      <p:sp>
        <p:nvSpPr>
          <p:cNvPr id="13" name="TextBox 12"/>
          <p:cNvSpPr txBox="1"/>
          <p:nvPr/>
        </p:nvSpPr>
        <p:spPr>
          <a:xfrm>
            <a:off x="731520" y="3154680"/>
            <a:ext cx="6858000" cy="2286000"/>
          </a:xfrm>
          <a:prstGeom prst="rect">
            <a:avLst/>
          </a:prstGeom>
          <a:noFill/>
        </p:spPr>
        <p:txBody>
          <a:bodyPr wrap="square">
            <a:spAutoFit/>
          </a:bodyPr>
          <a:lstStyle/>
          <a:p>
            <a:pPr>
              <a:lnSpc>
                <a:spcPts val="1400"/>
              </a:lnSpc>
              <a:spcAft>
                <a:spcPts val="300"/>
              </a:spcAft>
              <a:defRPr sz="1000">
                <a:solidFill>
                  <a:srgbClr val="1A1A1A"/>
                </a:solidFill>
                <a:latin typeface="Arial"/>
              </a:defRPr>
            </a:pPr>
            <a:r>
              <a:t>• 60% of GCC hiring comes from other GCCs — circular competition, not talent creation</a:t>
            </a:r>
          </a:p>
          <a:p>
            <a:pPr>
              <a:lnSpc>
                <a:spcPts val="1400"/>
              </a:lnSpc>
              <a:spcAft>
                <a:spcPts val="300"/>
              </a:spcAft>
              <a:defRPr sz="1000">
                <a:solidFill>
                  <a:srgbClr val="1A1A1A"/>
                </a:solidFill>
                <a:latin typeface="Arial"/>
              </a:defRPr>
            </a:pPr>
            <a:r>
              <a:t>• AI/ML supply meets only 49% of demand; 1M+ shortage by 2027</a:t>
            </a:r>
          </a:p>
          <a:p>
            <a:pPr>
              <a:lnSpc>
                <a:spcPts val="1400"/>
              </a:lnSpc>
              <a:spcAft>
                <a:spcPts val="300"/>
              </a:spcAft>
              <a:defRPr sz="1000">
                <a:solidFill>
                  <a:srgbClr val="1A1A1A"/>
                </a:solidFill>
                <a:latin typeface="Arial"/>
              </a:defRPr>
            </a:pPr>
            <a:r>
              <a:t>• Cybersecurity: 80K experts vs 1M demand in India; 3.5M unfilled globally</a:t>
            </a:r>
          </a:p>
          <a:p>
            <a:pPr>
              <a:lnSpc>
                <a:spcPts val="1400"/>
              </a:lnSpc>
              <a:spcAft>
                <a:spcPts val="300"/>
              </a:spcAft>
              <a:defRPr sz="1000">
                <a:solidFill>
                  <a:srgbClr val="1A1A1A"/>
                </a:solidFill>
                <a:latin typeface="Arial"/>
              </a:defRPr>
            </a:pPr>
            <a:r>
              <a:t>• 75% of Indian Gen Z intend to leave within 2 years (Deloitte)</a:t>
            </a:r>
          </a:p>
          <a:p>
            <a:pPr>
              <a:lnSpc>
                <a:spcPts val="1400"/>
              </a:lnSpc>
              <a:spcAft>
                <a:spcPts val="300"/>
              </a:spcAft>
              <a:defRPr sz="1000">
                <a:solidFill>
                  <a:srgbClr val="1A1A1A"/>
                </a:solidFill>
                <a:latin typeface="Arial"/>
              </a:defRPr>
            </a:pPr>
            <a:r>
              <a:t>• 9.9% salary increment 2025, rising to 10.4% in 2026 — leading all sectors</a:t>
            </a:r>
          </a:p>
          <a:p>
            <a:pPr>
              <a:lnSpc>
                <a:spcPts val="1400"/>
              </a:lnSpc>
              <a:spcAft>
                <a:spcPts val="300"/>
              </a:spcAft>
              <a:defRPr sz="1000">
                <a:solidFill>
                  <a:srgbClr val="1A1A1A"/>
                </a:solidFill>
                <a:latin typeface="Arial"/>
              </a:defRPr>
            </a:pPr>
            <a:r>
              <a:t>• ~40% of 2025 hiring is replacement hiring — not growth</a:t>
            </a:r>
          </a:p>
          <a:p>
            <a:pPr>
              <a:lnSpc>
                <a:spcPts val="1400"/>
              </a:lnSpc>
              <a:spcAft>
                <a:spcPts val="300"/>
              </a:spcAft>
              <a:defRPr sz="1000">
                <a:solidFill>
                  <a:srgbClr val="1A1A1A"/>
                </a:solidFill>
                <a:latin typeface="Arial"/>
              </a:defRPr>
            </a:pPr>
            <a:r>
              <a:t>• Time-to-hire: 45-60 days average; 75-90 days for AI/ML and cybersecurity roles</a:t>
            </a:r>
          </a:p>
        </p:txBody>
      </p:sp>
      <p:sp>
        <p:nvSpPr>
          <p:cNvPr id="14" name="Rectangle 13"/>
          <p:cNvSpPr/>
          <p:nvPr/>
        </p:nvSpPr>
        <p:spPr>
          <a:xfrm>
            <a:off x="8046720" y="3154680"/>
            <a:ext cx="3566160" cy="1371600"/>
          </a:xfrm>
          <a:prstGeom prst="rect">
            <a:avLst/>
          </a:prstGeom>
          <a:solidFill>
            <a:srgbClr val="FDEDED"/>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C0392B"/>
                </a:solidFill>
                <a:latin typeface="Arial"/>
              </a:defRPr>
            </a:pPr>
            <a:r>
              <a:t>ANNUAL COST OF ATTRITION</a:t>
            </a:r>
          </a:p>
          <a:p>
            <a:pPr>
              <a:spcBef>
                <a:spcPts val="400"/>
              </a:spcBef>
              <a:defRPr sz="900">
                <a:solidFill>
                  <a:srgbClr val="1A1A1A"/>
                </a:solidFill>
                <a:latin typeface="Arial"/>
              </a:defRPr>
            </a:pPr>
            <a:r>
              <a:t>15% attrition on 1,000 FTE at $15-20K replacement cost per head = $2.25-3M annually. This is a tax on growth that compounds.</a:t>
            </a:r>
          </a:p>
        </p:txBody>
      </p:sp>
      <p:sp>
        <p:nvSpPr>
          <p:cNvPr id="15" name="Rectangle 14"/>
          <p:cNvSpPr/>
          <p:nvPr/>
        </p:nvSpPr>
        <p:spPr>
          <a:xfrm>
            <a:off x="8046720" y="4663440"/>
            <a:ext cx="3566160" cy="9144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SKILLS GAP: HARDEST TO HIRE</a:t>
            </a:r>
          </a:p>
          <a:p>
            <a:pPr>
              <a:spcBef>
                <a:spcPts val="400"/>
              </a:spcBef>
              <a:defRPr sz="900">
                <a:solidFill>
                  <a:srgbClr val="1A1A1A"/>
                </a:solidFill>
                <a:latin typeface="Arial"/>
              </a:defRPr>
            </a:pPr>
            <a:r>
              <a:t>AI/ML (49% supply) | Cybersecurity (80K vs 1M) | GenAI/LLMOps (10-40% premium) | Quant/Risk Modelling</a:t>
            </a:r>
          </a:p>
        </p:txBody>
      </p:sp>
      <p:sp>
        <p:nvSpPr>
          <p:cNvPr id="16" name="Rectangle 15"/>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At 10%+ salary inflation and 60% circular hiring, only a differentiated EVP breaks the cycle</a:t>
            </a:r>
          </a:p>
        </p:txBody>
      </p:sp>
      <p:sp>
        <p:nvSpPr>
          <p:cNvPr id="17" name="TextBox 16"/>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15</a:t>
            </a:r>
          </a:p>
        </p:txBody>
      </p:sp>
      <p:sp>
        <p:nvSpPr>
          <p:cNvPr id="18" name="TextBox 17"/>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Zinnov SIAH 2025, Deloitte, Aon, SPAG FINN Partners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EVP FRAMEWORK</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Five EVP Pillars Calibrated for Financial Services Talent</a:t>
            </a:r>
          </a:p>
        </p:txBody>
      </p:sp>
      <p:sp>
        <p:nvSpPr>
          <p:cNvPr id="4" name="Oval 3"/>
          <p:cNvSpPr/>
          <p:nvPr/>
        </p:nvSpPr>
        <p:spPr>
          <a:xfrm>
            <a:off x="1325880" y="1188720"/>
            <a:ext cx="457200" cy="45720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1</a:t>
            </a:r>
          </a:p>
        </p:txBody>
      </p:sp>
      <p:sp>
        <p:nvSpPr>
          <p:cNvPr id="5" name="Rectangle 4"/>
          <p:cNvSpPr/>
          <p:nvPr/>
        </p:nvSpPr>
        <p:spPr>
          <a:xfrm>
            <a:off x="548640" y="1737360"/>
            <a:ext cx="2103120" cy="210312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COMPENSATION</a:t>
            </a:r>
            <a:br/>
            <a:r>
              <a:t>&amp; BENEFITS</a:t>
            </a:r>
          </a:p>
          <a:p>
            <a:pPr>
              <a:spcBef>
                <a:spcPts val="400"/>
              </a:spcBef>
              <a:defRPr sz="900">
                <a:solidFill>
                  <a:srgbClr val="1A1A1A"/>
                </a:solidFill>
                <a:latin typeface="Arial"/>
              </a:defRPr>
            </a:pPr>
            <a:r>
              <a:t>ESOPs/RSUs (71% of GCCs)</a:t>
            </a:r>
            <a:br/>
            <a:r>
              <a:t>Variable pay 16.1%</a:t>
            </a:r>
            <a:br/>
            <a:r>
              <a:t>Long-term incentives</a:t>
            </a:r>
            <a:br/>
            <a:r>
              <a:t>15-22% premium over IT</a:t>
            </a:r>
          </a:p>
        </p:txBody>
      </p:sp>
      <p:sp>
        <p:nvSpPr>
          <p:cNvPr id="6" name="Oval 5"/>
          <p:cNvSpPr/>
          <p:nvPr/>
        </p:nvSpPr>
        <p:spPr>
          <a:xfrm>
            <a:off x="3611880" y="1188720"/>
            <a:ext cx="457200" cy="45720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2</a:t>
            </a:r>
          </a:p>
        </p:txBody>
      </p:sp>
      <p:sp>
        <p:nvSpPr>
          <p:cNvPr id="7" name="Rectangle 6"/>
          <p:cNvSpPr/>
          <p:nvPr/>
        </p:nvSpPr>
        <p:spPr>
          <a:xfrm>
            <a:off x="2834640" y="1737360"/>
            <a:ext cx="2103120" cy="210312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CAREER</a:t>
            </a:r>
            <a:br/>
            <a:r>
              <a:t>DEVELOPMENT</a:t>
            </a:r>
          </a:p>
          <a:p>
            <a:pPr>
              <a:spcBef>
                <a:spcPts val="400"/>
              </a:spcBef>
              <a:defRPr sz="900">
                <a:solidFill>
                  <a:srgbClr val="1A1A1A"/>
                </a:solidFill>
                <a:latin typeface="Arial"/>
              </a:defRPr>
            </a:pPr>
            <a:r>
              <a:t>London/NYC/Singapore</a:t>
            </a:r>
            <a:br/>
            <a:r>
              <a:t>rotations</a:t>
            </a:r>
            <a:br/>
            <a:r>
              <a:t>AI academies</a:t>
            </a:r>
            <a:br/>
            <a:r>
              <a:t>Up to INR 2-3L budgets</a:t>
            </a:r>
          </a:p>
        </p:txBody>
      </p:sp>
      <p:sp>
        <p:nvSpPr>
          <p:cNvPr id="8" name="Oval 7"/>
          <p:cNvSpPr/>
          <p:nvPr/>
        </p:nvSpPr>
        <p:spPr>
          <a:xfrm>
            <a:off x="5897879" y="1188720"/>
            <a:ext cx="457200" cy="45720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3</a:t>
            </a:r>
          </a:p>
        </p:txBody>
      </p:sp>
      <p:sp>
        <p:nvSpPr>
          <p:cNvPr id="9" name="Rectangle 8"/>
          <p:cNvSpPr/>
          <p:nvPr/>
        </p:nvSpPr>
        <p:spPr>
          <a:xfrm>
            <a:off x="5120640" y="1737360"/>
            <a:ext cx="2103120" cy="210312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WORK</a:t>
            </a:r>
            <a:br/>
            <a:r>
              <a:t>ENVIRONMENT</a:t>
            </a:r>
          </a:p>
          <a:p>
            <a:pPr>
              <a:spcBef>
                <a:spcPts val="400"/>
              </a:spcBef>
              <a:defRPr sz="900">
                <a:solidFill>
                  <a:srgbClr val="1A1A1A"/>
                </a:solidFill>
                <a:latin typeface="Arial"/>
              </a:defRPr>
            </a:pPr>
            <a:r>
              <a:t>Innovation culture (61%)</a:t>
            </a:r>
            <a:br/>
            <a:r>
              <a:t>Leadership access (65%)</a:t>
            </a:r>
            <a:br/>
            <a:r>
              <a:t>DEI commitment</a:t>
            </a:r>
            <a:br/>
            <a:r>
              <a:t>Psychological safety</a:t>
            </a:r>
          </a:p>
        </p:txBody>
      </p:sp>
      <p:sp>
        <p:nvSpPr>
          <p:cNvPr id="10" name="Oval 9"/>
          <p:cNvSpPr/>
          <p:nvPr/>
        </p:nvSpPr>
        <p:spPr>
          <a:xfrm>
            <a:off x="8183879" y="1188720"/>
            <a:ext cx="457200" cy="45720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4</a:t>
            </a:r>
          </a:p>
        </p:txBody>
      </p:sp>
      <p:sp>
        <p:nvSpPr>
          <p:cNvPr id="11" name="Rectangle 10"/>
          <p:cNvSpPr/>
          <p:nvPr/>
        </p:nvSpPr>
        <p:spPr>
          <a:xfrm>
            <a:off x="7406640" y="1737360"/>
            <a:ext cx="2103120" cy="210312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WORK-LIFE</a:t>
            </a:r>
            <a:br/>
            <a:r>
              <a:t>BALANCE</a:t>
            </a:r>
          </a:p>
          <a:p>
            <a:pPr>
              <a:spcBef>
                <a:spcPts val="400"/>
              </a:spcBef>
              <a:defRPr sz="900">
                <a:solidFill>
                  <a:srgbClr val="1A1A1A"/>
                </a:solidFill>
                <a:latin typeface="Arial"/>
              </a:defRPr>
            </a:pPr>
            <a:r>
              <a:t>Hybrid (95% of GCCs)</a:t>
            </a:r>
            <a:br/>
            <a:r>
              <a:t>Anchor days model</a:t>
            </a:r>
            <a:br/>
            <a:r>
              <a:t>Wellness programs</a:t>
            </a:r>
            <a:br/>
            <a:r>
              <a:t>Mental health support</a:t>
            </a:r>
          </a:p>
        </p:txBody>
      </p:sp>
      <p:sp>
        <p:nvSpPr>
          <p:cNvPr id="12" name="Oval 11"/>
          <p:cNvSpPr/>
          <p:nvPr/>
        </p:nvSpPr>
        <p:spPr>
          <a:xfrm>
            <a:off x="10469880" y="1188720"/>
            <a:ext cx="457200" cy="45720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5</a:t>
            </a:r>
          </a:p>
        </p:txBody>
      </p:sp>
      <p:sp>
        <p:nvSpPr>
          <p:cNvPr id="13" name="Rectangle 12"/>
          <p:cNvSpPr/>
          <p:nvPr/>
        </p:nvSpPr>
        <p:spPr>
          <a:xfrm>
            <a:off x="9692640" y="1737360"/>
            <a:ext cx="2103120" cy="210312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PURPOSE &amp;</a:t>
            </a:r>
            <a:br/>
            <a:r>
              <a:t>REPUTATION</a:t>
            </a:r>
          </a:p>
          <a:p>
            <a:pPr>
              <a:spcBef>
                <a:spcPts val="400"/>
              </a:spcBef>
              <a:defRPr sz="900">
                <a:solidFill>
                  <a:srgbClr val="1A1A1A"/>
                </a:solidFill>
                <a:latin typeface="Arial"/>
              </a:defRPr>
            </a:pPr>
            <a:r>
              <a:t>Financial inclusion</a:t>
            </a:r>
            <a:br/>
            <a:r>
              <a:t>ESG commitment</a:t>
            </a:r>
            <a:br/>
            <a:r>
              <a:t>Community impact</a:t>
            </a:r>
            <a:br/>
            <a:r>
              <a:t>Goldman: 220 projects/yr</a:t>
            </a:r>
          </a:p>
        </p:txBody>
      </p:sp>
      <p:sp>
        <p:nvSpPr>
          <p:cNvPr id="14" name="Rectangle 13"/>
          <p:cNvSpPr/>
          <p:nvPr/>
        </p:nvSpPr>
        <p:spPr>
          <a:xfrm>
            <a:off x="548640" y="402336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GARTNER 'HUMAN DEAL' FRAMEWORK</a:t>
            </a:r>
          </a:p>
        </p:txBody>
      </p:sp>
      <p:graphicFrame>
        <p:nvGraphicFramePr>
          <p:cNvPr id="15" name="Table 14"/>
          <p:cNvGraphicFramePr>
            <a:graphicFrameLocks noGrp="1"/>
          </p:cNvGraphicFramePr>
          <p:nvPr/>
        </p:nvGraphicFramePr>
        <p:xfrm>
          <a:off x="548640" y="4434840"/>
          <a:ext cx="11064240" cy="1463040"/>
        </p:xfrm>
        <a:graphic>
          <a:graphicData uri="http://schemas.openxmlformats.org/drawingml/2006/table">
            <a:tbl>
              <a:tblPr firstRow="1" bandRow="1">
                <a:tableStyleId>{5C22544A-7EE6-4342-B048-85BDC9FD1C3A}</a:tableStyleId>
              </a:tblPr>
              <a:tblGrid>
                <a:gridCol w="2286000"/>
                <a:gridCol w="2743200"/>
                <a:gridCol w="6035040"/>
              </a:tblGrid>
              <a:tr h="243840">
                <a:tc>
                  <a:txBody>
                    <a:bodyPr/>
                    <a:lstStyle/>
                    <a:p>
                      <a:pPr>
                        <a:defRPr sz="900" b="1">
                          <a:solidFill>
                            <a:srgbClr val="FFFFFF"/>
                          </a:solidFill>
                          <a:latin typeface="Arial"/>
                        </a:defRPr>
                      </a:pPr>
                      <a:r>
                        <a:t>Component</a:t>
                      </a:r>
                    </a:p>
                  </a:txBody>
                  <a:tcPr>
                    <a:solidFill>
                      <a:srgbClr val="2D2D2D"/>
                    </a:solidFill>
                  </a:tcPr>
                </a:tc>
                <a:tc>
                  <a:txBody>
                    <a:bodyPr/>
                    <a:lstStyle/>
                    <a:p>
                      <a:pPr>
                        <a:defRPr sz="900" b="1">
                          <a:solidFill>
                            <a:srgbClr val="FFFFFF"/>
                          </a:solidFill>
                          <a:latin typeface="Arial"/>
                        </a:defRPr>
                      </a:pPr>
                      <a:r>
                        <a:t>Description</a:t>
                      </a:r>
                    </a:p>
                  </a:txBody>
                  <a:tcPr>
                    <a:solidFill>
                      <a:srgbClr val="2D2D2D"/>
                    </a:solidFill>
                  </a:tcPr>
                </a:tc>
                <a:tc>
                  <a:txBody>
                    <a:bodyPr/>
                    <a:lstStyle/>
                    <a:p>
                      <a:pPr>
                        <a:defRPr sz="900" b="1">
                          <a:solidFill>
                            <a:srgbClr val="FFFFFF"/>
                          </a:solidFill>
                          <a:latin typeface="Arial"/>
                        </a:defRPr>
                      </a:pPr>
                      <a:r>
                        <a:t>GCC Application</a:t>
                      </a:r>
                    </a:p>
                  </a:txBody>
                  <a:tcPr>
                    <a:solidFill>
                      <a:srgbClr val="2D2D2D"/>
                    </a:solidFill>
                  </a:tcPr>
                </a:tc>
              </a:tr>
              <a:tr h="243840">
                <a:tc>
                  <a:txBody>
                    <a:bodyPr/>
                    <a:lstStyle/>
                    <a:p>
                      <a:pPr>
                        <a:defRPr sz="900">
                          <a:solidFill>
                            <a:srgbClr val="1A1A1A"/>
                          </a:solidFill>
                          <a:latin typeface="Arial"/>
                        </a:defRPr>
                      </a:pPr>
                      <a:r>
                        <a:t>Shared Purpose</a:t>
                      </a:r>
                    </a:p>
                  </a:txBody>
                  <a:tcPr>
                    <a:solidFill>
                      <a:srgbClr val="FFFFFF"/>
                    </a:solidFill>
                  </a:tcPr>
                </a:tc>
                <a:tc>
                  <a:txBody>
                    <a:bodyPr/>
                    <a:lstStyle/>
                    <a:p>
                      <a:pPr>
                        <a:defRPr sz="900">
                          <a:solidFill>
                            <a:srgbClr val="1A1A1A"/>
                          </a:solidFill>
                          <a:latin typeface="Arial"/>
                        </a:defRPr>
                      </a:pPr>
                      <a:r>
                        <a:t>Champion societal issues</a:t>
                      </a:r>
                    </a:p>
                  </a:txBody>
                  <a:tcPr>
                    <a:solidFill>
                      <a:srgbClr val="FFFFFF"/>
                    </a:solidFill>
                  </a:tcPr>
                </a:tc>
                <a:tc>
                  <a:txBody>
                    <a:bodyPr/>
                    <a:lstStyle/>
                    <a:p>
                      <a:pPr>
                        <a:defRPr sz="900">
                          <a:solidFill>
                            <a:srgbClr val="1A1A1A"/>
                          </a:solidFill>
                          <a:latin typeface="Arial"/>
                        </a:defRPr>
                      </a:pPr>
                      <a:r>
                        <a:t>Financial inclusion, ESG, community impact</a:t>
                      </a:r>
                    </a:p>
                  </a:txBody>
                  <a:tcPr>
                    <a:solidFill>
                      <a:srgbClr val="FFFFFF"/>
                    </a:solidFill>
                  </a:tcPr>
                </a:tc>
              </a:tr>
              <a:tr h="243840">
                <a:tc>
                  <a:txBody>
                    <a:bodyPr/>
                    <a:lstStyle/>
                    <a:p>
                      <a:pPr>
                        <a:defRPr sz="900">
                          <a:solidFill>
                            <a:srgbClr val="1A1A1A"/>
                          </a:solidFill>
                          <a:latin typeface="Arial"/>
                        </a:defRPr>
                      </a:pPr>
                      <a:r>
                        <a:t>Deeper Connections</a:t>
                      </a:r>
                    </a:p>
                  </a:txBody>
                  <a:tcPr>
                    <a:solidFill>
                      <a:srgbClr val="F2F2F2"/>
                    </a:solidFill>
                  </a:tcPr>
                </a:tc>
                <a:tc>
                  <a:txBody>
                    <a:bodyPr/>
                    <a:lstStyle/>
                    <a:p>
                      <a:pPr>
                        <a:defRPr sz="900">
                          <a:solidFill>
                            <a:srgbClr val="1A1A1A"/>
                          </a:solidFill>
                          <a:latin typeface="Arial"/>
                        </a:defRPr>
                      </a:pPr>
                      <a:r>
                        <a:t>Community bonds</a:t>
                      </a:r>
                    </a:p>
                  </a:txBody>
                  <a:tcPr>
                    <a:solidFill>
                      <a:srgbClr val="F2F2F2"/>
                    </a:solidFill>
                  </a:tcPr>
                </a:tc>
                <a:tc>
                  <a:txBody>
                    <a:bodyPr/>
                    <a:lstStyle/>
                    <a:p>
                      <a:pPr>
                        <a:defRPr sz="900">
                          <a:solidFill>
                            <a:srgbClr val="1A1A1A"/>
                          </a:solidFill>
                          <a:latin typeface="Arial"/>
                        </a:defRPr>
                      </a:pPr>
                      <a:r>
                        <a:t>Volunteering, team events, cross-geo programs</a:t>
                      </a:r>
                    </a:p>
                  </a:txBody>
                  <a:tcPr>
                    <a:solidFill>
                      <a:srgbClr val="F2F2F2"/>
                    </a:solidFill>
                  </a:tcPr>
                </a:tc>
              </a:tr>
              <a:tr h="243840">
                <a:tc>
                  <a:txBody>
                    <a:bodyPr/>
                    <a:lstStyle/>
                    <a:p>
                      <a:pPr>
                        <a:defRPr sz="900">
                          <a:solidFill>
                            <a:srgbClr val="1A1A1A"/>
                          </a:solidFill>
                          <a:latin typeface="Arial"/>
                        </a:defRPr>
                      </a:pPr>
                      <a:r>
                        <a:t>Holistic Well-Being</a:t>
                      </a:r>
                    </a:p>
                  </a:txBody>
                  <a:tcPr>
                    <a:solidFill>
                      <a:srgbClr val="FFFFFF"/>
                    </a:solidFill>
                  </a:tcPr>
                </a:tc>
                <a:tc>
                  <a:txBody>
                    <a:bodyPr/>
                    <a:lstStyle/>
                    <a:p>
                      <a:pPr>
                        <a:defRPr sz="900">
                          <a:solidFill>
                            <a:srgbClr val="1A1A1A"/>
                          </a:solidFill>
                          <a:latin typeface="Arial"/>
                        </a:defRPr>
                      </a:pPr>
                      <a:r>
                        <a:t>Comprehensive wellness</a:t>
                      </a:r>
                    </a:p>
                  </a:txBody>
                  <a:tcPr>
                    <a:solidFill>
                      <a:srgbClr val="FFFFFF"/>
                    </a:solidFill>
                  </a:tcPr>
                </a:tc>
                <a:tc>
                  <a:txBody>
                    <a:bodyPr/>
                    <a:lstStyle/>
                    <a:p>
                      <a:pPr>
                        <a:defRPr sz="900">
                          <a:solidFill>
                            <a:srgbClr val="1A1A1A"/>
                          </a:solidFill>
                          <a:latin typeface="Arial"/>
                        </a:defRPr>
                      </a:pPr>
                      <a:r>
                        <a:t>Mental health, wellness zones, ergonomics</a:t>
                      </a:r>
                    </a:p>
                  </a:txBody>
                  <a:tcPr>
                    <a:solidFill>
                      <a:srgbClr val="FFFFFF"/>
                    </a:solidFill>
                  </a:tcPr>
                </a:tc>
              </a:tr>
              <a:tr h="243840">
                <a:tc>
                  <a:txBody>
                    <a:bodyPr/>
                    <a:lstStyle/>
                    <a:p>
                      <a:pPr>
                        <a:defRPr sz="900">
                          <a:solidFill>
                            <a:srgbClr val="1A1A1A"/>
                          </a:solidFill>
                          <a:latin typeface="Arial"/>
                        </a:defRPr>
                      </a:pPr>
                      <a:r>
                        <a:t>Radical Flexibility</a:t>
                      </a:r>
                    </a:p>
                  </a:txBody>
                  <a:tcPr>
                    <a:solidFill>
                      <a:srgbClr val="F2F2F2"/>
                    </a:solidFill>
                  </a:tcPr>
                </a:tc>
                <a:tc>
                  <a:txBody>
                    <a:bodyPr/>
                    <a:lstStyle/>
                    <a:p>
                      <a:pPr>
                        <a:defRPr sz="900">
                          <a:solidFill>
                            <a:srgbClr val="1A1A1A"/>
                          </a:solidFill>
                          <a:latin typeface="Arial"/>
                        </a:defRPr>
                      </a:pPr>
                      <a:r>
                        <a:t>Team-set boundaries</a:t>
                      </a:r>
                    </a:p>
                  </a:txBody>
                  <a:tcPr>
                    <a:solidFill>
                      <a:srgbClr val="F2F2F2"/>
                    </a:solidFill>
                  </a:tcPr>
                </a:tc>
                <a:tc>
                  <a:txBody>
                    <a:bodyPr/>
                    <a:lstStyle/>
                    <a:p>
                      <a:pPr>
                        <a:defRPr sz="900">
                          <a:solidFill>
                            <a:srgbClr val="1A1A1A"/>
                          </a:solidFill>
                          <a:latin typeface="Arial"/>
                        </a:defRPr>
                      </a:pPr>
                      <a:r>
                        <a:t>Hybrid 2.0, anchor days, remote-first</a:t>
                      </a:r>
                    </a:p>
                  </a:txBody>
                  <a:tcPr>
                    <a:solidFill>
                      <a:srgbClr val="F2F2F2"/>
                    </a:solidFill>
                  </a:tcPr>
                </a:tc>
              </a:tr>
              <a:tr h="243840">
                <a:tc>
                  <a:txBody>
                    <a:bodyPr/>
                    <a:lstStyle/>
                    <a:p>
                      <a:pPr>
                        <a:defRPr sz="900">
                          <a:solidFill>
                            <a:srgbClr val="1A1A1A"/>
                          </a:solidFill>
                          <a:latin typeface="Arial"/>
                        </a:defRPr>
                      </a:pPr>
                      <a:r>
                        <a:t>Personal Growth</a:t>
                      </a:r>
                    </a:p>
                  </a:txBody>
                  <a:tcPr>
                    <a:solidFill>
                      <a:srgbClr val="FFFFFF"/>
                    </a:solidFill>
                  </a:tcPr>
                </a:tc>
                <a:tc>
                  <a:txBody>
                    <a:bodyPr/>
                    <a:lstStyle/>
                    <a:p>
                      <a:pPr>
                        <a:defRPr sz="900">
                          <a:solidFill>
                            <a:srgbClr val="1A1A1A"/>
                          </a:solidFill>
                          <a:latin typeface="Arial"/>
                        </a:defRPr>
                      </a:pPr>
                      <a:r>
                        <a:t>Personalized development</a:t>
                      </a:r>
                    </a:p>
                  </a:txBody>
                  <a:tcPr>
                    <a:solidFill>
                      <a:srgbClr val="FFFFFF"/>
                    </a:solidFill>
                  </a:tcPr>
                </a:tc>
                <a:tc>
                  <a:txBody>
                    <a:bodyPr/>
                    <a:lstStyle/>
                    <a:p>
                      <a:pPr>
                        <a:defRPr sz="900">
                          <a:solidFill>
                            <a:srgbClr val="1A1A1A"/>
                          </a:solidFill>
                          <a:latin typeface="Arial"/>
                        </a:defRPr>
                      </a:pPr>
                      <a:r>
                        <a:t>Global rotations, certifications, AI academies</a:t>
                      </a:r>
                    </a:p>
                  </a:txBody>
                  <a:tcPr>
                    <a:solidFill>
                      <a:srgbClr val="FFFFFF"/>
                    </a:solidFill>
                  </a:tcPr>
                </a:tc>
              </a:tr>
            </a:tbl>
          </a:graphicData>
        </a:graphic>
      </p:graphicFrame>
      <p:sp>
        <p:nvSpPr>
          <p:cNvPr id="16" name="Rectangle 15"/>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A BFSI EVP must answer — will this GCC accelerate my career as fast as Goldman or JP Morgan would?</a:t>
            </a:r>
          </a:p>
        </p:txBody>
      </p:sp>
      <p:sp>
        <p:nvSpPr>
          <p:cNvPr id="17" name="TextBox 16"/>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16</a:t>
            </a:r>
          </a:p>
        </p:txBody>
      </p:sp>
      <p:sp>
        <p:nvSpPr>
          <p:cNvPr id="18" name="TextBox 17"/>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Gartner, AIHR, EY, ANSR, Zinnov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EMPLOYER BRANDING</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Only 25-30% of GCCs Invest in Branding: The First-Mover Arbitrage</a:t>
            </a:r>
          </a:p>
        </p:txBody>
      </p:sp>
      <p:sp>
        <p:nvSpPr>
          <p:cNvPr id="4" name="Chevron 3"/>
          <p:cNvSpPr/>
          <p:nvPr/>
        </p:nvSpPr>
        <p:spPr>
          <a:xfrm>
            <a:off x="548640" y="1188720"/>
            <a:ext cx="3642360" cy="594360"/>
          </a:xfrm>
          <a:prstGeom prst="chevron">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25400"/>
          <a:lstStyle/>
          <a:p>
            <a:pPr algn="ctr">
              <a:defRPr sz="900" b="1">
                <a:solidFill>
                  <a:srgbClr val="FFFFFF"/>
                </a:solidFill>
                <a:latin typeface="Arial"/>
              </a:defRPr>
            </a:pPr>
            <a:r>
              <a:t>PHASE 1</a:t>
            </a:r>
            <a:br/>
            <a:r>
              <a:t>Months 1-3</a:t>
            </a:r>
          </a:p>
        </p:txBody>
      </p:sp>
      <p:sp>
        <p:nvSpPr>
          <p:cNvPr id="5" name="Chevron 4"/>
          <p:cNvSpPr/>
          <p:nvPr/>
        </p:nvSpPr>
        <p:spPr>
          <a:xfrm>
            <a:off x="4236720" y="1188720"/>
            <a:ext cx="3642360" cy="594360"/>
          </a:xfrm>
          <a:prstGeom prst="chevron">
            <a:avLst/>
          </a:prstGeom>
          <a:solidFill>
            <a:srgbClr val="D9571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25400"/>
          <a:lstStyle/>
          <a:p>
            <a:pPr algn="ctr">
              <a:defRPr sz="900" b="1">
                <a:solidFill>
                  <a:srgbClr val="FFFFFF"/>
                </a:solidFill>
                <a:latin typeface="Arial"/>
              </a:defRPr>
            </a:pPr>
            <a:r>
              <a:t>PHASE 2</a:t>
            </a:r>
            <a:br/>
            <a:r>
              <a:t>Months 4-9</a:t>
            </a:r>
          </a:p>
        </p:txBody>
      </p:sp>
      <p:sp>
        <p:nvSpPr>
          <p:cNvPr id="6" name="Chevron 5"/>
          <p:cNvSpPr/>
          <p:nvPr/>
        </p:nvSpPr>
        <p:spPr>
          <a:xfrm>
            <a:off x="7924799" y="1188720"/>
            <a:ext cx="3642360" cy="594360"/>
          </a:xfrm>
          <a:prstGeom prst="chevron">
            <a:avLst/>
          </a:prstGeom>
          <a:solidFill>
            <a:srgbClr val="CA6118"/>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25400"/>
          <a:lstStyle/>
          <a:p>
            <a:pPr algn="ctr">
              <a:defRPr sz="900" b="1">
                <a:solidFill>
                  <a:srgbClr val="FFFFFF"/>
                </a:solidFill>
                <a:latin typeface="Arial"/>
              </a:defRPr>
            </a:pPr>
            <a:r>
              <a:t>PHASE 3</a:t>
            </a:r>
            <a:br/>
            <a:r>
              <a:t>Months 10-18</a:t>
            </a:r>
          </a:p>
        </p:txBody>
      </p:sp>
      <p:sp>
        <p:nvSpPr>
          <p:cNvPr id="7" name="TextBox 6"/>
          <p:cNvSpPr txBox="1"/>
          <p:nvPr/>
        </p:nvSpPr>
        <p:spPr>
          <a:xfrm>
            <a:off x="548640" y="1828800"/>
            <a:ext cx="3596640" cy="548640"/>
          </a:xfrm>
          <a:prstGeom prst="rect">
            <a:avLst/>
          </a:prstGeom>
          <a:noFill/>
        </p:spPr>
        <p:txBody>
          <a:bodyPr wrap="square">
            <a:spAutoFit/>
          </a:bodyPr>
          <a:lstStyle/>
          <a:p>
            <a:pPr algn="ctr">
              <a:lnSpc>
                <a:spcPts val="919"/>
              </a:lnSpc>
              <a:spcAft>
                <a:spcPts val="0"/>
              </a:spcAft>
              <a:defRPr sz="800" b="0">
                <a:solidFill>
                  <a:srgbClr val="666666"/>
                </a:solidFill>
                <a:latin typeface="Arial"/>
              </a:defRPr>
            </a:pPr>
            <a:r>
              <a:t>Fix Glassdoor/AmbitionBox</a:t>
            </a:r>
            <a:br/>
            <a:r>
              <a:t>Launch employee advocacy</a:t>
            </a:r>
            <a:br/>
            <a:r>
              <a:t>8x engagement boost</a:t>
            </a:r>
          </a:p>
        </p:txBody>
      </p:sp>
      <p:sp>
        <p:nvSpPr>
          <p:cNvPr id="8" name="TextBox 7"/>
          <p:cNvSpPr txBox="1"/>
          <p:nvPr/>
        </p:nvSpPr>
        <p:spPr>
          <a:xfrm>
            <a:off x="4236720" y="1828800"/>
            <a:ext cx="3596640" cy="548640"/>
          </a:xfrm>
          <a:prstGeom prst="rect">
            <a:avLst/>
          </a:prstGeom>
          <a:noFill/>
        </p:spPr>
        <p:txBody>
          <a:bodyPr wrap="square">
            <a:spAutoFit/>
          </a:bodyPr>
          <a:lstStyle/>
          <a:p>
            <a:pPr algn="ctr">
              <a:lnSpc>
                <a:spcPts val="919"/>
              </a:lnSpc>
              <a:spcAft>
                <a:spcPts val="0"/>
              </a:spcAft>
              <a:defRPr sz="800" b="0">
                <a:solidFill>
                  <a:srgbClr val="666666"/>
                </a:solidFill>
                <a:latin typeface="Arial"/>
              </a:defRPr>
            </a:pPr>
            <a:r>
              <a:t>Campus partnerships (IITs)</a:t>
            </a:r>
            <a:br/>
            <a:r>
              <a:t>LinkedIn thought leadership</a:t>
            </a:r>
            <a:br/>
            <a:r>
              <a:t>Developer community</a:t>
            </a:r>
          </a:p>
        </p:txBody>
      </p:sp>
      <p:sp>
        <p:nvSpPr>
          <p:cNvPr id="9" name="TextBox 8"/>
          <p:cNvSpPr txBox="1"/>
          <p:nvPr/>
        </p:nvSpPr>
        <p:spPr>
          <a:xfrm>
            <a:off x="7924799" y="1828800"/>
            <a:ext cx="3596640" cy="548640"/>
          </a:xfrm>
          <a:prstGeom prst="rect">
            <a:avLst/>
          </a:prstGeom>
          <a:noFill/>
        </p:spPr>
        <p:txBody>
          <a:bodyPr wrap="square">
            <a:spAutoFit/>
          </a:bodyPr>
          <a:lstStyle/>
          <a:p>
            <a:pPr algn="ctr">
              <a:lnSpc>
                <a:spcPts val="919"/>
              </a:lnSpc>
              <a:spcAft>
                <a:spcPts val="0"/>
              </a:spcAft>
              <a:defRPr sz="800" b="0">
                <a:solidFill>
                  <a:srgbClr val="666666"/>
                </a:solidFill>
                <a:latin typeface="Arial"/>
              </a:defRPr>
            </a:pPr>
            <a:r>
              <a:t>Great Place to Work cert</a:t>
            </a:r>
            <a:br/>
            <a:r>
              <a:t>Industry awards</a:t>
            </a:r>
            <a:br/>
            <a:r>
              <a:t>Brand measurement</a:t>
            </a:r>
          </a:p>
        </p:txBody>
      </p:sp>
      <p:sp>
        <p:nvSpPr>
          <p:cNvPr id="10" name="Rectangle 9"/>
          <p:cNvSpPr/>
          <p:nvPr/>
        </p:nvSpPr>
        <p:spPr>
          <a:xfrm>
            <a:off x="548640" y="274320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ROI OF EMPLOYER BRANDING</a:t>
            </a:r>
          </a:p>
        </p:txBody>
      </p:sp>
      <p:sp>
        <p:nvSpPr>
          <p:cNvPr id="11" name="TextBox 10"/>
          <p:cNvSpPr txBox="1"/>
          <p:nvPr/>
        </p:nvSpPr>
        <p:spPr>
          <a:xfrm>
            <a:off x="548640" y="3108960"/>
            <a:ext cx="2011680" cy="640080"/>
          </a:xfrm>
          <a:prstGeom prst="rect">
            <a:avLst/>
          </a:prstGeom>
          <a:noFill/>
        </p:spPr>
        <p:txBody>
          <a:bodyPr wrap="square">
            <a:spAutoFit/>
          </a:bodyPr>
          <a:lstStyle/>
          <a:p>
            <a:pPr algn="ctr">
              <a:lnSpc>
                <a:spcPts val="3450"/>
              </a:lnSpc>
              <a:spcAft>
                <a:spcPts val="0"/>
              </a:spcAft>
              <a:defRPr sz="3000" b="1">
                <a:solidFill>
                  <a:srgbClr val="27AE60"/>
                </a:solidFill>
                <a:latin typeface="Arial"/>
              </a:defRPr>
            </a:pPr>
            <a:r>
              <a:t>43%</a:t>
            </a:r>
          </a:p>
        </p:txBody>
      </p:sp>
      <p:sp>
        <p:nvSpPr>
          <p:cNvPr id="12" name="TextBox 11"/>
          <p:cNvSpPr txBox="1"/>
          <p:nvPr/>
        </p:nvSpPr>
        <p:spPr>
          <a:xfrm>
            <a:off x="548640" y="36576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Lower</a:t>
            </a:r>
            <a:br/>
            <a:r>
              <a:t>Cost-per-Hire</a:t>
            </a:r>
          </a:p>
        </p:txBody>
      </p:sp>
      <p:sp>
        <p:nvSpPr>
          <p:cNvPr id="13" name="TextBox 12"/>
          <p:cNvSpPr txBox="1"/>
          <p:nvPr/>
        </p:nvSpPr>
        <p:spPr>
          <a:xfrm>
            <a:off x="2834640" y="3108960"/>
            <a:ext cx="2011680" cy="640080"/>
          </a:xfrm>
          <a:prstGeom prst="rect">
            <a:avLst/>
          </a:prstGeom>
          <a:noFill/>
        </p:spPr>
        <p:txBody>
          <a:bodyPr wrap="square">
            <a:spAutoFit/>
          </a:bodyPr>
          <a:lstStyle/>
          <a:p>
            <a:pPr algn="ctr">
              <a:lnSpc>
                <a:spcPts val="3450"/>
              </a:lnSpc>
              <a:spcAft>
                <a:spcPts val="0"/>
              </a:spcAft>
              <a:defRPr sz="3000" b="1">
                <a:solidFill>
                  <a:srgbClr val="27AE60"/>
                </a:solidFill>
                <a:latin typeface="Arial"/>
              </a:defRPr>
            </a:pPr>
            <a:r>
              <a:t>28%</a:t>
            </a:r>
          </a:p>
        </p:txBody>
      </p:sp>
      <p:sp>
        <p:nvSpPr>
          <p:cNvPr id="14" name="TextBox 13"/>
          <p:cNvSpPr txBox="1"/>
          <p:nvPr/>
        </p:nvSpPr>
        <p:spPr>
          <a:xfrm>
            <a:off x="2834640" y="36576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Lower</a:t>
            </a:r>
            <a:br/>
            <a:r>
              <a:t>Turnover</a:t>
            </a:r>
          </a:p>
        </p:txBody>
      </p:sp>
      <p:sp>
        <p:nvSpPr>
          <p:cNvPr id="15" name="TextBox 14"/>
          <p:cNvSpPr txBox="1"/>
          <p:nvPr/>
        </p:nvSpPr>
        <p:spPr>
          <a:xfrm>
            <a:off x="5120640" y="3108960"/>
            <a:ext cx="2011680" cy="640080"/>
          </a:xfrm>
          <a:prstGeom prst="rect">
            <a:avLst/>
          </a:prstGeom>
          <a:noFill/>
        </p:spPr>
        <p:txBody>
          <a:bodyPr wrap="square">
            <a:spAutoFit/>
          </a:bodyPr>
          <a:lstStyle/>
          <a:p>
            <a:pPr algn="ctr">
              <a:lnSpc>
                <a:spcPts val="3450"/>
              </a:lnSpc>
              <a:spcAft>
                <a:spcPts val="0"/>
              </a:spcAft>
              <a:defRPr sz="3000" b="1">
                <a:solidFill>
                  <a:srgbClr val="27AE60"/>
                </a:solidFill>
                <a:latin typeface="Arial"/>
              </a:defRPr>
            </a:pPr>
            <a:r>
              <a:t>50%</a:t>
            </a:r>
          </a:p>
        </p:txBody>
      </p:sp>
      <p:sp>
        <p:nvSpPr>
          <p:cNvPr id="16" name="TextBox 15"/>
          <p:cNvSpPr txBox="1"/>
          <p:nvPr/>
        </p:nvSpPr>
        <p:spPr>
          <a:xfrm>
            <a:off x="5120640" y="36576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More Qualified</a:t>
            </a:r>
            <a:br/>
            <a:r>
              <a:t>Applicants</a:t>
            </a:r>
          </a:p>
        </p:txBody>
      </p:sp>
      <p:sp>
        <p:nvSpPr>
          <p:cNvPr id="17" name="TextBox 16"/>
          <p:cNvSpPr txBox="1"/>
          <p:nvPr/>
        </p:nvSpPr>
        <p:spPr>
          <a:xfrm>
            <a:off x="7406640" y="3108960"/>
            <a:ext cx="2011680" cy="640080"/>
          </a:xfrm>
          <a:prstGeom prst="rect">
            <a:avLst/>
          </a:prstGeom>
          <a:noFill/>
        </p:spPr>
        <p:txBody>
          <a:bodyPr wrap="square">
            <a:spAutoFit/>
          </a:bodyPr>
          <a:lstStyle/>
          <a:p>
            <a:pPr algn="ctr">
              <a:lnSpc>
                <a:spcPts val="3450"/>
              </a:lnSpc>
              <a:spcAft>
                <a:spcPts val="0"/>
              </a:spcAft>
              <a:defRPr sz="3000" b="1">
                <a:solidFill>
                  <a:srgbClr val="27AE60"/>
                </a:solidFill>
                <a:latin typeface="Arial"/>
              </a:defRPr>
            </a:pPr>
            <a:r>
              <a:t>40%</a:t>
            </a:r>
          </a:p>
        </p:txBody>
      </p:sp>
      <p:sp>
        <p:nvSpPr>
          <p:cNvPr id="18" name="TextBox 17"/>
          <p:cNvSpPr txBox="1"/>
          <p:nvPr/>
        </p:nvSpPr>
        <p:spPr>
          <a:xfrm>
            <a:off x="7406640" y="36576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Faster</a:t>
            </a:r>
            <a:br/>
            <a:r>
              <a:t>Time-to-Fill</a:t>
            </a:r>
          </a:p>
        </p:txBody>
      </p:sp>
      <p:sp>
        <p:nvSpPr>
          <p:cNvPr id="19" name="TextBox 18"/>
          <p:cNvSpPr txBox="1"/>
          <p:nvPr/>
        </p:nvSpPr>
        <p:spPr>
          <a:xfrm>
            <a:off x="9692640" y="3108960"/>
            <a:ext cx="2011680" cy="640080"/>
          </a:xfrm>
          <a:prstGeom prst="rect">
            <a:avLst/>
          </a:prstGeom>
          <a:noFill/>
        </p:spPr>
        <p:txBody>
          <a:bodyPr wrap="square">
            <a:spAutoFit/>
          </a:bodyPr>
          <a:lstStyle/>
          <a:p>
            <a:pPr algn="ctr">
              <a:lnSpc>
                <a:spcPts val="3450"/>
              </a:lnSpc>
              <a:spcAft>
                <a:spcPts val="0"/>
              </a:spcAft>
              <a:defRPr sz="3000" b="1">
                <a:solidFill>
                  <a:srgbClr val="27AE60"/>
                </a:solidFill>
                <a:latin typeface="Arial"/>
              </a:defRPr>
            </a:pPr>
            <a:r>
              <a:t>3x</a:t>
            </a:r>
          </a:p>
        </p:txBody>
      </p:sp>
      <p:sp>
        <p:nvSpPr>
          <p:cNvPr id="20" name="TextBox 19"/>
          <p:cNvSpPr txBox="1"/>
          <p:nvPr/>
        </p:nvSpPr>
        <p:spPr>
          <a:xfrm>
            <a:off x="9692640" y="3657600"/>
            <a:ext cx="2011680" cy="457200"/>
          </a:xfrm>
          <a:prstGeom prst="rect">
            <a:avLst/>
          </a:prstGeom>
          <a:noFill/>
        </p:spPr>
        <p:txBody>
          <a:bodyPr wrap="square">
            <a:spAutoFit/>
          </a:bodyPr>
          <a:lstStyle/>
          <a:p>
            <a:pPr algn="ctr">
              <a:lnSpc>
                <a:spcPts val="1035"/>
              </a:lnSpc>
              <a:spcAft>
                <a:spcPts val="0"/>
              </a:spcAft>
              <a:defRPr sz="900" b="0">
                <a:solidFill>
                  <a:srgbClr val="666666"/>
                </a:solidFill>
                <a:latin typeface="Arial"/>
              </a:defRPr>
            </a:pPr>
            <a:r>
              <a:t>Offer Acceptance</a:t>
            </a:r>
            <a:br/>
            <a:r>
              <a:t>Improvement</a:t>
            </a:r>
          </a:p>
        </p:txBody>
      </p:sp>
      <p:sp>
        <p:nvSpPr>
          <p:cNvPr id="21" name="Rectangle 20"/>
          <p:cNvSpPr/>
          <p:nvPr/>
        </p:nvSpPr>
        <p:spPr>
          <a:xfrm>
            <a:off x="548640" y="457200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KEY BRANDING TACTICS</a:t>
            </a:r>
          </a:p>
        </p:txBody>
      </p:sp>
      <p:sp>
        <p:nvSpPr>
          <p:cNvPr id="22" name="TextBox 21"/>
          <p:cNvSpPr txBox="1"/>
          <p:nvPr/>
        </p:nvSpPr>
        <p:spPr>
          <a:xfrm>
            <a:off x="731520" y="4983480"/>
            <a:ext cx="10972800" cy="914400"/>
          </a:xfrm>
          <a:prstGeom prst="rect">
            <a:avLst/>
          </a:prstGeom>
          <a:noFill/>
        </p:spPr>
        <p:txBody>
          <a:bodyPr wrap="square">
            <a:spAutoFit/>
          </a:bodyPr>
          <a:lstStyle/>
          <a:p>
            <a:pPr>
              <a:lnSpc>
                <a:spcPts val="1260"/>
              </a:lnSpc>
              <a:spcAft>
                <a:spcPts val="300"/>
              </a:spcAft>
              <a:defRPr sz="900">
                <a:solidFill>
                  <a:srgbClr val="1A1A1A"/>
                </a:solidFill>
                <a:latin typeface="Arial"/>
              </a:defRPr>
            </a:pPr>
            <a:r>
              <a:t>• Employee-generated content performs 8x better than corporate messaging</a:t>
            </a:r>
          </a:p>
          <a:p>
            <a:pPr>
              <a:lnSpc>
                <a:spcPts val="1260"/>
              </a:lnSpc>
              <a:spcAft>
                <a:spcPts val="300"/>
              </a:spcAft>
              <a:defRPr sz="900">
                <a:solidFill>
                  <a:srgbClr val="1A1A1A"/>
                </a:solidFill>
                <a:latin typeface="Arial"/>
              </a:defRPr>
            </a:pPr>
            <a:r>
              <a:t>• University partnerships reduce recruitment costs by 30% (JP Morgan: Code for Good, $25M skills)</a:t>
            </a:r>
          </a:p>
          <a:p>
            <a:pPr>
              <a:lnSpc>
                <a:spcPts val="1260"/>
              </a:lnSpc>
              <a:spcAft>
                <a:spcPts val="300"/>
              </a:spcAft>
              <a:defRPr sz="900">
                <a:solidFill>
                  <a:srgbClr val="1A1A1A"/>
                </a:solidFill>
                <a:latin typeface="Arial"/>
              </a:defRPr>
            </a:pPr>
            <a:r>
              <a:t>• Glassdoor management: Barclays Pune 4.2/5 stars (2,616 reviews) — above global average</a:t>
            </a:r>
          </a:p>
          <a:p>
            <a:pPr>
              <a:lnSpc>
                <a:spcPts val="1260"/>
              </a:lnSpc>
              <a:spcAft>
                <a:spcPts val="300"/>
              </a:spcAft>
              <a:defRPr sz="900">
                <a:solidFill>
                  <a:srgbClr val="1A1A1A"/>
                </a:solidFill>
                <a:latin typeface="Arial"/>
              </a:defRPr>
            </a:pPr>
            <a:r>
              <a:t>• Intrapreneurship: Companies with active programs 50% more likely to outperform (McKinsey)</a:t>
            </a:r>
          </a:p>
        </p:txBody>
      </p:sp>
      <p:sp>
        <p:nvSpPr>
          <p:cNvPr id="23" name="Rectangle 22"/>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Only 25-30% invest in branding — this is the single largest arbitrage opportunity in the talent war</a:t>
            </a:r>
          </a:p>
        </p:txBody>
      </p:sp>
      <p:sp>
        <p:nvSpPr>
          <p:cNvPr id="24" name="TextBox 23"/>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17</a:t>
            </a:r>
          </a:p>
        </p:txBody>
      </p:sp>
      <p:sp>
        <p:nvSpPr>
          <p:cNvPr id="25" name="TextBox 24"/>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SPAG FINN Partners, ANSR, Randstad REBR 2025, LinkedIn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ACT IV: FROM ANALYSIS TO ACTION</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From Decision to Scale in 18 Months: Phased Implementation</a:t>
            </a:r>
          </a:p>
        </p:txBody>
      </p:sp>
      <p:sp>
        <p:nvSpPr>
          <p:cNvPr id="4" name="Rectangle 3"/>
          <p:cNvSpPr/>
          <p:nvPr/>
        </p:nvSpPr>
        <p:spPr>
          <a:xfrm>
            <a:off x="548640" y="1188720"/>
            <a:ext cx="2651760" cy="594360"/>
          </a:xfrm>
          <a:prstGeom prst="rect">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tIns="25400"/>
          <a:lstStyle/>
          <a:p>
            <a:pPr algn="ctr">
              <a:defRPr sz="1100" b="1">
                <a:solidFill>
                  <a:srgbClr val="FFFFFF"/>
                </a:solidFill>
                <a:latin typeface="Arial"/>
              </a:defRPr>
            </a:pPr>
            <a:r>
              <a:t>PHASE 1: FOUNDATION</a:t>
            </a:r>
          </a:p>
          <a:p>
            <a:pPr algn="ctr">
              <a:defRPr sz="900">
                <a:solidFill>
                  <a:srgbClr val="DDDDDD"/>
                </a:solidFill>
                <a:latin typeface="Arial"/>
              </a:defRPr>
            </a:pPr>
            <a:r>
              <a:t>Months 0-4</a:t>
            </a:r>
          </a:p>
        </p:txBody>
      </p:sp>
      <p:sp>
        <p:nvSpPr>
          <p:cNvPr id="5" name="Rectangle 4"/>
          <p:cNvSpPr/>
          <p:nvPr/>
        </p:nvSpPr>
        <p:spPr>
          <a:xfrm>
            <a:off x="548640" y="1920240"/>
            <a:ext cx="2651760" cy="18288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p>
          <a:p>
            <a:pPr>
              <a:spcBef>
                <a:spcPts val="400"/>
              </a:spcBef>
              <a:defRPr sz="900">
                <a:solidFill>
                  <a:srgbClr val="1A1A1A"/>
                </a:solidFill>
                <a:latin typeface="Arial"/>
              </a:defRPr>
            </a:pPr>
            <a:r>
              <a:t>• Entity incorporation &amp; legal setup</a:t>
            </a:r>
            <a:br/>
            <a:r>
              <a:t>• City selection (Bangalore/Hyderabad primary)</a:t>
            </a:r>
            <a:br/>
            <a:r>
              <a:t>• BOT partner engagement</a:t>
            </a:r>
            <a:br/>
            <a:r>
              <a:t>• Leadership hires (CTO, HR Head, Site Lead)</a:t>
            </a:r>
          </a:p>
        </p:txBody>
      </p:sp>
      <p:sp>
        <p:nvSpPr>
          <p:cNvPr id="6" name="Rectangle 5"/>
          <p:cNvSpPr/>
          <p:nvPr/>
        </p:nvSpPr>
        <p:spPr>
          <a:xfrm>
            <a:off x="3429000" y="1188720"/>
            <a:ext cx="2651760" cy="594360"/>
          </a:xfrm>
          <a:prstGeom prst="rect">
            <a:avLst/>
          </a:prstGeom>
          <a:solidFill>
            <a:srgbClr val="CF5C16"/>
          </a:solidFill>
          <a:ln>
            <a:noFill/>
          </a:ln>
        </p:spPr>
        <p:style>
          <a:lnRef idx="1">
            <a:schemeClr val="accent1"/>
          </a:lnRef>
          <a:fillRef idx="3">
            <a:schemeClr val="accent1"/>
          </a:fillRef>
          <a:effectRef idx="2">
            <a:schemeClr val="accent1"/>
          </a:effectRef>
          <a:fontRef idx="minor">
            <a:schemeClr val="lt1"/>
          </a:fontRef>
        </p:style>
        <p:txBody>
          <a:bodyPr rtlCol="0" anchor="ctr" tIns="25400"/>
          <a:lstStyle/>
          <a:p>
            <a:pPr algn="ctr">
              <a:defRPr sz="1100" b="1">
                <a:solidFill>
                  <a:srgbClr val="FFFFFF"/>
                </a:solidFill>
                <a:latin typeface="Arial"/>
              </a:defRPr>
            </a:pPr>
            <a:r>
              <a:t>PHASE 2: LAUNCH</a:t>
            </a:r>
          </a:p>
          <a:p>
            <a:pPr algn="ctr">
              <a:defRPr sz="900">
                <a:solidFill>
                  <a:srgbClr val="DDDDDD"/>
                </a:solidFill>
                <a:latin typeface="Arial"/>
              </a:defRPr>
            </a:pPr>
            <a:r>
              <a:t>Months 4-8</a:t>
            </a:r>
          </a:p>
        </p:txBody>
      </p:sp>
      <p:sp>
        <p:nvSpPr>
          <p:cNvPr id="7" name="Rectangle 6"/>
          <p:cNvSpPr/>
          <p:nvPr/>
        </p:nvSpPr>
        <p:spPr>
          <a:xfrm>
            <a:off x="3429000" y="1920240"/>
            <a:ext cx="2651760" cy="18288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p>
          <a:p>
            <a:pPr>
              <a:spcBef>
                <a:spcPts val="400"/>
              </a:spcBef>
              <a:defRPr sz="900">
                <a:solidFill>
                  <a:srgbClr val="1A1A1A"/>
                </a:solidFill>
                <a:latin typeface="Arial"/>
              </a:defRPr>
            </a:pPr>
            <a:r>
              <a:t>• First 50-100 FTE onboarded</a:t>
            </a:r>
            <a:br/>
            <a:r>
              <a:t>• Knowledge transfer from parent (90-day cycles)</a:t>
            </a:r>
            <a:br/>
            <a:r>
              <a:t>• EVP and employer branding launch</a:t>
            </a:r>
            <a:br/>
            <a:r>
              <a:t>• Initial processes operational</a:t>
            </a:r>
          </a:p>
        </p:txBody>
      </p:sp>
      <p:sp>
        <p:nvSpPr>
          <p:cNvPr id="8" name="Rectangle 7"/>
          <p:cNvSpPr/>
          <p:nvPr/>
        </p:nvSpPr>
        <p:spPr>
          <a:xfrm>
            <a:off x="6309359" y="1188720"/>
            <a:ext cx="2651760" cy="594360"/>
          </a:xfrm>
          <a:prstGeom prst="rect">
            <a:avLst/>
          </a:prstGeom>
          <a:solidFill>
            <a:srgbClr val="B66B1E"/>
          </a:solidFill>
          <a:ln>
            <a:noFill/>
          </a:ln>
        </p:spPr>
        <p:style>
          <a:lnRef idx="1">
            <a:schemeClr val="accent1"/>
          </a:lnRef>
          <a:fillRef idx="3">
            <a:schemeClr val="accent1"/>
          </a:fillRef>
          <a:effectRef idx="2">
            <a:schemeClr val="accent1"/>
          </a:effectRef>
          <a:fontRef idx="minor">
            <a:schemeClr val="lt1"/>
          </a:fontRef>
        </p:style>
        <p:txBody>
          <a:bodyPr rtlCol="0" anchor="ctr" tIns="25400"/>
          <a:lstStyle/>
          <a:p>
            <a:pPr algn="ctr">
              <a:defRPr sz="1100" b="1">
                <a:solidFill>
                  <a:srgbClr val="FFFFFF"/>
                </a:solidFill>
                <a:latin typeface="Arial"/>
              </a:defRPr>
            </a:pPr>
            <a:r>
              <a:t>PHASE 3: SCALE</a:t>
            </a:r>
          </a:p>
          <a:p>
            <a:pPr algn="ctr">
              <a:defRPr sz="900">
                <a:solidFill>
                  <a:srgbClr val="DDDDDD"/>
                </a:solidFill>
                <a:latin typeface="Arial"/>
              </a:defRPr>
            </a:pPr>
            <a:r>
              <a:t>Months 8-14</a:t>
            </a:r>
          </a:p>
        </p:txBody>
      </p:sp>
      <p:sp>
        <p:nvSpPr>
          <p:cNvPr id="9" name="Rectangle 8"/>
          <p:cNvSpPr/>
          <p:nvPr/>
        </p:nvSpPr>
        <p:spPr>
          <a:xfrm>
            <a:off x="6309359" y="1920240"/>
            <a:ext cx="2651760" cy="18288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p>
          <a:p>
            <a:pPr>
              <a:spcBef>
                <a:spcPts val="400"/>
              </a:spcBef>
              <a:defRPr sz="900">
                <a:solidFill>
                  <a:srgbClr val="1A1A1A"/>
                </a:solidFill>
                <a:latin typeface="Arial"/>
              </a:defRPr>
            </a:pPr>
            <a:r>
              <a:t>• Scale to 200-300 FTE</a:t>
            </a:r>
            <a:br/>
            <a:r>
              <a:t>• Open second city hub</a:t>
            </a:r>
            <a:br/>
            <a:r>
              <a:t>• Launch innovation lab</a:t>
            </a:r>
            <a:br/>
            <a:r>
              <a:t>• First value delivery milestones</a:t>
            </a:r>
          </a:p>
        </p:txBody>
      </p:sp>
      <p:sp>
        <p:nvSpPr>
          <p:cNvPr id="10" name="Rectangle 9"/>
          <p:cNvSpPr/>
          <p:nvPr/>
        </p:nvSpPr>
        <p:spPr>
          <a:xfrm>
            <a:off x="9189719" y="1188720"/>
            <a:ext cx="2651760" cy="594360"/>
          </a:xfrm>
          <a:prstGeom prst="rect">
            <a:avLst/>
          </a:prstGeom>
          <a:solidFill>
            <a:srgbClr val="9D7A26"/>
          </a:solidFill>
          <a:ln>
            <a:noFill/>
          </a:ln>
        </p:spPr>
        <p:style>
          <a:lnRef idx="1">
            <a:schemeClr val="accent1"/>
          </a:lnRef>
          <a:fillRef idx="3">
            <a:schemeClr val="accent1"/>
          </a:fillRef>
          <a:effectRef idx="2">
            <a:schemeClr val="accent1"/>
          </a:effectRef>
          <a:fontRef idx="minor">
            <a:schemeClr val="lt1"/>
          </a:fontRef>
        </p:style>
        <p:txBody>
          <a:bodyPr rtlCol="0" anchor="ctr" tIns="25400"/>
          <a:lstStyle/>
          <a:p>
            <a:pPr algn="ctr">
              <a:defRPr sz="1100" b="1">
                <a:solidFill>
                  <a:srgbClr val="FFFFFF"/>
                </a:solidFill>
                <a:latin typeface="Arial"/>
              </a:defRPr>
            </a:pPr>
            <a:r>
              <a:t>PHASE 4: OPTIMIZE</a:t>
            </a:r>
          </a:p>
          <a:p>
            <a:pPr algn="ctr">
              <a:defRPr sz="900">
                <a:solidFill>
                  <a:srgbClr val="DDDDDD"/>
                </a:solidFill>
                <a:latin typeface="Arial"/>
              </a:defRPr>
            </a:pPr>
            <a:r>
              <a:t>Months 14-18</a:t>
            </a:r>
          </a:p>
        </p:txBody>
      </p:sp>
      <p:sp>
        <p:nvSpPr>
          <p:cNvPr id="11" name="Rectangle 10"/>
          <p:cNvSpPr/>
          <p:nvPr/>
        </p:nvSpPr>
        <p:spPr>
          <a:xfrm>
            <a:off x="9189719" y="1920240"/>
            <a:ext cx="2651760" cy="18288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p>
          <a:p>
            <a:pPr>
              <a:spcBef>
                <a:spcPts val="400"/>
              </a:spcBef>
              <a:defRPr sz="900">
                <a:solidFill>
                  <a:srgbClr val="1A1A1A"/>
                </a:solidFill>
                <a:latin typeface="Arial"/>
              </a:defRPr>
            </a:pPr>
            <a:r>
              <a:t>• Scale to 500 FTE target</a:t>
            </a:r>
            <a:br/>
            <a:r>
              <a:t>• Captive conversion (from BOT)</a:t>
            </a:r>
            <a:br/>
            <a:r>
              <a:t>• Breakeven assessment</a:t>
            </a:r>
            <a:br/>
            <a:r>
              <a:t>• Tier-2 satellite evaluation</a:t>
            </a:r>
          </a:p>
        </p:txBody>
      </p:sp>
      <p:sp>
        <p:nvSpPr>
          <p:cNvPr id="12" name="Rectangle 11"/>
          <p:cNvSpPr/>
          <p:nvPr/>
        </p:nvSpPr>
        <p:spPr>
          <a:xfrm>
            <a:off x="548640" y="393192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KEY MILESTONES</a:t>
            </a:r>
          </a:p>
        </p:txBody>
      </p:sp>
      <p:graphicFrame>
        <p:nvGraphicFramePr>
          <p:cNvPr id="13" name="Table 12"/>
          <p:cNvGraphicFramePr>
            <a:graphicFrameLocks noGrp="1"/>
          </p:cNvGraphicFramePr>
          <p:nvPr/>
        </p:nvGraphicFramePr>
        <p:xfrm>
          <a:off x="548640" y="4343400"/>
          <a:ext cx="11064240" cy="1554480"/>
        </p:xfrm>
        <a:graphic>
          <a:graphicData uri="http://schemas.openxmlformats.org/drawingml/2006/table">
            <a:tbl>
              <a:tblPr firstRow="1" bandRow="1">
                <a:tableStyleId>{5C22544A-7EE6-4342-B048-85BDC9FD1C3A}</a:tableStyleId>
              </a:tblPr>
              <a:tblGrid>
                <a:gridCol w="2743200"/>
                <a:gridCol w="2286000"/>
                <a:gridCol w="6035040"/>
              </a:tblGrid>
              <a:tr h="259080">
                <a:tc>
                  <a:txBody>
                    <a:bodyPr/>
                    <a:lstStyle/>
                    <a:p>
                      <a:pPr>
                        <a:defRPr sz="900" b="1">
                          <a:solidFill>
                            <a:srgbClr val="FFFFFF"/>
                          </a:solidFill>
                          <a:latin typeface="Arial"/>
                        </a:defRPr>
                      </a:pPr>
                      <a:r>
                        <a:t>Milestone</a:t>
                      </a:r>
                    </a:p>
                  </a:txBody>
                  <a:tcPr>
                    <a:solidFill>
                      <a:srgbClr val="2D2D2D"/>
                    </a:solidFill>
                  </a:tcPr>
                </a:tc>
                <a:tc>
                  <a:txBody>
                    <a:bodyPr/>
                    <a:lstStyle/>
                    <a:p>
                      <a:pPr>
                        <a:defRPr sz="900" b="1">
                          <a:solidFill>
                            <a:srgbClr val="FFFFFF"/>
                          </a:solidFill>
                          <a:latin typeface="Arial"/>
                        </a:defRPr>
                      </a:pPr>
                      <a:r>
                        <a:t>Target</a:t>
                      </a:r>
                    </a:p>
                  </a:txBody>
                  <a:tcPr>
                    <a:solidFill>
                      <a:srgbClr val="2D2D2D"/>
                    </a:solidFill>
                  </a:tcPr>
                </a:tc>
                <a:tc>
                  <a:txBody>
                    <a:bodyPr/>
                    <a:lstStyle/>
                    <a:p>
                      <a:pPr>
                        <a:defRPr sz="900" b="1">
                          <a:solidFill>
                            <a:srgbClr val="FFFFFF"/>
                          </a:solidFill>
                          <a:latin typeface="Arial"/>
                        </a:defRPr>
                      </a:pPr>
                      <a:r>
                        <a:t>KPI</a:t>
                      </a:r>
                    </a:p>
                  </a:txBody>
                  <a:tcPr>
                    <a:solidFill>
                      <a:srgbClr val="2D2D2D"/>
                    </a:solidFill>
                  </a:tcPr>
                </a:tc>
              </a:tr>
              <a:tr h="259080">
                <a:tc>
                  <a:txBody>
                    <a:bodyPr/>
                    <a:lstStyle/>
                    <a:p>
                      <a:pPr>
                        <a:defRPr sz="900">
                          <a:solidFill>
                            <a:srgbClr val="1A1A1A"/>
                          </a:solidFill>
                          <a:latin typeface="Arial"/>
                        </a:defRPr>
                      </a:pPr>
                      <a:r>
                        <a:t>BOT Operational</a:t>
                      </a:r>
                    </a:p>
                  </a:txBody>
                  <a:tcPr>
                    <a:solidFill>
                      <a:srgbClr val="FFFFFF"/>
                    </a:solidFill>
                  </a:tcPr>
                </a:tc>
                <a:tc>
                  <a:txBody>
                    <a:bodyPr/>
                    <a:lstStyle/>
                    <a:p>
                      <a:pPr>
                        <a:defRPr sz="900">
                          <a:solidFill>
                            <a:srgbClr val="1A1A1A"/>
                          </a:solidFill>
                          <a:latin typeface="Arial"/>
                        </a:defRPr>
                      </a:pPr>
                      <a:r>
                        <a:t>Month 4-6</a:t>
                      </a:r>
                    </a:p>
                  </a:txBody>
                  <a:tcPr>
                    <a:solidFill>
                      <a:srgbClr val="FFFFFF"/>
                    </a:solidFill>
                  </a:tcPr>
                </a:tc>
                <a:tc>
                  <a:txBody>
                    <a:bodyPr/>
                    <a:lstStyle/>
                    <a:p>
                      <a:pPr>
                        <a:defRPr sz="900">
                          <a:solidFill>
                            <a:srgbClr val="1A1A1A"/>
                          </a:solidFill>
                          <a:latin typeface="Arial"/>
                        </a:defRPr>
                      </a:pPr>
                      <a:r>
                        <a:t>First 50 FTE onboarded, KT complete</a:t>
                      </a:r>
                    </a:p>
                  </a:txBody>
                  <a:tcPr>
                    <a:solidFill>
                      <a:srgbClr val="FFFFFF"/>
                    </a:solidFill>
                  </a:tcPr>
                </a:tc>
              </a:tr>
              <a:tr h="259080">
                <a:tc>
                  <a:txBody>
                    <a:bodyPr/>
                    <a:lstStyle/>
                    <a:p>
                      <a:pPr>
                        <a:defRPr sz="900">
                          <a:solidFill>
                            <a:srgbClr val="1A1A1A"/>
                          </a:solidFill>
                          <a:latin typeface="Arial"/>
                        </a:defRPr>
                      </a:pPr>
                      <a:r>
                        <a:t>100 FTE</a:t>
                      </a:r>
                    </a:p>
                  </a:txBody>
                  <a:tcPr>
                    <a:solidFill>
                      <a:srgbClr val="F2F2F2"/>
                    </a:solidFill>
                  </a:tcPr>
                </a:tc>
                <a:tc>
                  <a:txBody>
                    <a:bodyPr/>
                    <a:lstStyle/>
                    <a:p>
                      <a:pPr>
                        <a:defRPr sz="900">
                          <a:solidFill>
                            <a:srgbClr val="1A1A1A"/>
                          </a:solidFill>
                          <a:latin typeface="Arial"/>
                        </a:defRPr>
                      </a:pPr>
                      <a:r>
                        <a:t>Month 8</a:t>
                      </a:r>
                    </a:p>
                  </a:txBody>
                  <a:tcPr>
                    <a:solidFill>
                      <a:srgbClr val="F2F2F2"/>
                    </a:solidFill>
                  </a:tcPr>
                </a:tc>
                <a:tc>
                  <a:txBody>
                    <a:bodyPr/>
                    <a:lstStyle/>
                    <a:p>
                      <a:pPr>
                        <a:defRPr sz="900">
                          <a:solidFill>
                            <a:srgbClr val="1A1A1A"/>
                          </a:solidFill>
                          <a:latin typeface="Arial"/>
                        </a:defRPr>
                      </a:pPr>
                      <a:r>
                        <a:t>2 functions live, first value delivered</a:t>
                      </a:r>
                    </a:p>
                  </a:txBody>
                  <a:tcPr>
                    <a:solidFill>
                      <a:srgbClr val="F2F2F2"/>
                    </a:solidFill>
                  </a:tcPr>
                </a:tc>
              </a:tr>
              <a:tr h="259080">
                <a:tc>
                  <a:txBody>
                    <a:bodyPr/>
                    <a:lstStyle/>
                    <a:p>
                      <a:pPr>
                        <a:defRPr sz="900">
                          <a:solidFill>
                            <a:srgbClr val="1A1A1A"/>
                          </a:solidFill>
                          <a:latin typeface="Arial"/>
                        </a:defRPr>
                      </a:pPr>
                      <a:r>
                        <a:t>Second City</a:t>
                      </a:r>
                    </a:p>
                  </a:txBody>
                  <a:tcPr>
                    <a:solidFill>
                      <a:srgbClr val="FFFFFF"/>
                    </a:solidFill>
                  </a:tcPr>
                </a:tc>
                <a:tc>
                  <a:txBody>
                    <a:bodyPr/>
                    <a:lstStyle/>
                    <a:p>
                      <a:pPr>
                        <a:defRPr sz="900">
                          <a:solidFill>
                            <a:srgbClr val="1A1A1A"/>
                          </a:solidFill>
                          <a:latin typeface="Arial"/>
                        </a:defRPr>
                      </a:pPr>
                      <a:r>
                        <a:t>Month 8-10</a:t>
                      </a:r>
                    </a:p>
                  </a:txBody>
                  <a:tcPr>
                    <a:solidFill>
                      <a:srgbClr val="FFFFFF"/>
                    </a:solidFill>
                  </a:tcPr>
                </a:tc>
                <a:tc>
                  <a:txBody>
                    <a:bodyPr/>
                    <a:lstStyle/>
                    <a:p>
                      <a:pPr>
                        <a:defRPr sz="900">
                          <a:solidFill>
                            <a:srgbClr val="1A1A1A"/>
                          </a:solidFill>
                          <a:latin typeface="Arial"/>
                        </a:defRPr>
                      </a:pPr>
                      <a:r>
                        <a:t>Hyderabad or Pune hub launched</a:t>
                      </a:r>
                    </a:p>
                  </a:txBody>
                  <a:tcPr>
                    <a:solidFill>
                      <a:srgbClr val="FFFFFF"/>
                    </a:solidFill>
                  </a:tcPr>
                </a:tc>
              </a:tr>
              <a:tr h="259080">
                <a:tc>
                  <a:txBody>
                    <a:bodyPr/>
                    <a:lstStyle/>
                    <a:p>
                      <a:pPr>
                        <a:defRPr sz="900">
                          <a:solidFill>
                            <a:srgbClr val="1A1A1A"/>
                          </a:solidFill>
                          <a:latin typeface="Arial"/>
                        </a:defRPr>
                      </a:pPr>
                      <a:r>
                        <a:t>300 FTE</a:t>
                      </a:r>
                    </a:p>
                  </a:txBody>
                  <a:tcPr>
                    <a:solidFill>
                      <a:srgbClr val="F2F2F2"/>
                    </a:solidFill>
                  </a:tcPr>
                </a:tc>
                <a:tc>
                  <a:txBody>
                    <a:bodyPr/>
                    <a:lstStyle/>
                    <a:p>
                      <a:pPr>
                        <a:defRPr sz="900">
                          <a:solidFill>
                            <a:srgbClr val="1A1A1A"/>
                          </a:solidFill>
                          <a:latin typeface="Arial"/>
                        </a:defRPr>
                      </a:pPr>
                      <a:r>
                        <a:t>Month 14</a:t>
                      </a:r>
                    </a:p>
                  </a:txBody>
                  <a:tcPr>
                    <a:solidFill>
                      <a:srgbClr val="F2F2F2"/>
                    </a:solidFill>
                  </a:tcPr>
                </a:tc>
                <a:tc>
                  <a:txBody>
                    <a:bodyPr/>
                    <a:lstStyle/>
                    <a:p>
                      <a:pPr>
                        <a:defRPr sz="900">
                          <a:solidFill>
                            <a:srgbClr val="1A1A1A"/>
                          </a:solidFill>
                          <a:latin typeface="Arial"/>
                        </a:defRPr>
                      </a:pPr>
                      <a:r>
                        <a:t>Innovation lab active, 3+ functions</a:t>
                      </a:r>
                    </a:p>
                  </a:txBody>
                  <a:tcPr>
                    <a:solidFill>
                      <a:srgbClr val="F2F2F2"/>
                    </a:solidFill>
                  </a:tcPr>
                </a:tc>
              </a:tr>
              <a:tr h="259080">
                <a:tc>
                  <a:txBody>
                    <a:bodyPr/>
                    <a:lstStyle/>
                    <a:p>
                      <a:pPr>
                        <a:defRPr sz="900">
                          <a:solidFill>
                            <a:srgbClr val="1A1A1A"/>
                          </a:solidFill>
                          <a:latin typeface="Arial"/>
                        </a:defRPr>
                      </a:pPr>
                      <a:r>
                        <a:t>500 FTE / Breakeven</a:t>
                      </a:r>
                    </a:p>
                  </a:txBody>
                  <a:tcPr>
                    <a:solidFill>
                      <a:srgbClr val="FFFFFF"/>
                    </a:solidFill>
                  </a:tcPr>
                </a:tc>
                <a:tc>
                  <a:txBody>
                    <a:bodyPr/>
                    <a:lstStyle/>
                    <a:p>
                      <a:pPr>
                        <a:defRPr sz="900">
                          <a:solidFill>
                            <a:srgbClr val="1A1A1A"/>
                          </a:solidFill>
                          <a:latin typeface="Arial"/>
                        </a:defRPr>
                      </a:pPr>
                      <a:r>
                        <a:t>Month 18</a:t>
                      </a:r>
                    </a:p>
                  </a:txBody>
                  <a:tcPr>
                    <a:solidFill>
                      <a:srgbClr val="FFFFFF"/>
                    </a:solidFill>
                  </a:tcPr>
                </a:tc>
                <a:tc>
                  <a:txBody>
                    <a:bodyPr/>
                    <a:lstStyle/>
                    <a:p>
                      <a:pPr>
                        <a:defRPr sz="900">
                          <a:solidFill>
                            <a:srgbClr val="1A1A1A"/>
                          </a:solidFill>
                          <a:latin typeface="Arial"/>
                        </a:defRPr>
                      </a:pPr>
                      <a:r>
                        <a:t>Captive conversion, TCO parity achieved</a:t>
                      </a:r>
                    </a:p>
                  </a:txBody>
                  <a:tcPr>
                    <a:solidFill>
                      <a:srgbClr val="FFFFFF"/>
                    </a:solidFill>
                  </a:tcPr>
                </a:tc>
              </a:tr>
            </a:tbl>
          </a:graphicData>
        </a:graphic>
      </p:graphicFrame>
      <p:sp>
        <p:nvSpPr>
          <p:cNvPr id="14" name="Rectangle 13"/>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With BOT model you are operational in 4 months and at scale in 18 months — this is not a 3-year journey</a:t>
            </a:r>
          </a:p>
        </p:txBody>
      </p:sp>
      <p:sp>
        <p:nvSpPr>
          <p:cNvPr id="15" name="TextBox 14"/>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18</a:t>
            </a:r>
          </a:p>
        </p:txBody>
      </p:sp>
      <p:sp>
        <p:nvSpPr>
          <p:cNvPr id="16" name="TextBox 15"/>
          <p:cNvSpPr txBox="1"/>
          <p:nvPr/>
        </p:nvSpPr>
        <p:spPr>
          <a:xfrm>
            <a:off x="548640" y="6492240"/>
            <a:ext cx="10058400" cy="274320"/>
          </a:xfrm>
          <a:prstGeom prst="rect">
            <a:avLst/>
          </a:prstGeom>
          <a:noFill/>
        </p:spPr>
        <p:txBody>
          <a:bodyPr wrap="square">
            <a:spAutoFit/>
          </a:bodyPr>
          <a:lstStyle/>
          <a:p>
            <a:pPr algn="l">
              <a:lnSpc>
                <a:spcPts val="804"/>
              </a:lnSpc>
              <a:spcAft>
                <a:spcPts val="0"/>
              </a:spcAft>
              <a:defRPr sz="700" b="0">
                <a:solidFill>
                  <a:srgbClr val="666666"/>
                </a:solidFill>
                <a:latin typeface="Arial"/>
              </a:defRPr>
            </a:pPr>
            <a:r>
              <a:t>Sources: ANSR, Everest Group, Zinnov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STRATEGIC RECOMMENDATIONS</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Five Specific Recommendations with Timelines and KPIs</a:t>
            </a:r>
          </a:p>
        </p:txBody>
      </p:sp>
      <p:sp>
        <p:nvSpPr>
          <p:cNvPr id="4" name="Oval 3"/>
          <p:cNvSpPr/>
          <p:nvPr/>
        </p:nvSpPr>
        <p:spPr>
          <a:xfrm>
            <a:off x="548640" y="1234440"/>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1</a:t>
            </a:r>
          </a:p>
        </p:txBody>
      </p:sp>
      <p:sp>
        <p:nvSpPr>
          <p:cNvPr id="5" name="TextBox 4"/>
          <p:cNvSpPr txBox="1"/>
          <p:nvPr/>
        </p:nvSpPr>
        <p:spPr>
          <a:xfrm>
            <a:off x="1097280" y="1188720"/>
            <a:ext cx="10058400" cy="320040"/>
          </a:xfrm>
          <a:prstGeom prst="rect">
            <a:avLst/>
          </a:prstGeom>
          <a:noFill/>
        </p:spPr>
        <p:txBody>
          <a:bodyPr wrap="square">
            <a:spAutoFit/>
          </a:bodyPr>
          <a:lstStyle/>
          <a:p>
            <a:pPr algn="l">
              <a:lnSpc>
                <a:spcPts val="1495"/>
              </a:lnSpc>
              <a:spcAft>
                <a:spcPts val="0"/>
              </a:spcAft>
              <a:defRPr sz="1300" b="1">
                <a:solidFill>
                  <a:srgbClr val="1A1A1A"/>
                </a:solidFill>
                <a:latin typeface="Arial"/>
              </a:defRPr>
            </a:pPr>
            <a:r>
              <a:t>Establish primary hub in Bangalore via BOT model</a:t>
            </a:r>
          </a:p>
        </p:txBody>
      </p:sp>
      <p:sp>
        <p:nvSpPr>
          <p:cNvPr id="6" name="TextBox 5"/>
          <p:cNvSpPr txBox="1"/>
          <p:nvPr/>
        </p:nvSpPr>
        <p:spPr>
          <a:xfrm>
            <a:off x="1097280" y="1508760"/>
            <a:ext cx="10058400" cy="320040"/>
          </a:xfrm>
          <a:prstGeom prst="rect">
            <a:avLst/>
          </a:prstGeom>
          <a:noFill/>
        </p:spPr>
        <p:txBody>
          <a:bodyPr wrap="square">
            <a:spAutoFit/>
          </a:bodyPr>
          <a:lstStyle/>
          <a:p>
            <a:pPr algn="l">
              <a:lnSpc>
                <a:spcPts val="1150"/>
              </a:lnSpc>
              <a:spcAft>
                <a:spcPts val="0"/>
              </a:spcAft>
              <a:defRPr sz="1000" b="0">
                <a:solidFill>
                  <a:srgbClr val="666666"/>
                </a:solidFill>
                <a:latin typeface="Arial"/>
              </a:defRPr>
            </a:pPr>
            <a:r>
              <a:t>200 FTE Year 1 | BOT operational Month 4-6 | Focus: Innovation, AI/ML, Core Tech</a:t>
            </a:r>
          </a:p>
        </p:txBody>
      </p:sp>
      <p:sp>
        <p:nvSpPr>
          <p:cNvPr id="7" name="Oval 6"/>
          <p:cNvSpPr/>
          <p:nvPr/>
        </p:nvSpPr>
        <p:spPr>
          <a:xfrm>
            <a:off x="548640" y="2103120"/>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2</a:t>
            </a:r>
          </a:p>
        </p:txBody>
      </p:sp>
      <p:sp>
        <p:nvSpPr>
          <p:cNvPr id="8" name="TextBox 7"/>
          <p:cNvSpPr txBox="1"/>
          <p:nvPr/>
        </p:nvSpPr>
        <p:spPr>
          <a:xfrm>
            <a:off x="1097280" y="2057400"/>
            <a:ext cx="10058400" cy="320040"/>
          </a:xfrm>
          <a:prstGeom prst="rect">
            <a:avLst/>
          </a:prstGeom>
          <a:noFill/>
        </p:spPr>
        <p:txBody>
          <a:bodyPr wrap="square">
            <a:spAutoFit/>
          </a:bodyPr>
          <a:lstStyle/>
          <a:p>
            <a:pPr algn="l">
              <a:lnSpc>
                <a:spcPts val="1495"/>
              </a:lnSpc>
              <a:spcAft>
                <a:spcPts val="0"/>
              </a:spcAft>
              <a:defRPr sz="1300" b="1">
                <a:solidFill>
                  <a:srgbClr val="1A1A1A"/>
                </a:solidFill>
                <a:latin typeface="Arial"/>
              </a:defRPr>
            </a:pPr>
            <a:r>
              <a:t>Open Hyderabad secondary hub by Month 8</a:t>
            </a:r>
          </a:p>
        </p:txBody>
      </p:sp>
      <p:sp>
        <p:nvSpPr>
          <p:cNvPr id="9" name="TextBox 8"/>
          <p:cNvSpPr txBox="1"/>
          <p:nvPr/>
        </p:nvSpPr>
        <p:spPr>
          <a:xfrm>
            <a:off x="1097280" y="2377440"/>
            <a:ext cx="10058400" cy="320040"/>
          </a:xfrm>
          <a:prstGeom prst="rect">
            <a:avLst/>
          </a:prstGeom>
          <a:noFill/>
        </p:spPr>
        <p:txBody>
          <a:bodyPr wrap="square">
            <a:spAutoFit/>
          </a:bodyPr>
          <a:lstStyle/>
          <a:p>
            <a:pPr algn="l">
              <a:lnSpc>
                <a:spcPts val="1150"/>
              </a:lnSpc>
              <a:spcAft>
                <a:spcPts val="0"/>
              </a:spcAft>
              <a:defRPr sz="1000" b="0">
                <a:solidFill>
                  <a:srgbClr val="666666"/>
                </a:solidFill>
                <a:latin typeface="Arial"/>
              </a:defRPr>
            </a:pPr>
            <a:r>
              <a:t>Operations &amp; Scale functions | 78% of Bangalore cost | Vanguard model proven</a:t>
            </a:r>
          </a:p>
        </p:txBody>
      </p:sp>
      <p:sp>
        <p:nvSpPr>
          <p:cNvPr id="10" name="Oval 9"/>
          <p:cNvSpPr/>
          <p:nvPr/>
        </p:nvSpPr>
        <p:spPr>
          <a:xfrm>
            <a:off x="548640" y="2971800"/>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3</a:t>
            </a:r>
          </a:p>
        </p:txBody>
      </p:sp>
      <p:sp>
        <p:nvSpPr>
          <p:cNvPr id="11" name="TextBox 10"/>
          <p:cNvSpPr txBox="1"/>
          <p:nvPr/>
        </p:nvSpPr>
        <p:spPr>
          <a:xfrm>
            <a:off x="1097280" y="2926080"/>
            <a:ext cx="10058400" cy="320040"/>
          </a:xfrm>
          <a:prstGeom prst="rect">
            <a:avLst/>
          </a:prstGeom>
          <a:noFill/>
        </p:spPr>
        <p:txBody>
          <a:bodyPr wrap="square">
            <a:spAutoFit/>
          </a:bodyPr>
          <a:lstStyle/>
          <a:p>
            <a:pPr algn="l">
              <a:lnSpc>
                <a:spcPts val="1495"/>
              </a:lnSpc>
              <a:spcAft>
                <a:spcPts val="0"/>
              </a:spcAft>
              <a:defRPr sz="1300" b="1">
                <a:solidFill>
                  <a:srgbClr val="1A1A1A"/>
                </a:solidFill>
                <a:latin typeface="Arial"/>
              </a:defRPr>
            </a:pPr>
            <a:r>
              <a:t>Evaluate Pune spoke by Month 12</a:t>
            </a:r>
          </a:p>
        </p:txBody>
      </p:sp>
      <p:sp>
        <p:nvSpPr>
          <p:cNvPr id="12" name="TextBox 11"/>
          <p:cNvSpPr txBox="1"/>
          <p:nvPr/>
        </p:nvSpPr>
        <p:spPr>
          <a:xfrm>
            <a:off x="1097280" y="3246120"/>
            <a:ext cx="10058400" cy="320040"/>
          </a:xfrm>
          <a:prstGeom prst="rect">
            <a:avLst/>
          </a:prstGeom>
          <a:noFill/>
        </p:spPr>
        <p:txBody>
          <a:bodyPr wrap="square">
            <a:spAutoFit/>
          </a:bodyPr>
          <a:lstStyle/>
          <a:p>
            <a:pPr algn="l">
              <a:lnSpc>
                <a:spcPts val="1150"/>
              </a:lnSpc>
              <a:spcAft>
                <a:spcPts val="0"/>
              </a:spcAft>
              <a:defRPr sz="1000" b="0">
                <a:solidFill>
                  <a:srgbClr val="666666"/>
                </a:solidFill>
                <a:latin typeface="Arial"/>
              </a:defRPr>
            </a:pPr>
            <a:r>
              <a:t>Retention-critical functions (Risk, Compliance) | 12-14% attrition advantage | Barclays model</a:t>
            </a:r>
          </a:p>
        </p:txBody>
      </p:sp>
      <p:sp>
        <p:nvSpPr>
          <p:cNvPr id="13" name="Oval 12"/>
          <p:cNvSpPr/>
          <p:nvPr/>
        </p:nvSpPr>
        <p:spPr>
          <a:xfrm>
            <a:off x="548640" y="3840479"/>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4</a:t>
            </a:r>
          </a:p>
        </p:txBody>
      </p:sp>
      <p:sp>
        <p:nvSpPr>
          <p:cNvPr id="14" name="TextBox 13"/>
          <p:cNvSpPr txBox="1"/>
          <p:nvPr/>
        </p:nvSpPr>
        <p:spPr>
          <a:xfrm>
            <a:off x="1097280" y="3794759"/>
            <a:ext cx="10058400" cy="320040"/>
          </a:xfrm>
          <a:prstGeom prst="rect">
            <a:avLst/>
          </a:prstGeom>
          <a:noFill/>
        </p:spPr>
        <p:txBody>
          <a:bodyPr wrap="square">
            <a:spAutoFit/>
          </a:bodyPr>
          <a:lstStyle/>
          <a:p>
            <a:pPr algn="l">
              <a:lnSpc>
                <a:spcPts val="1495"/>
              </a:lnSpc>
              <a:spcAft>
                <a:spcPts val="0"/>
              </a:spcAft>
              <a:defRPr sz="1300" b="1">
                <a:solidFill>
                  <a:srgbClr val="1A1A1A"/>
                </a:solidFill>
                <a:latin typeface="Arial"/>
              </a:defRPr>
            </a:pPr>
            <a:r>
              <a:t>Launch differentiated EVP from Day 1</a:t>
            </a:r>
          </a:p>
        </p:txBody>
      </p:sp>
      <p:sp>
        <p:nvSpPr>
          <p:cNvPr id="15" name="TextBox 14"/>
          <p:cNvSpPr txBox="1"/>
          <p:nvPr/>
        </p:nvSpPr>
        <p:spPr>
          <a:xfrm>
            <a:off x="1097280" y="4114799"/>
            <a:ext cx="10058400" cy="320040"/>
          </a:xfrm>
          <a:prstGeom prst="rect">
            <a:avLst/>
          </a:prstGeom>
          <a:noFill/>
        </p:spPr>
        <p:txBody>
          <a:bodyPr wrap="square">
            <a:spAutoFit/>
          </a:bodyPr>
          <a:lstStyle/>
          <a:p>
            <a:pPr algn="l">
              <a:lnSpc>
                <a:spcPts val="1150"/>
              </a:lnSpc>
              <a:spcAft>
                <a:spcPts val="0"/>
              </a:spcAft>
              <a:defRPr sz="1000" b="0">
                <a:solidFill>
                  <a:srgbClr val="666666"/>
                </a:solidFill>
                <a:latin typeface="Arial"/>
              </a:defRPr>
            </a:pPr>
            <a:r>
              <a:t>Target: 43% lower cost-per-hire | 28% lower turnover | 5-pillar BFSI-specific framework</a:t>
            </a:r>
          </a:p>
        </p:txBody>
      </p:sp>
      <p:sp>
        <p:nvSpPr>
          <p:cNvPr id="16" name="Oval 15"/>
          <p:cNvSpPr/>
          <p:nvPr/>
        </p:nvSpPr>
        <p:spPr>
          <a:xfrm>
            <a:off x="548640" y="4709159"/>
            <a:ext cx="411480" cy="411480"/>
          </a:xfrm>
          <a:prstGeom prst="ellipse">
            <a:avLst/>
          </a:prstGeom>
          <a:solidFill>
            <a:srgbClr val="E84D0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a:lstStyle/>
          <a:p>
            <a:pPr algn="ctr">
              <a:defRPr sz="1400" b="1">
                <a:solidFill>
                  <a:srgbClr val="FFFFFF"/>
                </a:solidFill>
                <a:latin typeface="Arial"/>
              </a:defRPr>
            </a:pPr>
            <a:r>
              <a:t>5</a:t>
            </a:r>
          </a:p>
        </p:txBody>
      </p:sp>
      <p:sp>
        <p:nvSpPr>
          <p:cNvPr id="17" name="TextBox 16"/>
          <p:cNvSpPr txBox="1"/>
          <p:nvPr/>
        </p:nvSpPr>
        <p:spPr>
          <a:xfrm>
            <a:off x="1097280" y="4663440"/>
            <a:ext cx="10058400" cy="320040"/>
          </a:xfrm>
          <a:prstGeom prst="rect">
            <a:avLst/>
          </a:prstGeom>
          <a:noFill/>
        </p:spPr>
        <p:txBody>
          <a:bodyPr wrap="square">
            <a:spAutoFit/>
          </a:bodyPr>
          <a:lstStyle/>
          <a:p>
            <a:pPr algn="l">
              <a:lnSpc>
                <a:spcPts val="1495"/>
              </a:lnSpc>
              <a:spcAft>
                <a:spcPts val="0"/>
              </a:spcAft>
              <a:defRPr sz="1300" b="1">
                <a:solidFill>
                  <a:srgbClr val="1A1A1A"/>
                </a:solidFill>
                <a:latin typeface="Arial"/>
              </a:defRPr>
            </a:pPr>
            <a:r>
              <a:t>Adopt hybrid model: &lt;30% outsourced FTE by Year 3</a:t>
            </a:r>
          </a:p>
        </p:txBody>
      </p:sp>
      <p:sp>
        <p:nvSpPr>
          <p:cNvPr id="18" name="TextBox 17"/>
          <p:cNvSpPr txBox="1"/>
          <p:nvPr/>
        </p:nvSpPr>
        <p:spPr>
          <a:xfrm>
            <a:off x="1097280" y="4983479"/>
            <a:ext cx="10058400" cy="320040"/>
          </a:xfrm>
          <a:prstGeom prst="rect">
            <a:avLst/>
          </a:prstGeom>
          <a:noFill/>
        </p:spPr>
        <p:txBody>
          <a:bodyPr wrap="square">
            <a:spAutoFit/>
          </a:bodyPr>
          <a:lstStyle/>
          <a:p>
            <a:pPr algn="l">
              <a:lnSpc>
                <a:spcPts val="1150"/>
              </a:lnSpc>
              <a:spcAft>
                <a:spcPts val="0"/>
              </a:spcAft>
              <a:defRPr sz="1000" b="0">
                <a:solidFill>
                  <a:srgbClr val="666666"/>
                </a:solidFill>
                <a:latin typeface="Arial"/>
              </a:defRPr>
            </a:pPr>
            <a:r>
              <a:t>GCC-owned core (70-80%) | Selective outsourcing for non-core | BOT for initial de-risking</a:t>
            </a:r>
          </a:p>
        </p:txBody>
      </p:sp>
      <p:sp>
        <p:nvSpPr>
          <p:cNvPr id="19" name="Rectangle 18"/>
          <p:cNvSpPr/>
          <p:nvPr/>
        </p:nvSpPr>
        <p:spPr>
          <a:xfrm>
            <a:off x="548640" y="5349240"/>
            <a:ext cx="11064240" cy="548640"/>
          </a:xfrm>
          <a:prstGeom prst="rect">
            <a:avLst/>
          </a:prstGeom>
          <a:solidFill>
            <a:srgbClr val="FDEDED"/>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137160" tIns="50800"/>
          <a:lstStyle/>
          <a:p>
            <a:pPr algn="ctr">
              <a:defRPr sz="1100" b="1">
                <a:solidFill>
                  <a:srgbClr val="C0392B"/>
                </a:solidFill>
                <a:latin typeface="Arial"/>
              </a:defRPr>
            </a:pPr>
            <a:r>
              <a:t>COST OF INACTION: 10-15% salary inflation per year of delay. A 500 FTE GCC delayed by 1 year = $2-4M in additional costs. The window is 2025-2026.</a:t>
            </a:r>
          </a:p>
        </p:txBody>
      </p:sp>
      <p:sp>
        <p:nvSpPr>
          <p:cNvPr id="20" name="Rectangle 19"/>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These five moves deliver a fully operational multi-city BFSI GCC within 18 months at 20%+ savings by Year 3</a:t>
            </a:r>
          </a:p>
        </p:txBody>
      </p:sp>
      <p:sp>
        <p:nvSpPr>
          <p:cNvPr id="21" name="TextBox 20"/>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3657600" cy="274320"/>
          </a:xfrm>
          <a:prstGeom prst="rect">
            <a:avLst/>
          </a:prstGeom>
          <a:noFill/>
        </p:spPr>
        <p:txBody>
          <a:bodyPr wrap="square">
            <a:spAutoFit/>
          </a:bodyPr>
          <a:lstStyle/>
          <a:p>
            <a:pPr algn="l">
              <a:lnSpc>
                <a:spcPts val="1035"/>
              </a:lnSpc>
              <a:spcAft>
                <a:spcPts val="0"/>
              </a:spcAft>
              <a:defRPr sz="900" b="1">
                <a:solidFill>
                  <a:srgbClr val="E84D0E"/>
                </a:solidFill>
                <a:latin typeface="Arial"/>
              </a:defRPr>
            </a:pPr>
            <a:r>
              <a:t>APPENDIX</a:t>
            </a:r>
          </a:p>
        </p:txBody>
      </p:sp>
      <p:sp>
        <p:nvSpPr>
          <p:cNvPr id="3" name="TextBox 2"/>
          <p:cNvSpPr txBox="1"/>
          <p:nvPr/>
        </p:nvSpPr>
        <p:spPr>
          <a:xfrm>
            <a:off x="548640" y="274320"/>
            <a:ext cx="10972800" cy="731520"/>
          </a:xfrm>
          <a:prstGeom prst="rect">
            <a:avLst/>
          </a:prstGeom>
          <a:noFill/>
        </p:spPr>
        <p:txBody>
          <a:bodyPr wrap="square">
            <a:spAutoFit/>
          </a:bodyPr>
          <a:lstStyle/>
          <a:p>
            <a:pPr algn="l">
              <a:lnSpc>
                <a:spcPts val="2529"/>
              </a:lnSpc>
              <a:spcAft>
                <a:spcPts val="0"/>
              </a:spcAft>
              <a:defRPr sz="2200" b="1">
                <a:solidFill>
                  <a:srgbClr val="1A1A1A"/>
                </a:solidFill>
                <a:latin typeface="Arial"/>
              </a:defRPr>
            </a:pPr>
            <a:r>
              <a:t>Sources and Methodology</a:t>
            </a:r>
          </a:p>
        </p:txBody>
      </p:sp>
      <p:sp>
        <p:nvSpPr>
          <p:cNvPr id="4" name="Rectangle 3"/>
          <p:cNvSpPr/>
          <p:nvPr/>
        </p:nvSpPr>
        <p:spPr>
          <a:xfrm>
            <a:off x="548640" y="1051560"/>
            <a:ext cx="11064240" cy="34747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lIns="137160" tIns="25400"/>
          <a:lstStyle/>
          <a:p>
            <a:pPr algn="ctr">
              <a:defRPr sz="1200" b="1">
                <a:solidFill>
                  <a:srgbClr val="FFFFFF"/>
                </a:solidFill>
                <a:latin typeface="Arial"/>
              </a:defRPr>
            </a:pPr>
            <a:r>
              <a:t>44 SOURCES ACROSS 7 CATEGORIES  |  ALL DATA FROM 2024-2025 PUBLICATIONS</a:t>
            </a:r>
          </a:p>
        </p:txBody>
      </p:sp>
      <p:sp>
        <p:nvSpPr>
          <p:cNvPr id="5" name="Rectangle 4"/>
          <p:cNvSpPr/>
          <p:nvPr/>
        </p:nvSpPr>
        <p:spPr>
          <a:xfrm>
            <a:off x="548640" y="1508760"/>
            <a:ext cx="2651760" cy="13716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INDUSTRY REPORTS</a:t>
            </a:r>
          </a:p>
          <a:p>
            <a:pPr>
              <a:spcBef>
                <a:spcPts val="400"/>
              </a:spcBef>
              <a:defRPr sz="900">
                <a:solidFill>
                  <a:srgbClr val="1A1A1A"/>
                </a:solidFill>
                <a:latin typeface="Arial"/>
              </a:defRPr>
            </a:pPr>
            <a:r>
              <a:t>Zinnov, NASSCOM, ANSR,</a:t>
            </a:r>
            <a:br/>
            <a:r>
              <a:t>Everest Group, Flexiple, JLL, CBRE</a:t>
            </a:r>
          </a:p>
        </p:txBody>
      </p:sp>
      <p:sp>
        <p:nvSpPr>
          <p:cNvPr id="6" name="Rectangle 5"/>
          <p:cNvSpPr/>
          <p:nvPr/>
        </p:nvSpPr>
        <p:spPr>
          <a:xfrm>
            <a:off x="3429000" y="1508760"/>
            <a:ext cx="2651760" cy="13716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STRATEGY &amp; INNOVATION</a:t>
            </a:r>
          </a:p>
          <a:p>
            <a:pPr>
              <a:spcBef>
                <a:spcPts val="400"/>
              </a:spcBef>
              <a:defRPr sz="900">
                <a:solidFill>
                  <a:srgbClr val="1A1A1A"/>
                </a:solidFill>
                <a:latin typeface="Arial"/>
              </a:defRPr>
            </a:pPr>
            <a:r>
              <a:t>McKinsey, EY, Bain,</a:t>
            </a:r>
            <a:br/>
            <a:r>
              <a:t>Deloitte, Tholons</a:t>
            </a:r>
          </a:p>
        </p:txBody>
      </p:sp>
      <p:sp>
        <p:nvSpPr>
          <p:cNvPr id="7" name="Rectangle 6"/>
          <p:cNvSpPr/>
          <p:nvPr/>
        </p:nvSpPr>
        <p:spPr>
          <a:xfrm>
            <a:off x="6309359" y="1508760"/>
            <a:ext cx="2651760" cy="13716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COMPENSATION</a:t>
            </a:r>
          </a:p>
          <a:p>
            <a:pPr>
              <a:spcBef>
                <a:spcPts val="400"/>
              </a:spcBef>
              <a:defRPr sz="900">
                <a:solidFill>
                  <a:srgbClr val="1A1A1A"/>
                </a:solidFill>
                <a:latin typeface="Arial"/>
              </a:defRPr>
            </a:pPr>
            <a:r>
              <a:t>Aon Annual Salary Survey,</a:t>
            </a:r>
            <a:br/>
            <a:r>
              <a:t>Mercer TRS 2025, AIM Research</a:t>
            </a:r>
          </a:p>
        </p:txBody>
      </p:sp>
      <p:sp>
        <p:nvSpPr>
          <p:cNvPr id="8" name="Rectangle 7"/>
          <p:cNvSpPr/>
          <p:nvPr/>
        </p:nvSpPr>
        <p:spPr>
          <a:xfrm>
            <a:off x="9189719" y="1508760"/>
            <a:ext cx="2651760" cy="13716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EMPLOYER BRANDING</a:t>
            </a:r>
          </a:p>
          <a:p>
            <a:pPr>
              <a:spcBef>
                <a:spcPts val="400"/>
              </a:spcBef>
              <a:defRPr sz="900">
                <a:solidFill>
                  <a:srgbClr val="1A1A1A"/>
                </a:solidFill>
                <a:latin typeface="Arial"/>
              </a:defRPr>
            </a:pPr>
            <a:r>
              <a:t>Gartner EVP, Randstad REBR,</a:t>
            </a:r>
            <a:br/>
            <a:r>
              <a:t>Universum, AIHR, SPAG FINN</a:t>
            </a:r>
          </a:p>
        </p:txBody>
      </p:sp>
      <p:sp>
        <p:nvSpPr>
          <p:cNvPr id="9" name="Rectangle 8"/>
          <p:cNvSpPr/>
          <p:nvPr/>
        </p:nvSpPr>
        <p:spPr>
          <a:xfrm>
            <a:off x="548640" y="3337560"/>
            <a:ext cx="2651760" cy="13716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REAL ESTATE</a:t>
            </a:r>
          </a:p>
          <a:p>
            <a:pPr>
              <a:spcBef>
                <a:spcPts val="400"/>
              </a:spcBef>
              <a:defRPr sz="900">
                <a:solidFill>
                  <a:srgbClr val="1A1A1A"/>
                </a:solidFill>
                <a:latin typeface="Arial"/>
              </a:defRPr>
            </a:pPr>
            <a:r>
              <a:t>Anarock, Brigade Group,</a:t>
            </a:r>
            <a:br/>
            <a:r>
              <a:t>Cushman &amp; Wakefield</a:t>
            </a:r>
          </a:p>
        </p:txBody>
      </p:sp>
      <p:sp>
        <p:nvSpPr>
          <p:cNvPr id="10" name="Rectangle 9"/>
          <p:cNvSpPr/>
          <p:nvPr/>
        </p:nvSpPr>
        <p:spPr>
          <a:xfrm>
            <a:off x="3429000" y="3337560"/>
            <a:ext cx="2651760" cy="13716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REGULATORY</a:t>
            </a:r>
          </a:p>
          <a:p>
            <a:pPr>
              <a:spcBef>
                <a:spcPts val="400"/>
              </a:spcBef>
              <a:defRPr sz="900">
                <a:solidFill>
                  <a:srgbClr val="1A1A1A"/>
                </a:solidFill>
                <a:latin typeface="Arial"/>
              </a:defRPr>
            </a:pPr>
            <a:r>
              <a:t>FINMA, RBI, EU DORA,</a:t>
            </a:r>
            <a:br/>
            <a:r>
              <a:t>Securiti, PCI-DSS</a:t>
            </a:r>
          </a:p>
        </p:txBody>
      </p:sp>
      <p:sp>
        <p:nvSpPr>
          <p:cNvPr id="11" name="Rectangle 10"/>
          <p:cNvSpPr/>
          <p:nvPr/>
        </p:nvSpPr>
        <p:spPr>
          <a:xfrm>
            <a:off x="6309359" y="3337560"/>
            <a:ext cx="2651760" cy="13716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E84D0E"/>
                </a:solidFill>
                <a:latin typeface="Arial"/>
              </a:defRPr>
            </a:pPr>
            <a:r>
              <a:t>GOVT POLICIES</a:t>
            </a:r>
          </a:p>
          <a:p>
            <a:pPr>
              <a:spcBef>
                <a:spcPts val="400"/>
              </a:spcBef>
              <a:defRPr sz="900">
                <a:solidFill>
                  <a:srgbClr val="1A1A1A"/>
                </a:solidFill>
                <a:latin typeface="Arial"/>
              </a:defRPr>
            </a:pPr>
            <a:r>
              <a:t>Karnataka, Telangana,</a:t>
            </a:r>
            <a:br/>
            <a:r>
              <a:t>Maharashtra, UP, Haryana</a:t>
            </a:r>
          </a:p>
        </p:txBody>
      </p:sp>
      <p:sp>
        <p:nvSpPr>
          <p:cNvPr id="12" name="Rectangle 11"/>
          <p:cNvSpPr/>
          <p:nvPr/>
        </p:nvSpPr>
        <p:spPr>
          <a:xfrm>
            <a:off x="548640" y="4663440"/>
            <a:ext cx="11064240" cy="6858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000" b="1">
                <a:solidFill>
                  <a:srgbClr val="2C3E50"/>
                </a:solidFill>
                <a:latin typeface="Arial"/>
              </a:defRPr>
            </a:pPr>
            <a:r>
              <a:t>METHODOLOGY</a:t>
            </a:r>
          </a:p>
          <a:p>
            <a:pPr>
              <a:spcBef>
                <a:spcPts val="400"/>
              </a:spcBef>
              <a:defRPr sz="900">
                <a:solidFill>
                  <a:srgbClr val="1A1A1A"/>
                </a:solidFill>
                <a:latin typeface="Arial"/>
              </a:defRPr>
            </a:pPr>
            <a:r>
              <a:t>All statistics sourced from published research (2024-2025). City scorecards use BFSI-specific weights, not equal weights. Cost indices are relative (Bangalore = 100). Every number in this deck has a source.</a:t>
            </a:r>
          </a:p>
        </p:txBody>
      </p:sp>
      <p:sp>
        <p:nvSpPr>
          <p:cNvPr id="13" name="Rectangle 12"/>
          <p:cNvSpPr/>
          <p:nvPr/>
        </p:nvSpPr>
        <p:spPr>
          <a:xfrm>
            <a:off x="0" y="5989320"/>
            <a:ext cx="12191695"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50800"/>
          <a:lstStyle/>
          <a:p>
            <a:pPr algn="l">
              <a:defRPr sz="1100" b="1">
                <a:solidFill>
                  <a:srgbClr val="1A1A1A"/>
                </a:solidFill>
                <a:latin typeface="Arial"/>
              </a:defRPr>
            </a:pPr>
            <a:r>
              <a:t>SO WHAT: Every number in this deck has a source — this is evidence-based strategy, not opinion</a:t>
            </a:r>
          </a:p>
        </p:txBody>
      </p:sp>
      <p:sp>
        <p:nvSpPr>
          <p:cNvPr id="14" name="TextBox 13"/>
          <p:cNvSpPr txBox="1"/>
          <p:nvPr/>
        </p:nvSpPr>
        <p:spPr>
          <a:xfrm>
            <a:off x="11247120" y="6492240"/>
            <a:ext cx="731520" cy="274320"/>
          </a:xfrm>
          <a:prstGeom prst="rect">
            <a:avLst/>
          </a:prstGeom>
          <a:noFill/>
        </p:spPr>
        <p:txBody>
          <a:bodyPr wrap="square">
            <a:spAutoFit/>
          </a:bodyPr>
          <a:lstStyle/>
          <a:p>
            <a:pPr algn="r">
              <a:lnSpc>
                <a:spcPts val="919"/>
              </a:lnSpc>
              <a:spcAft>
                <a:spcPts val="0"/>
              </a:spcAft>
              <a:defRPr sz="800" b="1">
                <a:solidFill>
                  <a:srgbClr val="666666"/>
                </a:solidFill>
                <a:latin typeface="Arial"/>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