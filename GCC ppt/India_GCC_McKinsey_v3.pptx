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E84D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14400" y="1828800"/>
            <a:ext cx="1097280" cy="45720"/>
          </a:xfrm>
          <a:prstGeom prst="rect">
            <a:avLst/>
          </a:prstGeom>
          <a:solidFill>
            <a:srgbClr val="E84D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103120"/>
            <a:ext cx="10058400" cy="914400"/>
          </a:xfrm>
          <a:prstGeom prst="rect">
            <a:avLst/>
          </a:prstGeom>
          <a:noFill/>
        </p:spPr>
        <p:txBody>
          <a:bodyPr wrap="square">
            <a:spAutoFit/>
          </a:bodyPr>
          <a:lstStyle/>
          <a:p>
            <a:pPr algn="l">
              <a:lnSpc>
                <a:spcPts val="5460"/>
              </a:lnSpc>
              <a:spcAft>
                <a:spcPts val="0"/>
              </a:spcAft>
              <a:defRPr sz="4200" b="1">
                <a:solidFill>
                  <a:srgbClr val="FFFFFF"/>
                </a:solidFill>
                <a:latin typeface="Arial"/>
              </a:defRPr>
            </a:pPr>
            <a:r>
              <a:t>India GCC Landscape</a:t>
            </a:r>
          </a:p>
        </p:txBody>
      </p:sp>
      <p:sp>
        <p:nvSpPr>
          <p:cNvPr id="6" name="TextBox 5"/>
          <p:cNvSpPr txBox="1"/>
          <p:nvPr/>
        </p:nvSpPr>
        <p:spPr>
          <a:xfrm>
            <a:off x="914400" y="3017520"/>
            <a:ext cx="10058400" cy="640080"/>
          </a:xfrm>
          <a:prstGeom prst="rect">
            <a:avLst/>
          </a:prstGeom>
          <a:noFill/>
        </p:spPr>
        <p:txBody>
          <a:bodyPr wrap="square">
            <a:spAutoFit/>
          </a:bodyPr>
          <a:lstStyle/>
          <a:p>
            <a:pPr algn="l">
              <a:lnSpc>
                <a:spcPts val="3380"/>
              </a:lnSpc>
              <a:spcAft>
                <a:spcPts val="0"/>
              </a:spcAft>
              <a:defRPr sz="2600" b="0">
                <a:solidFill>
                  <a:srgbClr val="E84D0E"/>
                </a:solidFill>
                <a:latin typeface="Arial"/>
              </a:defRPr>
            </a:pPr>
            <a:r>
              <a:t>Strategic Analysis for Financial Services</a:t>
            </a:r>
          </a:p>
        </p:txBody>
      </p:sp>
      <p:sp>
        <p:nvSpPr>
          <p:cNvPr id="7" name="TextBox 6"/>
          <p:cNvSpPr txBox="1"/>
          <p:nvPr/>
        </p:nvSpPr>
        <p:spPr>
          <a:xfrm>
            <a:off x="914400" y="4023360"/>
            <a:ext cx="9144000" cy="457200"/>
          </a:xfrm>
          <a:prstGeom prst="rect">
            <a:avLst/>
          </a:prstGeom>
          <a:noFill/>
        </p:spPr>
        <p:txBody>
          <a:bodyPr wrap="square">
            <a:spAutoFit/>
          </a:bodyPr>
          <a:lstStyle/>
          <a:p>
            <a:pPr algn="l">
              <a:lnSpc>
                <a:spcPts val="1690"/>
              </a:lnSpc>
              <a:spcAft>
                <a:spcPts val="0"/>
              </a:spcAft>
              <a:defRPr sz="1300" b="0">
                <a:solidFill>
                  <a:srgbClr val="AAAAAA"/>
                </a:solidFill>
                <a:latin typeface="Arial"/>
              </a:defRPr>
            </a:pPr>
            <a:r>
              <a:t>Location Strategy   |   Operating Model   |   Talent Playbook</a:t>
            </a:r>
          </a:p>
        </p:txBody>
      </p:sp>
      <p:sp>
        <p:nvSpPr>
          <p:cNvPr id="8" name="TextBox 7"/>
          <p:cNvSpPr txBox="1"/>
          <p:nvPr/>
        </p:nvSpPr>
        <p:spPr>
          <a:xfrm>
            <a:off x="914400" y="5120640"/>
            <a:ext cx="9144000" cy="365760"/>
          </a:xfrm>
          <a:prstGeom prst="rect">
            <a:avLst/>
          </a:prstGeom>
          <a:noFill/>
        </p:spPr>
        <p:txBody>
          <a:bodyPr wrap="square">
            <a:spAutoFit/>
          </a:bodyPr>
          <a:lstStyle/>
          <a:p>
            <a:pPr algn="l">
              <a:lnSpc>
                <a:spcPts val="1430"/>
              </a:lnSpc>
              <a:spcAft>
                <a:spcPts val="0"/>
              </a:spcAft>
              <a:defRPr sz="1100" b="0">
                <a:solidFill>
                  <a:srgbClr val="777777"/>
                </a:solidFill>
                <a:latin typeface="Arial"/>
              </a:defRPr>
            </a:pPr>
            <a:r>
              <a:t>Board-Ready Strategy Document   |   2025-2026 Decision Window</a:t>
            </a:r>
          </a:p>
        </p:txBody>
      </p:sp>
      <p:sp>
        <p:nvSpPr>
          <p:cNvPr id="9" name="Rectangle 8"/>
          <p:cNvSpPr/>
          <p:nvPr/>
        </p:nvSpPr>
        <p:spPr>
          <a:xfrm>
            <a:off x="0" y="6803136"/>
            <a:ext cx="12191695" cy="54864"/>
          </a:xfrm>
          <a:prstGeom prst="rect">
            <a:avLst/>
          </a:prstGeom>
          <a:solidFill>
            <a:srgbClr val="E84D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137160"/>
            <a:ext cx="4572000" cy="228600"/>
          </a:xfrm>
          <a:prstGeom prst="rect">
            <a:avLst/>
          </a:prstGeom>
          <a:noFill/>
        </p:spPr>
        <p:txBody>
          <a:bodyPr wrap="square">
            <a:spAutoFit/>
          </a:bodyPr>
          <a:lstStyle/>
          <a:p>
            <a:pPr algn="l">
              <a:lnSpc>
                <a:spcPts val="1170"/>
              </a:lnSpc>
              <a:spcAft>
                <a:spcPts val="0"/>
              </a:spcAft>
              <a:defRPr sz="900" b="1">
                <a:solidFill>
                  <a:srgbClr val="E84D0E"/>
                </a:solidFill>
                <a:latin typeface="Arial"/>
              </a:defRPr>
            </a:pPr>
            <a:r>
              <a:t>ACT I: THE OPPORTUNITY</a:t>
            </a:r>
          </a:p>
        </p:txBody>
      </p:sp>
      <p:sp>
        <p:nvSpPr>
          <p:cNvPr id="3" name="TextBox 2"/>
          <p:cNvSpPr txBox="1"/>
          <p:nvPr/>
        </p:nvSpPr>
        <p:spPr>
          <a:xfrm>
            <a:off x="640080" y="320040"/>
            <a:ext cx="10881360" cy="822960"/>
          </a:xfrm>
          <a:prstGeom prst="rect">
            <a:avLst/>
          </a:prstGeom>
          <a:noFill/>
        </p:spPr>
        <p:txBody>
          <a:bodyPr wrap="square">
            <a:spAutoFit/>
          </a:bodyPr>
          <a:lstStyle/>
          <a:p>
            <a:pPr algn="l">
              <a:lnSpc>
                <a:spcPts val="3380"/>
              </a:lnSpc>
              <a:spcAft>
                <a:spcPts val="0"/>
              </a:spcAft>
              <a:defRPr sz="2600" b="1">
                <a:solidFill>
                  <a:srgbClr val="1A1A1A"/>
                </a:solidFill>
                <a:latin typeface="Arial"/>
              </a:defRPr>
            </a:pPr>
            <a:r>
              <a:t>The India GCC Market Has Reached an Inflection Point</a:t>
            </a:r>
          </a:p>
        </p:txBody>
      </p:sp>
      <p:sp>
        <p:nvSpPr>
          <p:cNvPr id="4" name="Rectangle 3"/>
          <p:cNvSpPr/>
          <p:nvPr/>
        </p:nvSpPr>
        <p:spPr>
          <a:xfrm>
            <a:off x="640080" y="1371600"/>
            <a:ext cx="1691640" cy="1051560"/>
          </a:xfrm>
          <a:prstGeom prst="rect">
            <a:avLst/>
          </a:prstGeom>
          <a:solidFill>
            <a:srgbClr val="F5F5F5"/>
          </a:solidFill>
          <a:ln w="9525">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19" y="1444752"/>
            <a:ext cx="1508760" cy="502920"/>
          </a:xfrm>
          <a:prstGeom prst="rect">
            <a:avLst/>
          </a:prstGeom>
          <a:noFill/>
        </p:spPr>
        <p:txBody>
          <a:bodyPr wrap="square">
            <a:spAutoFit/>
          </a:bodyPr>
          <a:lstStyle/>
          <a:p>
            <a:pPr algn="ctr">
              <a:lnSpc>
                <a:spcPts val="3640"/>
              </a:lnSpc>
              <a:spcAft>
                <a:spcPts val="0"/>
              </a:spcAft>
              <a:defRPr sz="2800" b="1">
                <a:solidFill>
                  <a:srgbClr val="E84D0E"/>
                </a:solidFill>
                <a:latin typeface="Arial"/>
              </a:defRPr>
            </a:pPr>
            <a:r>
              <a:t>1,800+</a:t>
            </a:r>
          </a:p>
        </p:txBody>
      </p:sp>
      <p:sp>
        <p:nvSpPr>
          <p:cNvPr id="6" name="TextBox 5"/>
          <p:cNvSpPr txBox="1"/>
          <p:nvPr/>
        </p:nvSpPr>
        <p:spPr>
          <a:xfrm>
            <a:off x="731519" y="1965960"/>
            <a:ext cx="1508760" cy="411480"/>
          </a:xfrm>
          <a:prstGeom prst="rect">
            <a:avLst/>
          </a:prstGeom>
          <a:noFill/>
        </p:spPr>
        <p:txBody>
          <a:bodyPr wrap="square">
            <a:spAutoFit/>
          </a:bodyPr>
          <a:lstStyle/>
          <a:p>
            <a:pPr algn="ctr">
              <a:lnSpc>
                <a:spcPts val="960"/>
              </a:lnSpc>
              <a:spcAft>
                <a:spcPts val="0"/>
              </a:spcAft>
              <a:defRPr sz="800" b="0">
                <a:solidFill>
                  <a:srgbClr val="666666"/>
                </a:solidFill>
                <a:latin typeface="Arial"/>
              </a:defRPr>
            </a:pPr>
            <a:r>
              <a:t>GCCs in India</a:t>
            </a:r>
          </a:p>
        </p:txBody>
      </p:sp>
      <p:sp>
        <p:nvSpPr>
          <p:cNvPr id="7" name="Rectangle 6"/>
          <p:cNvSpPr/>
          <p:nvPr/>
        </p:nvSpPr>
        <p:spPr>
          <a:xfrm>
            <a:off x="2441448" y="1371600"/>
            <a:ext cx="1691640" cy="1051560"/>
          </a:xfrm>
          <a:prstGeom prst="rect">
            <a:avLst/>
          </a:prstGeom>
          <a:solidFill>
            <a:srgbClr val="F5F5F5"/>
          </a:solidFill>
          <a:ln w="9525">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532888" y="1444752"/>
            <a:ext cx="1508760" cy="502920"/>
          </a:xfrm>
          <a:prstGeom prst="rect">
            <a:avLst/>
          </a:prstGeom>
          <a:noFill/>
        </p:spPr>
        <p:txBody>
          <a:bodyPr wrap="square">
            <a:spAutoFit/>
          </a:bodyPr>
          <a:lstStyle/>
          <a:p>
            <a:pPr algn="ctr">
              <a:lnSpc>
                <a:spcPts val="3640"/>
              </a:lnSpc>
              <a:spcAft>
                <a:spcPts val="0"/>
              </a:spcAft>
              <a:defRPr sz="2800" b="1">
                <a:solidFill>
                  <a:srgbClr val="E84D0E"/>
                </a:solidFill>
                <a:latin typeface="Arial"/>
              </a:defRPr>
            </a:pPr>
            <a:r>
              <a:t>$65B</a:t>
            </a:r>
          </a:p>
        </p:txBody>
      </p:sp>
      <p:sp>
        <p:nvSpPr>
          <p:cNvPr id="9" name="TextBox 8"/>
          <p:cNvSpPr txBox="1"/>
          <p:nvPr/>
        </p:nvSpPr>
        <p:spPr>
          <a:xfrm>
            <a:off x="2532888" y="1965960"/>
            <a:ext cx="1508760" cy="411480"/>
          </a:xfrm>
          <a:prstGeom prst="rect">
            <a:avLst/>
          </a:prstGeom>
          <a:noFill/>
        </p:spPr>
        <p:txBody>
          <a:bodyPr wrap="square">
            <a:spAutoFit/>
          </a:bodyPr>
          <a:lstStyle/>
          <a:p>
            <a:pPr algn="ctr">
              <a:lnSpc>
                <a:spcPts val="960"/>
              </a:lnSpc>
              <a:spcAft>
                <a:spcPts val="0"/>
              </a:spcAft>
              <a:defRPr sz="800" b="0">
                <a:solidFill>
                  <a:srgbClr val="666666"/>
                </a:solidFill>
                <a:latin typeface="Arial"/>
              </a:defRPr>
            </a:pPr>
            <a:r>
              <a:t>Annual Revenue</a:t>
            </a:r>
          </a:p>
        </p:txBody>
      </p:sp>
      <p:sp>
        <p:nvSpPr>
          <p:cNvPr id="10" name="Rectangle 9"/>
          <p:cNvSpPr/>
          <p:nvPr/>
        </p:nvSpPr>
        <p:spPr>
          <a:xfrm>
            <a:off x="4242816" y="1371600"/>
            <a:ext cx="1691640" cy="1051560"/>
          </a:xfrm>
          <a:prstGeom prst="rect">
            <a:avLst/>
          </a:prstGeom>
          <a:solidFill>
            <a:srgbClr val="F5F5F5"/>
          </a:solidFill>
          <a:ln w="9525">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34256" y="1444752"/>
            <a:ext cx="1508760" cy="502920"/>
          </a:xfrm>
          <a:prstGeom prst="rect">
            <a:avLst/>
          </a:prstGeom>
          <a:noFill/>
        </p:spPr>
        <p:txBody>
          <a:bodyPr wrap="square">
            <a:spAutoFit/>
          </a:bodyPr>
          <a:lstStyle/>
          <a:p>
            <a:pPr algn="ctr">
              <a:lnSpc>
                <a:spcPts val="3640"/>
              </a:lnSpc>
              <a:spcAft>
                <a:spcPts val="0"/>
              </a:spcAft>
              <a:defRPr sz="2800" b="1">
                <a:solidFill>
                  <a:srgbClr val="E84D0E"/>
                </a:solidFill>
                <a:latin typeface="Arial"/>
              </a:defRPr>
            </a:pPr>
            <a:r>
              <a:t>230+</a:t>
            </a:r>
          </a:p>
        </p:txBody>
      </p:sp>
      <p:sp>
        <p:nvSpPr>
          <p:cNvPr id="12" name="TextBox 11"/>
          <p:cNvSpPr txBox="1"/>
          <p:nvPr/>
        </p:nvSpPr>
        <p:spPr>
          <a:xfrm>
            <a:off x="4334256" y="1965960"/>
            <a:ext cx="1508760" cy="411480"/>
          </a:xfrm>
          <a:prstGeom prst="rect">
            <a:avLst/>
          </a:prstGeom>
          <a:noFill/>
        </p:spPr>
        <p:txBody>
          <a:bodyPr wrap="square">
            <a:spAutoFit/>
          </a:bodyPr>
          <a:lstStyle/>
          <a:p>
            <a:pPr algn="ctr">
              <a:lnSpc>
                <a:spcPts val="960"/>
              </a:lnSpc>
              <a:spcAft>
                <a:spcPts val="0"/>
              </a:spcAft>
              <a:defRPr sz="800" b="0">
                <a:solidFill>
                  <a:srgbClr val="666666"/>
                </a:solidFill>
                <a:latin typeface="Arial"/>
              </a:defRPr>
            </a:pPr>
            <a:r>
              <a:t>BFSI GCCs</a:t>
            </a:r>
          </a:p>
        </p:txBody>
      </p:sp>
      <p:sp>
        <p:nvSpPr>
          <p:cNvPr id="13" name="Rectangle 12"/>
          <p:cNvSpPr/>
          <p:nvPr/>
        </p:nvSpPr>
        <p:spPr>
          <a:xfrm>
            <a:off x="6044184" y="1371600"/>
            <a:ext cx="1691640" cy="1051560"/>
          </a:xfrm>
          <a:prstGeom prst="rect">
            <a:avLst/>
          </a:prstGeom>
          <a:solidFill>
            <a:srgbClr val="F5F5F5"/>
          </a:solidFill>
          <a:ln w="9525">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35624" y="1444752"/>
            <a:ext cx="1508760" cy="502920"/>
          </a:xfrm>
          <a:prstGeom prst="rect">
            <a:avLst/>
          </a:prstGeom>
          <a:noFill/>
        </p:spPr>
        <p:txBody>
          <a:bodyPr wrap="square">
            <a:spAutoFit/>
          </a:bodyPr>
          <a:lstStyle/>
          <a:p>
            <a:pPr algn="ctr">
              <a:lnSpc>
                <a:spcPts val="3640"/>
              </a:lnSpc>
              <a:spcAft>
                <a:spcPts val="0"/>
              </a:spcAft>
              <a:defRPr sz="2800" b="1">
                <a:solidFill>
                  <a:srgbClr val="E84D0E"/>
                </a:solidFill>
                <a:latin typeface="Arial"/>
              </a:defRPr>
            </a:pPr>
            <a:r>
              <a:t>$40.4B</a:t>
            </a:r>
          </a:p>
        </p:txBody>
      </p:sp>
      <p:sp>
        <p:nvSpPr>
          <p:cNvPr id="15" name="TextBox 14"/>
          <p:cNvSpPr txBox="1"/>
          <p:nvPr/>
        </p:nvSpPr>
        <p:spPr>
          <a:xfrm>
            <a:off x="6135624" y="1965960"/>
            <a:ext cx="1508760" cy="411480"/>
          </a:xfrm>
          <a:prstGeom prst="rect">
            <a:avLst/>
          </a:prstGeom>
          <a:noFill/>
        </p:spPr>
        <p:txBody>
          <a:bodyPr wrap="square">
            <a:spAutoFit/>
          </a:bodyPr>
          <a:lstStyle/>
          <a:p>
            <a:pPr algn="ctr">
              <a:lnSpc>
                <a:spcPts val="960"/>
              </a:lnSpc>
              <a:spcAft>
                <a:spcPts val="0"/>
              </a:spcAft>
              <a:defRPr sz="800" b="0">
                <a:solidFill>
                  <a:srgbClr val="666666"/>
                </a:solidFill>
                <a:latin typeface="Arial"/>
              </a:defRPr>
            </a:pPr>
            <a:r>
              <a:t>BFSI Market</a:t>
            </a:r>
          </a:p>
        </p:txBody>
      </p:sp>
      <p:sp>
        <p:nvSpPr>
          <p:cNvPr id="16" name="Rectangle 15"/>
          <p:cNvSpPr/>
          <p:nvPr/>
        </p:nvSpPr>
        <p:spPr>
          <a:xfrm>
            <a:off x="7845552" y="1371600"/>
            <a:ext cx="1691640" cy="1051560"/>
          </a:xfrm>
          <a:prstGeom prst="rect">
            <a:avLst/>
          </a:prstGeom>
          <a:solidFill>
            <a:srgbClr val="F5F5F5"/>
          </a:solidFill>
          <a:ln w="9525">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36992" y="1444752"/>
            <a:ext cx="1508760" cy="502920"/>
          </a:xfrm>
          <a:prstGeom prst="rect">
            <a:avLst/>
          </a:prstGeom>
          <a:noFill/>
        </p:spPr>
        <p:txBody>
          <a:bodyPr wrap="square">
            <a:spAutoFit/>
          </a:bodyPr>
          <a:lstStyle/>
          <a:p>
            <a:pPr algn="ctr">
              <a:lnSpc>
                <a:spcPts val="3640"/>
              </a:lnSpc>
              <a:spcAft>
                <a:spcPts val="0"/>
              </a:spcAft>
              <a:defRPr sz="2800" b="1">
                <a:solidFill>
                  <a:srgbClr val="E84D0E"/>
                </a:solidFill>
                <a:latin typeface="Arial"/>
              </a:defRPr>
            </a:pPr>
            <a:r>
              <a:t>2,400+</a:t>
            </a:r>
          </a:p>
        </p:txBody>
      </p:sp>
      <p:sp>
        <p:nvSpPr>
          <p:cNvPr id="18" name="TextBox 17"/>
          <p:cNvSpPr txBox="1"/>
          <p:nvPr/>
        </p:nvSpPr>
        <p:spPr>
          <a:xfrm>
            <a:off x="7936992" y="1965960"/>
            <a:ext cx="1508760" cy="411480"/>
          </a:xfrm>
          <a:prstGeom prst="rect">
            <a:avLst/>
          </a:prstGeom>
          <a:noFill/>
        </p:spPr>
        <p:txBody>
          <a:bodyPr wrap="square">
            <a:spAutoFit/>
          </a:bodyPr>
          <a:lstStyle/>
          <a:p>
            <a:pPr algn="ctr">
              <a:lnSpc>
                <a:spcPts val="960"/>
              </a:lnSpc>
              <a:spcAft>
                <a:spcPts val="0"/>
              </a:spcAft>
              <a:defRPr sz="800" b="0">
                <a:solidFill>
                  <a:srgbClr val="666666"/>
                </a:solidFill>
                <a:latin typeface="Arial"/>
              </a:defRPr>
            </a:pPr>
            <a:r>
              <a:t>GCCs by 2030</a:t>
            </a:r>
          </a:p>
        </p:txBody>
      </p:sp>
      <p:sp>
        <p:nvSpPr>
          <p:cNvPr id="19" name="Rectangle 18"/>
          <p:cNvSpPr/>
          <p:nvPr/>
        </p:nvSpPr>
        <p:spPr>
          <a:xfrm>
            <a:off x="9646920" y="1371600"/>
            <a:ext cx="1691640" cy="1051560"/>
          </a:xfrm>
          <a:prstGeom prst="rect">
            <a:avLst/>
          </a:prstGeom>
          <a:solidFill>
            <a:srgbClr val="F5F5F5"/>
          </a:solidFill>
          <a:ln w="9525">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38360" y="1444752"/>
            <a:ext cx="1508760" cy="502920"/>
          </a:xfrm>
          <a:prstGeom prst="rect">
            <a:avLst/>
          </a:prstGeom>
          <a:noFill/>
        </p:spPr>
        <p:txBody>
          <a:bodyPr wrap="square">
            <a:spAutoFit/>
          </a:bodyPr>
          <a:lstStyle/>
          <a:p>
            <a:pPr algn="ctr">
              <a:lnSpc>
                <a:spcPts val="3640"/>
              </a:lnSpc>
              <a:spcAft>
                <a:spcPts val="0"/>
              </a:spcAft>
              <a:defRPr sz="2800" b="1">
                <a:solidFill>
                  <a:srgbClr val="E84D0E"/>
                </a:solidFill>
                <a:latin typeface="Arial"/>
              </a:defRPr>
            </a:pPr>
            <a:r>
              <a:t>$100B</a:t>
            </a:r>
          </a:p>
        </p:txBody>
      </p:sp>
      <p:sp>
        <p:nvSpPr>
          <p:cNvPr id="21" name="TextBox 20"/>
          <p:cNvSpPr txBox="1"/>
          <p:nvPr/>
        </p:nvSpPr>
        <p:spPr>
          <a:xfrm>
            <a:off x="9738360" y="1965960"/>
            <a:ext cx="1508760" cy="411480"/>
          </a:xfrm>
          <a:prstGeom prst="rect">
            <a:avLst/>
          </a:prstGeom>
          <a:noFill/>
        </p:spPr>
        <p:txBody>
          <a:bodyPr wrap="square">
            <a:spAutoFit/>
          </a:bodyPr>
          <a:lstStyle/>
          <a:p>
            <a:pPr algn="ctr">
              <a:lnSpc>
                <a:spcPts val="960"/>
              </a:lnSpc>
              <a:spcAft>
                <a:spcPts val="0"/>
              </a:spcAft>
              <a:defRPr sz="800" b="0">
                <a:solidFill>
                  <a:srgbClr val="666666"/>
                </a:solidFill>
                <a:latin typeface="Arial"/>
              </a:defRPr>
            </a:pPr>
            <a:r>
              <a:t>Revenue by 2030</a:t>
            </a:r>
          </a:p>
        </p:txBody>
      </p:sp>
      <p:sp>
        <p:nvSpPr>
          <p:cNvPr id="22" name="Rectangle 21"/>
          <p:cNvSpPr/>
          <p:nvPr/>
        </p:nvSpPr>
        <p:spPr>
          <a:xfrm>
            <a:off x="640080" y="2606040"/>
            <a:ext cx="1088136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0080" y="2743200"/>
            <a:ext cx="10881360" cy="320040"/>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lIns="137160" tIns="25400"/>
          <a:lstStyle/>
          <a:p>
            <a:pPr algn="ctr">
              <a:defRPr sz="1100" b="1">
                <a:solidFill>
                  <a:srgbClr val="FFFFFF"/>
                </a:solidFill>
                <a:latin typeface="Arial"/>
              </a:defRPr>
            </a:pPr>
            <a:r>
              <a:t>BFSI: THE LARGEST GCC VERTICAL</a:t>
            </a:r>
          </a:p>
        </p:txBody>
      </p:sp>
      <p:sp>
        <p:nvSpPr>
          <p:cNvPr id="24" name="TextBox 23"/>
          <p:cNvSpPr txBox="1"/>
          <p:nvPr/>
        </p:nvSpPr>
        <p:spPr>
          <a:xfrm>
            <a:off x="731519" y="3154680"/>
            <a:ext cx="10698480" cy="2194560"/>
          </a:xfrm>
          <a:prstGeom prst="rect">
            <a:avLst/>
          </a:prstGeom>
          <a:noFill/>
        </p:spPr>
        <p:txBody>
          <a:bodyPr wrap="square">
            <a:spAutoFit/>
          </a:bodyPr>
          <a:lstStyle/>
          <a:p>
            <a:pPr>
              <a:lnSpc>
                <a:spcPts val="1595"/>
              </a:lnSpc>
              <a:spcAft>
                <a:spcPts val="600"/>
              </a:spcAft>
              <a:defRPr sz="1100">
                <a:solidFill>
                  <a:srgbClr val="4A4A4A"/>
                </a:solidFill>
                <a:latin typeface="Arial"/>
              </a:defRPr>
            </a:pPr>
            <a:r>
              <a:t>• BFSI accounts for 35% of GCC market share with 450K+ professionals</a:t>
            </a:r>
          </a:p>
          <a:p>
            <a:pPr>
              <a:lnSpc>
                <a:spcPts val="1595"/>
              </a:lnSpc>
              <a:spcAft>
                <a:spcPts val="600"/>
              </a:spcAft>
              <a:defRPr sz="1100">
                <a:solidFill>
                  <a:srgbClr val="4A4A4A"/>
                </a:solidFill>
                <a:latin typeface="Arial"/>
              </a:defRPr>
            </a:pPr>
            <a:r>
              <a:t>• BFSI GCC market growing at 12.54% CAGR ($40.4B → $132.2B by 2032)</a:t>
            </a:r>
          </a:p>
          <a:p>
            <a:pPr>
              <a:lnSpc>
                <a:spcPts val="1595"/>
              </a:lnSpc>
              <a:spcAft>
                <a:spcPts val="600"/>
              </a:spcAft>
              <a:defRPr sz="1100">
                <a:solidFill>
                  <a:srgbClr val="4A4A4A"/>
                </a:solidFill>
                <a:latin typeface="Arial"/>
              </a:defRPr>
            </a:pPr>
            <a:r>
              <a:t>• 63% of global CXOs say GCCs are central to innovation strategy</a:t>
            </a:r>
          </a:p>
          <a:p>
            <a:pPr>
              <a:lnSpc>
                <a:spcPts val="1595"/>
              </a:lnSpc>
              <a:spcAft>
                <a:spcPts val="600"/>
              </a:spcAft>
              <a:defRPr sz="1100">
                <a:solidFill>
                  <a:srgbClr val="4A4A4A"/>
                </a:solidFill>
                <a:latin typeface="Arial"/>
              </a:defRPr>
            </a:pPr>
            <a:r>
              <a:t>• 80% of new GCCs prioritize AI/ML capabilities</a:t>
            </a:r>
          </a:p>
          <a:p>
            <a:pPr>
              <a:lnSpc>
                <a:spcPts val="1595"/>
              </a:lnSpc>
              <a:spcAft>
                <a:spcPts val="600"/>
              </a:spcAft>
              <a:defRPr sz="1100">
                <a:solidFill>
                  <a:srgbClr val="4A4A4A"/>
                </a:solidFill>
                <a:latin typeface="Arial"/>
              </a:defRPr>
            </a:pPr>
            <a:r>
              <a:t>• GCC AI investment growing at 52% CAGR</a:t>
            </a:r>
          </a:p>
        </p:txBody>
      </p:sp>
      <p:sp>
        <p:nvSpPr>
          <p:cNvPr id="25" name="Rectangle 24"/>
          <p:cNvSpPr/>
          <p:nvPr/>
        </p:nvSpPr>
        <p:spPr>
          <a:xfrm>
            <a:off x="640080" y="5303520"/>
            <a:ext cx="5303520" cy="640080"/>
          </a:xfrm>
          <a:prstGeom prst="rect">
            <a:avLst/>
          </a:prstGeom>
          <a:solidFill>
            <a:srgbClr val="FDEDED"/>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rIns="109728"/>
          <a:lstStyle/>
          <a:p>
            <a:pPr algn="ctr">
              <a:defRPr sz="1000" b="1">
                <a:solidFill>
                  <a:srgbClr val="C0392B"/>
                </a:solidFill>
                <a:latin typeface="Arial"/>
              </a:defRPr>
            </a:pPr>
            <a:r>
              <a:t>⚠  DECISION WINDOW: 2025-2026</a:t>
            </a:r>
          </a:p>
          <a:p>
            <a:pPr>
              <a:lnSpc>
                <a:spcPts val="1215"/>
              </a:lnSpc>
              <a:spcBef>
                <a:spcPts val="400"/>
              </a:spcBef>
              <a:defRPr sz="900">
                <a:solidFill>
                  <a:srgbClr val="4A4A4A"/>
                </a:solidFill>
                <a:latin typeface="Arial"/>
              </a:defRPr>
            </a:pPr>
            <a:r>
              <a:t>DORA enforcement (Jan 2025) + 10.4% salary inflation make this the optimal entry window. Delay = 10-15% higher costs per year.</a:t>
            </a:r>
          </a:p>
        </p:txBody>
      </p:sp>
      <p:sp>
        <p:nvSpPr>
          <p:cNvPr id="26" name="Rectangle 25"/>
          <p:cNvSpPr/>
          <p:nvPr/>
        </p:nvSpPr>
        <p:spPr>
          <a:xfrm>
            <a:off x="0" y="6080760"/>
            <a:ext cx="12191695" cy="36576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wrap="square" lIns="640080" tIns="63500"/>
          <a:lstStyle/>
          <a:p>
            <a:pPr algn="l">
              <a:defRPr sz="1000" b="1">
                <a:solidFill>
                  <a:srgbClr val="2D2D2D"/>
                </a:solidFill>
                <a:latin typeface="Arial"/>
              </a:defRPr>
            </a:pPr>
            <a:r>
              <a:t>SO WHAT: BFSI is the largest GCC vertical growing 3x the market — this is table stakes, not optional</a:t>
            </a:r>
          </a:p>
        </p:txBody>
      </p:sp>
      <p:sp>
        <p:nvSpPr>
          <p:cNvPr id="27" name="TextBox 26"/>
          <p:cNvSpPr txBox="1"/>
          <p:nvPr/>
        </p:nvSpPr>
        <p:spPr>
          <a:xfrm>
            <a:off x="11247120" y="6537960"/>
            <a:ext cx="731520" cy="228600"/>
          </a:xfrm>
          <a:prstGeom prst="rect">
            <a:avLst/>
          </a:prstGeom>
          <a:noFill/>
        </p:spPr>
        <p:txBody>
          <a:bodyPr wrap="square">
            <a:spAutoFit/>
          </a:bodyPr>
          <a:lstStyle/>
          <a:p>
            <a:pPr algn="r">
              <a:lnSpc>
                <a:spcPts val="910"/>
              </a:lnSpc>
              <a:spcAft>
                <a:spcPts val="0"/>
              </a:spcAft>
              <a:defRPr sz="700" b="1">
                <a:solidFill>
                  <a:srgbClr val="666666"/>
                </a:solidFill>
                <a:latin typeface="Arial"/>
              </a:defRPr>
            </a:pPr>
            <a:r>
              <a:t>2</a:t>
            </a:r>
          </a:p>
        </p:txBody>
      </p:sp>
      <p:sp>
        <p:nvSpPr>
          <p:cNvPr id="28" name="TextBox 27"/>
          <p:cNvSpPr txBox="1"/>
          <p:nvPr/>
        </p:nvSpPr>
        <p:spPr>
          <a:xfrm>
            <a:off x="640080" y="6537960"/>
            <a:ext cx="10058400" cy="228600"/>
          </a:xfrm>
          <a:prstGeom prst="rect">
            <a:avLst/>
          </a:prstGeom>
          <a:noFill/>
        </p:spPr>
        <p:txBody>
          <a:bodyPr wrap="square">
            <a:spAutoFit/>
          </a:bodyPr>
          <a:lstStyle/>
          <a:p>
            <a:pPr algn="l">
              <a:lnSpc>
                <a:spcPts val="910"/>
              </a:lnSpc>
              <a:spcAft>
                <a:spcPts val="0"/>
              </a:spcAft>
              <a:defRPr sz="700" b="0">
                <a:solidFill>
                  <a:srgbClr val="666666"/>
                </a:solidFill>
                <a:latin typeface="Arial"/>
              </a:defRPr>
            </a:pPr>
            <a:r>
              <a:t>Sources: Zinnov, NASSCOM, ANSR, McKinsey, EY 2024-2025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2560320"/>
            <a:ext cx="1371600" cy="54864"/>
          </a:xfrm>
          <a:prstGeom prst="rect">
            <a:avLst/>
          </a:prstGeom>
          <a:solidFill>
            <a:srgbClr val="E84D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788920"/>
            <a:ext cx="9144000" cy="457200"/>
          </a:xfrm>
          <a:prstGeom prst="rect">
            <a:avLst/>
          </a:prstGeom>
          <a:noFill/>
        </p:spPr>
        <p:txBody>
          <a:bodyPr wrap="square">
            <a:spAutoFit/>
          </a:bodyPr>
          <a:lstStyle/>
          <a:p>
            <a:pPr algn="l">
              <a:lnSpc>
                <a:spcPts val="1820"/>
              </a:lnSpc>
              <a:spcAft>
                <a:spcPts val="0"/>
              </a:spcAft>
              <a:defRPr sz="1400" b="1">
                <a:solidFill>
                  <a:srgbClr val="E84D0E"/>
                </a:solidFill>
                <a:latin typeface="Arial"/>
              </a:defRPr>
            </a:pPr>
            <a:r>
              <a:t>ACT II</a:t>
            </a:r>
          </a:p>
        </p:txBody>
      </p:sp>
      <p:sp>
        <p:nvSpPr>
          <p:cNvPr id="5" name="TextBox 4"/>
          <p:cNvSpPr txBox="1"/>
          <p:nvPr/>
        </p:nvSpPr>
        <p:spPr>
          <a:xfrm>
            <a:off x="640080" y="3200400"/>
            <a:ext cx="9144000" cy="731520"/>
          </a:xfrm>
          <a:prstGeom prst="rect">
            <a:avLst/>
          </a:prstGeom>
          <a:noFill/>
        </p:spPr>
        <p:txBody>
          <a:bodyPr wrap="square">
            <a:spAutoFit/>
          </a:bodyPr>
          <a:lstStyle/>
          <a:p>
            <a:pPr algn="l">
              <a:lnSpc>
                <a:spcPts val="4420"/>
              </a:lnSpc>
              <a:spcAft>
                <a:spcPts val="0"/>
              </a:spcAft>
              <a:defRPr sz="3400" b="1">
                <a:solidFill>
                  <a:srgbClr val="FFFFFF"/>
                </a:solidFill>
                <a:latin typeface="Arial"/>
              </a:defRPr>
            </a:pPr>
            <a:r>
              <a:t>Location Analysis</a:t>
            </a:r>
          </a:p>
        </p:txBody>
      </p:sp>
      <p:sp>
        <p:nvSpPr>
          <p:cNvPr id="6" name="TextBox 5"/>
          <p:cNvSpPr txBox="1"/>
          <p:nvPr/>
        </p:nvSpPr>
        <p:spPr>
          <a:xfrm>
            <a:off x="640080" y="4023360"/>
            <a:ext cx="9144000" cy="548640"/>
          </a:xfrm>
          <a:prstGeom prst="rect">
            <a:avLst/>
          </a:prstGeom>
          <a:noFill/>
        </p:spPr>
        <p:txBody>
          <a:bodyPr wrap="square">
            <a:spAutoFit/>
          </a:bodyPr>
          <a:lstStyle/>
          <a:p>
            <a:pPr algn="l">
              <a:lnSpc>
                <a:spcPts val="1820"/>
              </a:lnSpc>
              <a:spcAft>
                <a:spcPts val="0"/>
              </a:spcAft>
              <a:defRPr sz="1400" b="0">
                <a:solidFill>
                  <a:srgbClr val="999999"/>
                </a:solidFill>
                <a:latin typeface="Arial"/>
              </a:defRPr>
            </a:pPr>
            <a:r>
              <a:t>Four cities scored across 8 dimensions with BFSI-specific weights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137160"/>
            <a:ext cx="4572000" cy="228600"/>
          </a:xfrm>
          <a:prstGeom prst="rect">
            <a:avLst/>
          </a:prstGeom>
          <a:noFill/>
        </p:spPr>
        <p:txBody>
          <a:bodyPr wrap="square">
            <a:spAutoFit/>
          </a:bodyPr>
          <a:lstStyle/>
          <a:p>
            <a:pPr algn="l">
              <a:lnSpc>
                <a:spcPts val="1170"/>
              </a:lnSpc>
              <a:spcAft>
                <a:spcPts val="0"/>
              </a:spcAft>
              <a:defRPr sz="900" b="1">
                <a:solidFill>
                  <a:srgbClr val="E84D0E"/>
                </a:solidFill>
                <a:latin typeface="Arial"/>
              </a:defRPr>
            </a:pPr>
            <a:r>
              <a:t>LOCATION ANALYSIS</a:t>
            </a:r>
          </a:p>
        </p:txBody>
      </p:sp>
      <p:sp>
        <p:nvSpPr>
          <p:cNvPr id="3" name="TextBox 2"/>
          <p:cNvSpPr txBox="1"/>
          <p:nvPr/>
        </p:nvSpPr>
        <p:spPr>
          <a:xfrm>
            <a:off x="640080" y="320040"/>
            <a:ext cx="10881360" cy="822960"/>
          </a:xfrm>
          <a:prstGeom prst="rect">
            <a:avLst/>
          </a:prstGeom>
          <a:noFill/>
        </p:spPr>
        <p:txBody>
          <a:bodyPr wrap="square">
            <a:spAutoFit/>
          </a:bodyPr>
          <a:lstStyle/>
          <a:p>
            <a:pPr algn="l">
              <a:lnSpc>
                <a:spcPts val="3380"/>
              </a:lnSpc>
              <a:spcAft>
                <a:spcPts val="0"/>
              </a:spcAft>
              <a:defRPr sz="2600" b="1">
                <a:solidFill>
                  <a:srgbClr val="1A1A1A"/>
                </a:solidFill>
                <a:latin typeface="Arial"/>
              </a:defRPr>
            </a:pPr>
            <a:r>
              <a:t>BFSI-Weighted Location Scorecard Across Four Hubs</a:t>
            </a:r>
          </a:p>
        </p:txBody>
      </p:sp>
      <p:graphicFrame>
        <p:nvGraphicFramePr>
          <p:cNvPr id="4" name="Table 3"/>
          <p:cNvGraphicFramePr>
            <a:graphicFrameLocks noGrp="1"/>
          </p:cNvGraphicFramePr>
          <p:nvPr/>
        </p:nvGraphicFramePr>
        <p:xfrm>
          <a:off x="640080" y="1371600"/>
          <a:ext cx="10881360" cy="3840480"/>
        </p:xfrm>
        <a:graphic>
          <a:graphicData uri="http://schemas.openxmlformats.org/drawingml/2006/table">
            <a:tbl>
              <a:tblPr firstRow="1" bandRow="1">
                <a:tableStyleId>{5C22544A-7EE6-4342-B048-85BDC9FD1C3A}</a:tableStyleId>
              </a:tblPr>
              <a:tblGrid>
                <a:gridCol w="2286000"/>
                <a:gridCol w="914400"/>
                <a:gridCol w="1920240"/>
                <a:gridCol w="1920240"/>
                <a:gridCol w="1920240"/>
                <a:gridCol w="1920240"/>
              </a:tblGrid>
              <a:tr h="384048">
                <a:tc>
                  <a:txBody>
                    <a:bodyPr/>
                    <a:lstStyle/>
                    <a:p>
                      <a:pPr algn="l">
                        <a:defRPr sz="900" b="1">
                          <a:solidFill>
                            <a:srgbClr val="FFFFFF"/>
                          </a:solidFill>
                          <a:latin typeface="Arial"/>
                        </a:defRPr>
                      </a:pPr>
                      <a:r>
                        <a:t>Dimension</a:t>
                      </a:r>
                    </a:p>
                  </a:txBody>
                  <a:tcPr marL="54864" marR="54864" marT="27432" marB="27432">
                    <a:solidFill>
                      <a:srgbClr val="2D2D2D"/>
                    </a:solidFill>
                  </a:tcPr>
                </a:tc>
                <a:tc>
                  <a:txBody>
                    <a:bodyPr/>
                    <a:lstStyle/>
                    <a:p>
                      <a:pPr algn="ctr">
                        <a:defRPr sz="900" b="1">
                          <a:solidFill>
                            <a:srgbClr val="FFFFFF"/>
                          </a:solidFill>
                          <a:latin typeface="Arial"/>
                        </a:defRPr>
                      </a:pPr>
                      <a:r>
                        <a:t>Weight</a:t>
                      </a:r>
                    </a:p>
                  </a:txBody>
                  <a:tcPr marL="54864" marR="54864" marT="27432" marB="27432">
                    <a:solidFill>
                      <a:srgbClr val="2D2D2D"/>
                    </a:solidFill>
                  </a:tcPr>
                </a:tc>
                <a:tc>
                  <a:txBody>
                    <a:bodyPr/>
                    <a:lstStyle/>
                    <a:p>
                      <a:pPr algn="ctr">
                        <a:defRPr sz="900" b="1">
                          <a:solidFill>
                            <a:srgbClr val="FFFFFF"/>
                          </a:solidFill>
                          <a:latin typeface="Arial"/>
                        </a:defRPr>
                      </a:pPr>
                      <a:r>
                        <a:t>Bangalore</a:t>
                      </a:r>
                    </a:p>
                  </a:txBody>
                  <a:tcPr marL="54864" marR="54864" marT="27432" marB="27432">
                    <a:solidFill>
                      <a:srgbClr val="2D2D2D"/>
                    </a:solidFill>
                  </a:tcPr>
                </a:tc>
                <a:tc>
                  <a:txBody>
                    <a:bodyPr/>
                    <a:lstStyle/>
                    <a:p>
                      <a:pPr algn="ctr">
                        <a:defRPr sz="900" b="1">
                          <a:solidFill>
                            <a:srgbClr val="FFFFFF"/>
                          </a:solidFill>
                          <a:latin typeface="Arial"/>
                        </a:defRPr>
                      </a:pPr>
                      <a:r>
                        <a:t>Hyderabad</a:t>
                      </a:r>
                    </a:p>
                  </a:txBody>
                  <a:tcPr marL="54864" marR="54864" marT="27432" marB="27432">
                    <a:solidFill>
                      <a:srgbClr val="2D2D2D"/>
                    </a:solidFill>
                  </a:tcPr>
                </a:tc>
                <a:tc>
                  <a:txBody>
                    <a:bodyPr/>
                    <a:lstStyle/>
                    <a:p>
                      <a:pPr algn="ctr">
                        <a:defRPr sz="900" b="1">
                          <a:solidFill>
                            <a:srgbClr val="FFFFFF"/>
                          </a:solidFill>
                          <a:latin typeface="Arial"/>
                        </a:defRPr>
                      </a:pPr>
                      <a:r>
                        <a:t>Pune</a:t>
                      </a:r>
                    </a:p>
                  </a:txBody>
                  <a:tcPr marL="54864" marR="54864" marT="27432" marB="27432">
                    <a:solidFill>
                      <a:srgbClr val="2D2D2D"/>
                    </a:solidFill>
                  </a:tcPr>
                </a:tc>
                <a:tc>
                  <a:txBody>
                    <a:bodyPr/>
                    <a:lstStyle/>
                    <a:p>
                      <a:pPr algn="ctr">
                        <a:defRPr sz="900" b="1">
                          <a:solidFill>
                            <a:srgbClr val="FFFFFF"/>
                          </a:solidFill>
                          <a:latin typeface="Arial"/>
                        </a:defRPr>
                      </a:pPr>
                      <a:r>
                        <a:t>Delhi NCR</a:t>
                      </a:r>
                    </a:p>
                  </a:txBody>
                  <a:tcPr marL="54864" marR="54864" marT="27432" marB="27432">
                    <a:solidFill>
                      <a:srgbClr val="2D2D2D"/>
                    </a:solidFill>
                  </a:tcPr>
                </a:tc>
              </a:tr>
              <a:tr h="384048">
                <a:tc>
                  <a:txBody>
                    <a:bodyPr/>
                    <a:lstStyle/>
                    <a:p>
                      <a:pPr algn="l">
                        <a:defRPr sz="900">
                          <a:solidFill>
                            <a:srgbClr val="4A4A4A"/>
                          </a:solidFill>
                          <a:latin typeface="Arial"/>
                        </a:defRPr>
                      </a:pPr>
                      <a:r>
                        <a:t>Talent Pool (BFSI)</a:t>
                      </a:r>
                    </a:p>
                  </a:txBody>
                  <a:tcPr marL="54864" marR="54864" marT="27432" marB="27432">
                    <a:solidFill>
                      <a:srgbClr val="FFFFFF"/>
                    </a:solidFill>
                  </a:tcPr>
                </a:tc>
                <a:tc>
                  <a:txBody>
                    <a:bodyPr/>
                    <a:lstStyle/>
                    <a:p>
                      <a:pPr algn="ctr">
                        <a:defRPr sz="900">
                          <a:solidFill>
                            <a:srgbClr val="4A4A4A"/>
                          </a:solidFill>
                          <a:latin typeface="Arial"/>
                        </a:defRPr>
                      </a:pPr>
                      <a:r>
                        <a:t>20%</a:t>
                      </a:r>
                    </a:p>
                  </a:txBody>
                  <a:tcPr marL="54864" marR="54864" marT="27432" marB="27432">
                    <a:solidFill>
                      <a:srgbClr val="FFFFFF"/>
                    </a:solidFill>
                  </a:tcPr>
                </a:tc>
                <a:tc>
                  <a:txBody>
                    <a:bodyPr/>
                    <a:lstStyle/>
                    <a:p>
                      <a:pPr algn="ctr">
                        <a:defRPr sz="900" b="1">
                          <a:solidFill>
                            <a:srgbClr val="1B7A43"/>
                          </a:solidFill>
                          <a:latin typeface="Arial"/>
                        </a:defRPr>
                      </a:pPr>
                      <a:r>
                        <a:t>10/10</a:t>
                      </a:r>
                    </a:p>
                  </a:txBody>
                  <a:tcPr marL="54864" marR="54864" marT="27432" marB="27432">
                    <a:solidFill>
                      <a:srgbClr val="E8F8EE"/>
                    </a:solidFill>
                  </a:tcPr>
                </a:tc>
                <a:tc>
                  <a:txBody>
                    <a:bodyPr/>
                    <a:lstStyle/>
                    <a:p>
                      <a:pPr algn="ctr">
                        <a:defRPr sz="900">
                          <a:solidFill>
                            <a:srgbClr val="7D6C08"/>
                          </a:solidFill>
                          <a:latin typeface="Arial"/>
                        </a:defRPr>
                      </a:pPr>
                      <a:r>
                        <a:t>7/10</a:t>
                      </a:r>
                    </a:p>
                  </a:txBody>
                  <a:tcPr marL="54864" marR="54864" marT="27432" marB="27432">
                    <a:solidFill>
                      <a:srgbClr val="FEF9E7"/>
                    </a:solidFill>
                  </a:tcPr>
                </a:tc>
                <a:tc>
                  <a:txBody>
                    <a:bodyPr/>
                    <a:lstStyle/>
                    <a:p>
                      <a:pPr algn="ctr">
                        <a:defRPr sz="900">
                          <a:solidFill>
                            <a:srgbClr val="7D6C08"/>
                          </a:solidFill>
                          <a:latin typeface="Arial"/>
                        </a:defRPr>
                      </a:pPr>
                      <a:r>
                        <a:t>6/10</a:t>
                      </a:r>
                    </a:p>
                  </a:txBody>
                  <a:tcPr marL="54864" marR="54864" marT="27432" marB="27432">
                    <a:solidFill>
                      <a:srgbClr val="FEF9E7"/>
                    </a:solidFill>
                  </a:tcPr>
                </a:tc>
                <a:tc>
                  <a:txBody>
                    <a:bodyPr/>
                    <a:lstStyle/>
                    <a:p>
                      <a:pPr algn="ctr">
                        <a:defRPr sz="900">
                          <a:solidFill>
                            <a:srgbClr val="7D6C08"/>
                          </a:solidFill>
                          <a:latin typeface="Arial"/>
                        </a:defRPr>
                      </a:pPr>
                      <a:r>
                        <a:t>7/10</a:t>
                      </a:r>
                    </a:p>
                  </a:txBody>
                  <a:tcPr marL="54864" marR="54864" marT="27432" marB="27432">
                    <a:solidFill>
                      <a:srgbClr val="FEF9E7"/>
                    </a:solidFill>
                  </a:tcPr>
                </a:tc>
              </a:tr>
              <a:tr h="384048">
                <a:tc>
                  <a:txBody>
                    <a:bodyPr/>
                    <a:lstStyle/>
                    <a:p>
                      <a:pPr algn="l">
                        <a:defRPr sz="900">
                          <a:solidFill>
                            <a:srgbClr val="4A4A4A"/>
                          </a:solidFill>
                          <a:latin typeface="Arial"/>
                        </a:defRPr>
                      </a:pPr>
                      <a:r>
                        <a:t>GCC Ecosystem</a:t>
                      </a:r>
                    </a:p>
                  </a:txBody>
                  <a:tcPr marL="54864" marR="54864" marT="27432" marB="27432">
                    <a:solidFill>
                      <a:srgbClr val="F5F5F5"/>
                    </a:solidFill>
                  </a:tcPr>
                </a:tc>
                <a:tc>
                  <a:txBody>
                    <a:bodyPr/>
                    <a:lstStyle/>
                    <a:p>
                      <a:pPr algn="ctr">
                        <a:defRPr sz="900">
                          <a:solidFill>
                            <a:srgbClr val="4A4A4A"/>
                          </a:solidFill>
                          <a:latin typeface="Arial"/>
                        </a:defRPr>
                      </a:pPr>
                      <a:r>
                        <a:t>15%</a:t>
                      </a:r>
                    </a:p>
                  </a:txBody>
                  <a:tcPr marL="54864" marR="54864" marT="27432" marB="27432">
                    <a:solidFill>
                      <a:srgbClr val="F5F5F5"/>
                    </a:solidFill>
                  </a:tcPr>
                </a:tc>
                <a:tc>
                  <a:txBody>
                    <a:bodyPr/>
                    <a:lstStyle/>
                    <a:p>
                      <a:pPr algn="ctr">
                        <a:defRPr sz="900" b="1">
                          <a:solidFill>
                            <a:srgbClr val="1B7A43"/>
                          </a:solidFill>
                          <a:latin typeface="Arial"/>
                        </a:defRPr>
                      </a:pPr>
                      <a:r>
                        <a:t>10/10</a:t>
                      </a:r>
                    </a:p>
                  </a:txBody>
                  <a:tcPr marL="54864" marR="54864" marT="27432" marB="27432">
                    <a:solidFill>
                      <a:srgbClr val="E8F8EE"/>
                    </a:solidFill>
                  </a:tcPr>
                </a:tc>
                <a:tc>
                  <a:txBody>
                    <a:bodyPr/>
                    <a:lstStyle/>
                    <a:p>
                      <a:pPr algn="ctr">
                        <a:defRPr sz="900">
                          <a:solidFill>
                            <a:srgbClr val="7D6C08"/>
                          </a:solidFill>
                          <a:latin typeface="Arial"/>
                        </a:defRPr>
                      </a:pPr>
                      <a:r>
                        <a:t>7/10</a:t>
                      </a:r>
                    </a:p>
                  </a:txBody>
                  <a:tcPr marL="54864" marR="54864" marT="27432" marB="27432">
                    <a:solidFill>
                      <a:srgbClr val="FEF9E7"/>
                    </a:solidFill>
                  </a:tcPr>
                </a:tc>
                <a:tc>
                  <a:txBody>
                    <a:bodyPr/>
                    <a:lstStyle/>
                    <a:p>
                      <a:pPr algn="ctr">
                        <a:defRPr sz="900">
                          <a:solidFill>
                            <a:srgbClr val="C0392B"/>
                          </a:solidFill>
                          <a:latin typeface="Arial"/>
                        </a:defRPr>
                      </a:pPr>
                      <a:r>
                        <a:t>5/10</a:t>
                      </a:r>
                    </a:p>
                  </a:txBody>
                  <a:tcPr marL="54864" marR="54864" marT="27432" marB="27432">
                    <a:solidFill>
                      <a:srgbClr val="FDEDED"/>
                    </a:solidFill>
                  </a:tcPr>
                </a:tc>
                <a:tc>
                  <a:txBody>
                    <a:bodyPr/>
                    <a:lstStyle/>
                    <a:p>
                      <a:pPr algn="ctr">
                        <a:defRPr sz="900">
                          <a:solidFill>
                            <a:srgbClr val="7D6C08"/>
                          </a:solidFill>
                          <a:latin typeface="Arial"/>
                        </a:defRPr>
                      </a:pPr>
                      <a:r>
                        <a:t>6/10</a:t>
                      </a:r>
                    </a:p>
                  </a:txBody>
                  <a:tcPr marL="54864" marR="54864" marT="27432" marB="27432">
                    <a:solidFill>
                      <a:srgbClr val="FEF9E7"/>
                    </a:solidFill>
                  </a:tcPr>
                </a:tc>
              </a:tr>
              <a:tr h="384048">
                <a:tc>
                  <a:txBody>
                    <a:bodyPr/>
                    <a:lstStyle/>
                    <a:p>
                      <a:pPr algn="l">
                        <a:defRPr sz="900">
                          <a:solidFill>
                            <a:srgbClr val="4A4A4A"/>
                          </a:solidFill>
                          <a:latin typeface="Arial"/>
                        </a:defRPr>
                      </a:pPr>
                      <a:r>
                        <a:t>Cost Efficiency</a:t>
                      </a:r>
                    </a:p>
                  </a:txBody>
                  <a:tcPr marL="54864" marR="54864" marT="27432" marB="27432">
                    <a:solidFill>
                      <a:srgbClr val="FFFFFF"/>
                    </a:solidFill>
                  </a:tcPr>
                </a:tc>
                <a:tc>
                  <a:txBody>
                    <a:bodyPr/>
                    <a:lstStyle/>
                    <a:p>
                      <a:pPr algn="ctr">
                        <a:defRPr sz="900">
                          <a:solidFill>
                            <a:srgbClr val="4A4A4A"/>
                          </a:solidFill>
                          <a:latin typeface="Arial"/>
                        </a:defRPr>
                      </a:pPr>
                      <a:r>
                        <a:t>15%</a:t>
                      </a:r>
                    </a:p>
                  </a:txBody>
                  <a:tcPr marL="54864" marR="54864" marT="27432" marB="27432">
                    <a:solidFill>
                      <a:srgbClr val="FFFFFF"/>
                    </a:solidFill>
                  </a:tcPr>
                </a:tc>
                <a:tc>
                  <a:txBody>
                    <a:bodyPr/>
                    <a:lstStyle/>
                    <a:p>
                      <a:pPr algn="ctr">
                        <a:defRPr sz="900">
                          <a:solidFill>
                            <a:srgbClr val="C0392B"/>
                          </a:solidFill>
                          <a:latin typeface="Arial"/>
                        </a:defRPr>
                      </a:pPr>
                      <a:r>
                        <a:t>5/10</a:t>
                      </a:r>
                    </a:p>
                  </a:txBody>
                  <a:tcPr marL="54864" marR="54864" marT="27432" marB="27432">
                    <a:solidFill>
                      <a:srgbClr val="FDEDED"/>
                    </a:solidFill>
                  </a:tcPr>
                </a:tc>
                <a:tc>
                  <a:txBody>
                    <a:bodyPr/>
                    <a:lstStyle/>
                    <a:p>
                      <a:pPr algn="ctr">
                        <a:defRPr sz="900" b="1">
                          <a:solidFill>
                            <a:srgbClr val="1B7A43"/>
                          </a:solidFill>
                          <a:latin typeface="Arial"/>
                        </a:defRPr>
                      </a:pPr>
                      <a:r>
                        <a:t>8/10</a:t>
                      </a:r>
                    </a:p>
                  </a:txBody>
                  <a:tcPr marL="54864" marR="54864" marT="27432" marB="27432">
                    <a:solidFill>
                      <a:srgbClr val="E8F8EE"/>
                    </a:solidFill>
                  </a:tcPr>
                </a:tc>
                <a:tc>
                  <a:txBody>
                    <a:bodyPr/>
                    <a:lstStyle/>
                    <a:p>
                      <a:pPr algn="ctr">
                        <a:defRPr sz="900" b="1">
                          <a:solidFill>
                            <a:srgbClr val="1B7A43"/>
                          </a:solidFill>
                          <a:latin typeface="Arial"/>
                        </a:defRPr>
                      </a:pPr>
                      <a:r>
                        <a:t>9/10</a:t>
                      </a:r>
                    </a:p>
                  </a:txBody>
                  <a:tcPr marL="54864" marR="54864" marT="27432" marB="27432">
                    <a:solidFill>
                      <a:srgbClr val="E8F8EE"/>
                    </a:solidFill>
                  </a:tcPr>
                </a:tc>
                <a:tc>
                  <a:txBody>
                    <a:bodyPr/>
                    <a:lstStyle/>
                    <a:p>
                      <a:pPr algn="ctr">
                        <a:defRPr sz="900">
                          <a:solidFill>
                            <a:srgbClr val="7D6C08"/>
                          </a:solidFill>
                          <a:latin typeface="Arial"/>
                        </a:defRPr>
                      </a:pPr>
                      <a:r>
                        <a:t>6/10</a:t>
                      </a:r>
                    </a:p>
                  </a:txBody>
                  <a:tcPr marL="54864" marR="54864" marT="27432" marB="27432">
                    <a:solidFill>
                      <a:srgbClr val="FEF9E7"/>
                    </a:solidFill>
                  </a:tcPr>
                </a:tc>
              </a:tr>
              <a:tr h="384048">
                <a:tc>
                  <a:txBody>
                    <a:bodyPr/>
                    <a:lstStyle/>
                    <a:p>
                      <a:pPr algn="l">
                        <a:defRPr sz="900">
                          <a:solidFill>
                            <a:srgbClr val="4A4A4A"/>
                          </a:solidFill>
                          <a:latin typeface="Arial"/>
                        </a:defRPr>
                      </a:pPr>
                      <a:r>
                        <a:t>Retention</a:t>
                      </a:r>
                    </a:p>
                  </a:txBody>
                  <a:tcPr marL="54864" marR="54864" marT="27432" marB="27432">
                    <a:solidFill>
                      <a:srgbClr val="F5F5F5"/>
                    </a:solidFill>
                  </a:tcPr>
                </a:tc>
                <a:tc>
                  <a:txBody>
                    <a:bodyPr/>
                    <a:lstStyle/>
                    <a:p>
                      <a:pPr algn="ctr">
                        <a:defRPr sz="900">
                          <a:solidFill>
                            <a:srgbClr val="4A4A4A"/>
                          </a:solidFill>
                          <a:latin typeface="Arial"/>
                        </a:defRPr>
                      </a:pPr>
                      <a:r>
                        <a:t>15%</a:t>
                      </a:r>
                    </a:p>
                  </a:txBody>
                  <a:tcPr marL="54864" marR="54864" marT="27432" marB="27432">
                    <a:solidFill>
                      <a:srgbClr val="F5F5F5"/>
                    </a:solidFill>
                  </a:tcPr>
                </a:tc>
                <a:tc>
                  <a:txBody>
                    <a:bodyPr/>
                    <a:lstStyle/>
                    <a:p>
                      <a:pPr algn="ctr">
                        <a:defRPr sz="900">
                          <a:solidFill>
                            <a:srgbClr val="C0392B"/>
                          </a:solidFill>
                          <a:latin typeface="Arial"/>
                        </a:defRPr>
                      </a:pPr>
                      <a:r>
                        <a:t>4/10</a:t>
                      </a:r>
                    </a:p>
                  </a:txBody>
                  <a:tcPr marL="54864" marR="54864" marT="27432" marB="27432">
                    <a:solidFill>
                      <a:srgbClr val="FDEDED"/>
                    </a:solidFill>
                  </a:tcPr>
                </a:tc>
                <a:tc>
                  <a:txBody>
                    <a:bodyPr/>
                    <a:lstStyle/>
                    <a:p>
                      <a:pPr algn="ctr">
                        <a:defRPr sz="900">
                          <a:solidFill>
                            <a:srgbClr val="7D6C08"/>
                          </a:solidFill>
                          <a:latin typeface="Arial"/>
                        </a:defRPr>
                      </a:pPr>
                      <a:r>
                        <a:t>7/10</a:t>
                      </a:r>
                    </a:p>
                  </a:txBody>
                  <a:tcPr marL="54864" marR="54864" marT="27432" marB="27432">
                    <a:solidFill>
                      <a:srgbClr val="FEF9E7"/>
                    </a:solidFill>
                  </a:tcPr>
                </a:tc>
                <a:tc>
                  <a:txBody>
                    <a:bodyPr/>
                    <a:lstStyle/>
                    <a:p>
                      <a:pPr algn="ctr">
                        <a:defRPr sz="900" b="1">
                          <a:solidFill>
                            <a:srgbClr val="1B7A43"/>
                          </a:solidFill>
                          <a:latin typeface="Arial"/>
                        </a:defRPr>
                      </a:pPr>
                      <a:r>
                        <a:t>9/10</a:t>
                      </a:r>
                    </a:p>
                  </a:txBody>
                  <a:tcPr marL="54864" marR="54864" marT="27432" marB="27432">
                    <a:solidFill>
                      <a:srgbClr val="E8F8EE"/>
                    </a:solidFill>
                  </a:tcPr>
                </a:tc>
                <a:tc>
                  <a:txBody>
                    <a:bodyPr/>
                    <a:lstStyle/>
                    <a:p>
                      <a:pPr algn="ctr">
                        <a:defRPr sz="900">
                          <a:solidFill>
                            <a:srgbClr val="7D6C08"/>
                          </a:solidFill>
                          <a:latin typeface="Arial"/>
                        </a:defRPr>
                      </a:pPr>
                      <a:r>
                        <a:t>6/10</a:t>
                      </a:r>
                    </a:p>
                  </a:txBody>
                  <a:tcPr marL="54864" marR="54864" marT="27432" marB="27432">
                    <a:solidFill>
                      <a:srgbClr val="FEF9E7"/>
                    </a:solidFill>
                  </a:tcPr>
                </a:tc>
              </a:tr>
              <a:tr h="384048">
                <a:tc>
                  <a:txBody>
                    <a:bodyPr/>
                    <a:lstStyle/>
                    <a:p>
                      <a:pPr algn="l">
                        <a:defRPr sz="900">
                          <a:solidFill>
                            <a:srgbClr val="4A4A4A"/>
                          </a:solidFill>
                          <a:latin typeface="Arial"/>
                        </a:defRPr>
                      </a:pPr>
                      <a:r>
                        <a:t>Regulatory Proximity</a:t>
                      </a:r>
                    </a:p>
                  </a:txBody>
                  <a:tcPr marL="54864" marR="54864" marT="27432" marB="27432">
                    <a:solidFill>
                      <a:srgbClr val="FFFFFF"/>
                    </a:solidFill>
                  </a:tcPr>
                </a:tc>
                <a:tc>
                  <a:txBody>
                    <a:bodyPr/>
                    <a:lstStyle/>
                    <a:p>
                      <a:pPr algn="ctr">
                        <a:defRPr sz="900">
                          <a:solidFill>
                            <a:srgbClr val="4A4A4A"/>
                          </a:solidFill>
                          <a:latin typeface="Arial"/>
                        </a:defRPr>
                      </a:pPr>
                      <a:r>
                        <a:t>10%</a:t>
                      </a:r>
                    </a:p>
                  </a:txBody>
                  <a:tcPr marL="54864" marR="54864" marT="27432" marB="27432">
                    <a:solidFill>
                      <a:srgbClr val="FFFFFF"/>
                    </a:solidFill>
                  </a:tcPr>
                </a:tc>
                <a:tc>
                  <a:txBody>
                    <a:bodyPr/>
                    <a:lstStyle/>
                    <a:p>
                      <a:pPr algn="ctr">
                        <a:defRPr sz="900">
                          <a:solidFill>
                            <a:srgbClr val="7D6C08"/>
                          </a:solidFill>
                          <a:latin typeface="Arial"/>
                        </a:defRPr>
                      </a:pPr>
                      <a:r>
                        <a:t>7/10</a:t>
                      </a:r>
                    </a:p>
                  </a:txBody>
                  <a:tcPr marL="54864" marR="54864" marT="27432" marB="27432">
                    <a:solidFill>
                      <a:srgbClr val="FEF9E7"/>
                    </a:solidFill>
                  </a:tcPr>
                </a:tc>
                <a:tc>
                  <a:txBody>
                    <a:bodyPr/>
                    <a:lstStyle/>
                    <a:p>
                      <a:pPr algn="ctr">
                        <a:defRPr sz="900">
                          <a:solidFill>
                            <a:srgbClr val="7D6C08"/>
                          </a:solidFill>
                          <a:latin typeface="Arial"/>
                        </a:defRPr>
                      </a:pPr>
                      <a:r>
                        <a:t>6/10</a:t>
                      </a:r>
                    </a:p>
                  </a:txBody>
                  <a:tcPr marL="54864" marR="54864" marT="27432" marB="27432">
                    <a:solidFill>
                      <a:srgbClr val="FEF9E7"/>
                    </a:solidFill>
                  </a:tcPr>
                </a:tc>
                <a:tc>
                  <a:txBody>
                    <a:bodyPr/>
                    <a:lstStyle/>
                    <a:p>
                      <a:pPr algn="ctr">
                        <a:defRPr sz="900">
                          <a:solidFill>
                            <a:srgbClr val="C0392B"/>
                          </a:solidFill>
                          <a:latin typeface="Arial"/>
                        </a:defRPr>
                      </a:pPr>
                      <a:r>
                        <a:t>5/10</a:t>
                      </a:r>
                    </a:p>
                  </a:txBody>
                  <a:tcPr marL="54864" marR="54864" marT="27432" marB="27432">
                    <a:solidFill>
                      <a:srgbClr val="FDEDED"/>
                    </a:solidFill>
                  </a:tcPr>
                </a:tc>
                <a:tc>
                  <a:txBody>
                    <a:bodyPr/>
                    <a:lstStyle/>
                    <a:p>
                      <a:pPr algn="ctr">
                        <a:defRPr sz="900" b="1">
                          <a:solidFill>
                            <a:srgbClr val="1B7A43"/>
                          </a:solidFill>
                          <a:latin typeface="Arial"/>
                        </a:defRPr>
                      </a:pPr>
                      <a:r>
                        <a:t>9/10</a:t>
                      </a:r>
                    </a:p>
                  </a:txBody>
                  <a:tcPr marL="54864" marR="54864" marT="27432" marB="27432">
                    <a:solidFill>
                      <a:srgbClr val="E8F8EE"/>
                    </a:solidFill>
                  </a:tcPr>
                </a:tc>
              </a:tr>
              <a:tr h="384048">
                <a:tc>
                  <a:txBody>
                    <a:bodyPr/>
                    <a:lstStyle/>
                    <a:p>
                      <a:pPr algn="l">
                        <a:defRPr sz="900">
                          <a:solidFill>
                            <a:srgbClr val="4A4A4A"/>
                          </a:solidFill>
                          <a:latin typeface="Arial"/>
                        </a:defRPr>
                      </a:pPr>
                      <a:r>
                        <a:t>Infrastructure</a:t>
                      </a:r>
                    </a:p>
                  </a:txBody>
                  <a:tcPr marL="54864" marR="54864" marT="27432" marB="27432">
                    <a:solidFill>
                      <a:srgbClr val="F5F5F5"/>
                    </a:solidFill>
                  </a:tcPr>
                </a:tc>
                <a:tc>
                  <a:txBody>
                    <a:bodyPr/>
                    <a:lstStyle/>
                    <a:p>
                      <a:pPr algn="ctr">
                        <a:defRPr sz="900">
                          <a:solidFill>
                            <a:srgbClr val="4A4A4A"/>
                          </a:solidFill>
                          <a:latin typeface="Arial"/>
                        </a:defRPr>
                      </a:pPr>
                      <a:r>
                        <a:t>10%</a:t>
                      </a:r>
                    </a:p>
                  </a:txBody>
                  <a:tcPr marL="54864" marR="54864" marT="27432" marB="27432">
                    <a:solidFill>
                      <a:srgbClr val="F5F5F5"/>
                    </a:solidFill>
                  </a:tcPr>
                </a:tc>
                <a:tc>
                  <a:txBody>
                    <a:bodyPr/>
                    <a:lstStyle/>
                    <a:p>
                      <a:pPr algn="ctr">
                        <a:defRPr sz="900" b="1">
                          <a:solidFill>
                            <a:srgbClr val="1B7A43"/>
                          </a:solidFill>
                          <a:latin typeface="Arial"/>
                        </a:defRPr>
                      </a:pPr>
                      <a:r>
                        <a:t>8/10</a:t>
                      </a:r>
                    </a:p>
                  </a:txBody>
                  <a:tcPr marL="54864" marR="54864" marT="27432" marB="27432">
                    <a:solidFill>
                      <a:srgbClr val="E8F8EE"/>
                    </a:solidFill>
                  </a:tcPr>
                </a:tc>
                <a:tc>
                  <a:txBody>
                    <a:bodyPr/>
                    <a:lstStyle/>
                    <a:p>
                      <a:pPr algn="ctr">
                        <a:defRPr sz="900">
                          <a:solidFill>
                            <a:srgbClr val="7D6C08"/>
                          </a:solidFill>
                          <a:latin typeface="Arial"/>
                        </a:defRPr>
                      </a:pPr>
                      <a:r>
                        <a:t>7/10</a:t>
                      </a:r>
                    </a:p>
                  </a:txBody>
                  <a:tcPr marL="54864" marR="54864" marT="27432" marB="27432">
                    <a:solidFill>
                      <a:srgbClr val="FEF9E7"/>
                    </a:solidFill>
                  </a:tcPr>
                </a:tc>
                <a:tc>
                  <a:txBody>
                    <a:bodyPr/>
                    <a:lstStyle/>
                    <a:p>
                      <a:pPr algn="ctr">
                        <a:defRPr sz="900">
                          <a:solidFill>
                            <a:srgbClr val="C0392B"/>
                          </a:solidFill>
                          <a:latin typeface="Arial"/>
                        </a:defRPr>
                      </a:pPr>
                      <a:r>
                        <a:t>5/10</a:t>
                      </a:r>
                    </a:p>
                  </a:txBody>
                  <a:tcPr marL="54864" marR="54864" marT="27432" marB="27432">
                    <a:solidFill>
                      <a:srgbClr val="FDEDED"/>
                    </a:solidFill>
                  </a:tcPr>
                </a:tc>
                <a:tc>
                  <a:txBody>
                    <a:bodyPr/>
                    <a:lstStyle/>
                    <a:p>
                      <a:pPr algn="ctr">
                        <a:defRPr sz="900" b="1">
                          <a:solidFill>
                            <a:srgbClr val="1B7A43"/>
                          </a:solidFill>
                          <a:latin typeface="Arial"/>
                        </a:defRPr>
                      </a:pPr>
                      <a:r>
                        <a:t>9/10</a:t>
                      </a:r>
                    </a:p>
                  </a:txBody>
                  <a:tcPr marL="54864" marR="54864" marT="27432" marB="27432">
                    <a:solidFill>
                      <a:srgbClr val="E8F8EE"/>
                    </a:solidFill>
                  </a:tcPr>
                </a:tc>
              </a:tr>
              <a:tr h="384048">
                <a:tc>
                  <a:txBody>
                    <a:bodyPr/>
                    <a:lstStyle/>
                    <a:p>
                      <a:pPr algn="l">
                        <a:defRPr sz="900">
                          <a:solidFill>
                            <a:srgbClr val="4A4A4A"/>
                          </a:solidFill>
                          <a:latin typeface="Arial"/>
                        </a:defRPr>
                      </a:pPr>
                      <a:r>
                        <a:t>Intl Connectivity</a:t>
                      </a:r>
                    </a:p>
                  </a:txBody>
                  <a:tcPr marL="54864" marR="54864" marT="27432" marB="27432">
                    <a:solidFill>
                      <a:srgbClr val="FFFFFF"/>
                    </a:solidFill>
                  </a:tcPr>
                </a:tc>
                <a:tc>
                  <a:txBody>
                    <a:bodyPr/>
                    <a:lstStyle/>
                    <a:p>
                      <a:pPr algn="ctr">
                        <a:defRPr sz="900">
                          <a:solidFill>
                            <a:srgbClr val="4A4A4A"/>
                          </a:solidFill>
                          <a:latin typeface="Arial"/>
                        </a:defRPr>
                      </a:pPr>
                      <a:r>
                        <a:t>8%</a:t>
                      </a:r>
                    </a:p>
                  </a:txBody>
                  <a:tcPr marL="54864" marR="54864" marT="27432" marB="27432">
                    <a:solidFill>
                      <a:srgbClr val="FFFFFF"/>
                    </a:solidFill>
                  </a:tcPr>
                </a:tc>
                <a:tc>
                  <a:txBody>
                    <a:bodyPr/>
                    <a:lstStyle/>
                    <a:p>
                      <a:pPr algn="ctr">
                        <a:defRPr sz="900">
                          <a:solidFill>
                            <a:srgbClr val="7D6C08"/>
                          </a:solidFill>
                          <a:latin typeface="Arial"/>
                        </a:defRPr>
                      </a:pPr>
                      <a:r>
                        <a:t>7/10</a:t>
                      </a:r>
                    </a:p>
                  </a:txBody>
                  <a:tcPr marL="54864" marR="54864" marT="27432" marB="27432">
                    <a:solidFill>
                      <a:srgbClr val="FEF9E7"/>
                    </a:solidFill>
                  </a:tcPr>
                </a:tc>
                <a:tc>
                  <a:txBody>
                    <a:bodyPr/>
                    <a:lstStyle/>
                    <a:p>
                      <a:pPr algn="ctr">
                        <a:defRPr sz="900">
                          <a:solidFill>
                            <a:srgbClr val="C0392B"/>
                          </a:solidFill>
                          <a:latin typeface="Arial"/>
                        </a:defRPr>
                      </a:pPr>
                      <a:r>
                        <a:t>5/10</a:t>
                      </a:r>
                    </a:p>
                  </a:txBody>
                  <a:tcPr marL="54864" marR="54864" marT="27432" marB="27432">
                    <a:solidFill>
                      <a:srgbClr val="FDEDED"/>
                    </a:solidFill>
                  </a:tcPr>
                </a:tc>
                <a:tc>
                  <a:txBody>
                    <a:bodyPr/>
                    <a:lstStyle/>
                    <a:p>
                      <a:pPr algn="ctr">
                        <a:defRPr sz="900">
                          <a:solidFill>
                            <a:srgbClr val="C0392B"/>
                          </a:solidFill>
                          <a:latin typeface="Arial"/>
                        </a:defRPr>
                      </a:pPr>
                      <a:r>
                        <a:t>2/10</a:t>
                      </a:r>
                    </a:p>
                  </a:txBody>
                  <a:tcPr marL="54864" marR="54864" marT="27432" marB="27432">
                    <a:solidFill>
                      <a:srgbClr val="FDEDED"/>
                    </a:solidFill>
                  </a:tcPr>
                </a:tc>
                <a:tc>
                  <a:txBody>
                    <a:bodyPr/>
                    <a:lstStyle/>
                    <a:p>
                      <a:pPr algn="ctr">
                        <a:defRPr sz="900" b="1">
                          <a:solidFill>
                            <a:srgbClr val="1B7A43"/>
                          </a:solidFill>
                          <a:latin typeface="Arial"/>
                        </a:defRPr>
                      </a:pPr>
                      <a:r>
                        <a:t>10/10</a:t>
                      </a:r>
                    </a:p>
                  </a:txBody>
                  <a:tcPr marL="54864" marR="54864" marT="27432" marB="27432">
                    <a:solidFill>
                      <a:srgbClr val="E8F8EE"/>
                    </a:solidFill>
                  </a:tcPr>
                </a:tc>
              </a:tr>
              <a:tr h="384048">
                <a:tc>
                  <a:txBody>
                    <a:bodyPr/>
                    <a:lstStyle/>
                    <a:p>
                      <a:pPr algn="l">
                        <a:defRPr sz="900">
                          <a:solidFill>
                            <a:srgbClr val="4A4A4A"/>
                          </a:solidFill>
                          <a:latin typeface="Arial"/>
                        </a:defRPr>
                      </a:pPr>
                      <a:r>
                        <a:t>Quality of Life</a:t>
                      </a:r>
                    </a:p>
                  </a:txBody>
                  <a:tcPr marL="54864" marR="54864" marT="27432" marB="27432">
                    <a:solidFill>
                      <a:srgbClr val="F5F5F5"/>
                    </a:solidFill>
                  </a:tcPr>
                </a:tc>
                <a:tc>
                  <a:txBody>
                    <a:bodyPr/>
                    <a:lstStyle/>
                    <a:p>
                      <a:pPr algn="ctr">
                        <a:defRPr sz="900">
                          <a:solidFill>
                            <a:srgbClr val="4A4A4A"/>
                          </a:solidFill>
                          <a:latin typeface="Arial"/>
                        </a:defRPr>
                      </a:pPr>
                      <a:r>
                        <a:t>7%</a:t>
                      </a:r>
                    </a:p>
                  </a:txBody>
                  <a:tcPr marL="54864" marR="54864" marT="27432" marB="27432">
                    <a:solidFill>
                      <a:srgbClr val="F5F5F5"/>
                    </a:solidFill>
                  </a:tcPr>
                </a:tc>
                <a:tc>
                  <a:txBody>
                    <a:bodyPr/>
                    <a:lstStyle/>
                    <a:p>
                      <a:pPr algn="ctr">
                        <a:defRPr sz="900">
                          <a:solidFill>
                            <a:srgbClr val="7D6C08"/>
                          </a:solidFill>
                          <a:latin typeface="Arial"/>
                        </a:defRPr>
                      </a:pPr>
                      <a:r>
                        <a:t>7/10</a:t>
                      </a:r>
                    </a:p>
                  </a:txBody>
                  <a:tcPr marL="54864" marR="54864" marT="27432" marB="27432">
                    <a:solidFill>
                      <a:srgbClr val="FEF9E7"/>
                    </a:solidFill>
                  </a:tcPr>
                </a:tc>
                <a:tc>
                  <a:txBody>
                    <a:bodyPr/>
                    <a:lstStyle/>
                    <a:p>
                      <a:pPr algn="ctr">
                        <a:defRPr sz="900" b="1">
                          <a:solidFill>
                            <a:srgbClr val="1B7A43"/>
                          </a:solidFill>
                          <a:latin typeface="Arial"/>
                        </a:defRPr>
                      </a:pPr>
                      <a:r>
                        <a:t>8/10</a:t>
                      </a:r>
                    </a:p>
                  </a:txBody>
                  <a:tcPr marL="54864" marR="54864" marT="27432" marB="27432">
                    <a:solidFill>
                      <a:srgbClr val="E8F8EE"/>
                    </a:solidFill>
                  </a:tcPr>
                </a:tc>
                <a:tc>
                  <a:txBody>
                    <a:bodyPr/>
                    <a:lstStyle/>
                    <a:p>
                      <a:pPr algn="ctr">
                        <a:defRPr sz="900" b="1">
                          <a:solidFill>
                            <a:srgbClr val="1B7A43"/>
                          </a:solidFill>
                          <a:latin typeface="Arial"/>
                        </a:defRPr>
                      </a:pPr>
                      <a:r>
                        <a:t>8/10</a:t>
                      </a:r>
                    </a:p>
                  </a:txBody>
                  <a:tcPr marL="54864" marR="54864" marT="27432" marB="27432">
                    <a:solidFill>
                      <a:srgbClr val="E8F8EE"/>
                    </a:solidFill>
                  </a:tcPr>
                </a:tc>
                <a:tc>
                  <a:txBody>
                    <a:bodyPr/>
                    <a:lstStyle/>
                    <a:p>
                      <a:pPr algn="ctr">
                        <a:defRPr sz="900">
                          <a:solidFill>
                            <a:srgbClr val="C0392B"/>
                          </a:solidFill>
                          <a:latin typeface="Arial"/>
                        </a:defRPr>
                      </a:pPr>
                      <a:r>
                        <a:t>5/10</a:t>
                      </a:r>
                    </a:p>
                  </a:txBody>
                  <a:tcPr marL="54864" marR="54864" marT="27432" marB="27432">
                    <a:solidFill>
                      <a:srgbClr val="FDEDED"/>
                    </a:solidFill>
                  </a:tcPr>
                </a:tc>
              </a:tr>
              <a:tr h="384048">
                <a:tc>
                  <a:txBody>
                    <a:bodyPr/>
                    <a:lstStyle/>
                    <a:p>
                      <a:pPr algn="l">
                        <a:defRPr sz="900" b="1">
                          <a:solidFill>
                            <a:srgbClr val="1A1A1A"/>
                          </a:solidFill>
                          <a:latin typeface="Arial"/>
                        </a:defRPr>
                      </a:pPr>
                      <a:r>
                        <a:t>WEIGHTED TOTAL</a:t>
                      </a:r>
                    </a:p>
                  </a:txBody>
                  <a:tcPr marL="54864" marR="54864" marT="27432" marB="27432">
                    <a:solidFill>
                      <a:srgbClr val="E0E0E0"/>
                    </a:solidFill>
                  </a:tcPr>
                </a:tc>
                <a:tc>
                  <a:txBody>
                    <a:bodyPr/>
                    <a:lstStyle/>
                    <a:p>
                      <a:pPr algn="ctr">
                        <a:defRPr sz="900" b="1">
                          <a:solidFill>
                            <a:srgbClr val="1A1A1A"/>
                          </a:solidFill>
                          <a:latin typeface="Arial"/>
                        </a:defRPr>
                      </a:pPr>
                      <a:r>
                        <a:t>100%</a:t>
                      </a:r>
                    </a:p>
                  </a:txBody>
                  <a:tcPr marL="54864" marR="54864" marT="27432" marB="27432">
                    <a:solidFill>
                      <a:srgbClr val="E0E0E0"/>
                    </a:solidFill>
                  </a:tcPr>
                </a:tc>
                <a:tc>
                  <a:txBody>
                    <a:bodyPr/>
                    <a:lstStyle/>
                    <a:p>
                      <a:pPr algn="ctr">
                        <a:defRPr sz="900" b="1">
                          <a:solidFill>
                            <a:srgbClr val="1A1A1A"/>
                          </a:solidFill>
                          <a:latin typeface="Arial"/>
                        </a:defRPr>
                      </a:pPr>
                      <a:r>
                        <a:t>8.1/10</a:t>
                      </a:r>
                    </a:p>
                  </a:txBody>
                  <a:tcPr marL="54864" marR="54864" marT="27432" marB="27432">
                    <a:solidFill>
                      <a:srgbClr val="E0E0E0"/>
                    </a:solidFill>
                  </a:tcPr>
                </a:tc>
                <a:tc>
                  <a:txBody>
                    <a:bodyPr/>
                    <a:lstStyle/>
                    <a:p>
                      <a:pPr algn="ctr">
                        <a:defRPr sz="900" b="1">
                          <a:solidFill>
                            <a:srgbClr val="1A1A1A"/>
                          </a:solidFill>
                          <a:latin typeface="Arial"/>
                        </a:defRPr>
                      </a:pPr>
                      <a:r>
                        <a:t>7.2/10</a:t>
                      </a:r>
                    </a:p>
                  </a:txBody>
                  <a:tcPr marL="54864" marR="54864" marT="27432" marB="27432">
                    <a:solidFill>
                      <a:srgbClr val="E0E0E0"/>
                    </a:solidFill>
                  </a:tcPr>
                </a:tc>
                <a:tc>
                  <a:txBody>
                    <a:bodyPr/>
                    <a:lstStyle/>
                    <a:p>
                      <a:pPr algn="ctr">
                        <a:defRPr sz="900" b="1">
                          <a:solidFill>
                            <a:srgbClr val="1A1A1A"/>
                          </a:solidFill>
                          <a:latin typeface="Arial"/>
                        </a:defRPr>
                      </a:pPr>
                      <a:r>
                        <a:t>6.5/10</a:t>
                      </a:r>
                    </a:p>
                  </a:txBody>
                  <a:tcPr marL="54864" marR="54864" marT="27432" marB="27432">
                    <a:solidFill>
                      <a:srgbClr val="E0E0E0"/>
                    </a:solidFill>
                  </a:tcPr>
                </a:tc>
                <a:tc>
                  <a:txBody>
                    <a:bodyPr/>
                    <a:lstStyle/>
                    <a:p>
                      <a:pPr algn="ctr">
                        <a:defRPr sz="900" b="1">
                          <a:solidFill>
                            <a:srgbClr val="1A1A1A"/>
                          </a:solidFill>
                          <a:latin typeface="Arial"/>
                        </a:defRPr>
                      </a:pPr>
                      <a:r>
                        <a:t>6.8/10</a:t>
                      </a:r>
                    </a:p>
                  </a:txBody>
                  <a:tcPr marL="54864" marR="54864" marT="27432" marB="27432">
                    <a:solidFill>
                      <a:srgbClr val="E0E0E0"/>
                    </a:solidFill>
                  </a:tcPr>
                </a:tc>
              </a:tr>
            </a:tbl>
          </a:graphicData>
        </a:graphic>
      </p:graphicFrame>
      <p:sp>
        <p:nvSpPr>
          <p:cNvPr id="5" name="Rectangle 4"/>
          <p:cNvSpPr/>
          <p:nvPr/>
        </p:nvSpPr>
        <p:spPr>
          <a:xfrm>
            <a:off x="640080" y="5349240"/>
            <a:ext cx="1088136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440680"/>
            <a:ext cx="2560320" cy="1051560"/>
          </a:xfrm>
          <a:prstGeom prst="rect">
            <a:avLst/>
          </a:prstGeom>
          <a:solidFill>
            <a:srgbClr val="F5F5F5"/>
          </a:solidFill>
          <a:ln w="9525">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19" y="5513832"/>
            <a:ext cx="2377439" cy="502920"/>
          </a:xfrm>
          <a:prstGeom prst="rect">
            <a:avLst/>
          </a:prstGeom>
          <a:noFill/>
        </p:spPr>
        <p:txBody>
          <a:bodyPr wrap="square">
            <a:spAutoFit/>
          </a:bodyPr>
          <a:lstStyle/>
          <a:p>
            <a:pPr algn="ctr">
              <a:lnSpc>
                <a:spcPts val="3380"/>
              </a:lnSpc>
              <a:spcAft>
                <a:spcPts val="0"/>
              </a:spcAft>
              <a:defRPr sz="2600" b="1">
                <a:solidFill>
                  <a:srgbClr val="E84D0E"/>
                </a:solidFill>
                <a:latin typeface="Arial"/>
              </a:defRPr>
            </a:pPr>
            <a:r>
              <a:t>8.1</a:t>
            </a:r>
          </a:p>
        </p:txBody>
      </p:sp>
      <p:sp>
        <p:nvSpPr>
          <p:cNvPr id="8" name="TextBox 7"/>
          <p:cNvSpPr txBox="1"/>
          <p:nvPr/>
        </p:nvSpPr>
        <p:spPr>
          <a:xfrm>
            <a:off x="731519" y="6035040"/>
            <a:ext cx="2377439" cy="411480"/>
          </a:xfrm>
          <a:prstGeom prst="rect">
            <a:avLst/>
          </a:prstGeom>
          <a:noFill/>
        </p:spPr>
        <p:txBody>
          <a:bodyPr wrap="square">
            <a:spAutoFit/>
          </a:bodyPr>
          <a:lstStyle/>
          <a:p>
            <a:pPr algn="ctr">
              <a:lnSpc>
                <a:spcPts val="960"/>
              </a:lnSpc>
              <a:spcAft>
                <a:spcPts val="0"/>
              </a:spcAft>
              <a:defRPr sz="800" b="0">
                <a:solidFill>
                  <a:srgbClr val="666666"/>
                </a:solidFill>
                <a:latin typeface="Arial"/>
              </a:defRPr>
            </a:pPr>
            <a:r>
              <a:t>Bangalore</a:t>
            </a:r>
            <a:br/>
            <a:r>
              <a:t>#1 Overall</a:t>
            </a:r>
          </a:p>
        </p:txBody>
      </p:sp>
      <p:sp>
        <p:nvSpPr>
          <p:cNvPr id="9" name="Rectangle 8"/>
          <p:cNvSpPr/>
          <p:nvPr/>
        </p:nvSpPr>
        <p:spPr>
          <a:xfrm>
            <a:off x="3429000" y="5440680"/>
            <a:ext cx="2560320" cy="1051560"/>
          </a:xfrm>
          <a:prstGeom prst="rect">
            <a:avLst/>
          </a:prstGeom>
          <a:solidFill>
            <a:srgbClr val="F5F5F5"/>
          </a:solidFill>
          <a:ln w="9525">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20440" y="5513832"/>
            <a:ext cx="2377439" cy="502920"/>
          </a:xfrm>
          <a:prstGeom prst="rect">
            <a:avLst/>
          </a:prstGeom>
          <a:noFill/>
        </p:spPr>
        <p:txBody>
          <a:bodyPr wrap="square">
            <a:spAutoFit/>
          </a:bodyPr>
          <a:lstStyle/>
          <a:p>
            <a:pPr algn="ctr">
              <a:lnSpc>
                <a:spcPts val="3380"/>
              </a:lnSpc>
              <a:spcAft>
                <a:spcPts val="0"/>
              </a:spcAft>
              <a:defRPr sz="2600" b="1">
                <a:solidFill>
                  <a:srgbClr val="E84D0E"/>
                </a:solidFill>
                <a:latin typeface="Arial"/>
              </a:defRPr>
            </a:pPr>
            <a:r>
              <a:t>7.2</a:t>
            </a:r>
          </a:p>
        </p:txBody>
      </p:sp>
      <p:sp>
        <p:nvSpPr>
          <p:cNvPr id="11" name="TextBox 10"/>
          <p:cNvSpPr txBox="1"/>
          <p:nvPr/>
        </p:nvSpPr>
        <p:spPr>
          <a:xfrm>
            <a:off x="3520440" y="6035040"/>
            <a:ext cx="2377439" cy="411480"/>
          </a:xfrm>
          <a:prstGeom prst="rect">
            <a:avLst/>
          </a:prstGeom>
          <a:noFill/>
        </p:spPr>
        <p:txBody>
          <a:bodyPr wrap="square">
            <a:spAutoFit/>
          </a:bodyPr>
          <a:lstStyle/>
          <a:p>
            <a:pPr algn="ctr">
              <a:lnSpc>
                <a:spcPts val="960"/>
              </a:lnSpc>
              <a:spcAft>
                <a:spcPts val="0"/>
              </a:spcAft>
              <a:defRPr sz="800" b="0">
                <a:solidFill>
                  <a:srgbClr val="666666"/>
                </a:solidFill>
                <a:latin typeface="Arial"/>
              </a:defRPr>
            </a:pPr>
            <a:r>
              <a:t>Hyderabad</a:t>
            </a:r>
            <a:br/>
            <a:r>
              <a:t>#2 Challenger</a:t>
            </a:r>
          </a:p>
        </p:txBody>
      </p:sp>
      <p:sp>
        <p:nvSpPr>
          <p:cNvPr id="12" name="Rectangle 11"/>
          <p:cNvSpPr/>
          <p:nvPr/>
        </p:nvSpPr>
        <p:spPr>
          <a:xfrm>
            <a:off x="6217920" y="5440680"/>
            <a:ext cx="2560320" cy="1051560"/>
          </a:xfrm>
          <a:prstGeom prst="rect">
            <a:avLst/>
          </a:prstGeom>
          <a:solidFill>
            <a:srgbClr val="F5F5F5"/>
          </a:solidFill>
          <a:ln w="9525">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9359" y="5513832"/>
            <a:ext cx="2377439" cy="502920"/>
          </a:xfrm>
          <a:prstGeom prst="rect">
            <a:avLst/>
          </a:prstGeom>
          <a:noFill/>
        </p:spPr>
        <p:txBody>
          <a:bodyPr wrap="square">
            <a:spAutoFit/>
          </a:bodyPr>
          <a:lstStyle/>
          <a:p>
            <a:pPr algn="ctr">
              <a:lnSpc>
                <a:spcPts val="3380"/>
              </a:lnSpc>
              <a:spcAft>
                <a:spcPts val="0"/>
              </a:spcAft>
              <a:defRPr sz="2600" b="1">
                <a:solidFill>
                  <a:srgbClr val="E84D0E"/>
                </a:solidFill>
                <a:latin typeface="Arial"/>
              </a:defRPr>
            </a:pPr>
            <a:r>
              <a:t>6.8</a:t>
            </a:r>
          </a:p>
        </p:txBody>
      </p:sp>
      <p:sp>
        <p:nvSpPr>
          <p:cNvPr id="14" name="TextBox 13"/>
          <p:cNvSpPr txBox="1"/>
          <p:nvPr/>
        </p:nvSpPr>
        <p:spPr>
          <a:xfrm>
            <a:off x="6309359" y="6035040"/>
            <a:ext cx="2377439" cy="411480"/>
          </a:xfrm>
          <a:prstGeom prst="rect">
            <a:avLst/>
          </a:prstGeom>
          <a:noFill/>
        </p:spPr>
        <p:txBody>
          <a:bodyPr wrap="square">
            <a:spAutoFit/>
          </a:bodyPr>
          <a:lstStyle/>
          <a:p>
            <a:pPr algn="ctr">
              <a:lnSpc>
                <a:spcPts val="960"/>
              </a:lnSpc>
              <a:spcAft>
                <a:spcPts val="0"/>
              </a:spcAft>
              <a:defRPr sz="800" b="0">
                <a:solidFill>
                  <a:srgbClr val="666666"/>
                </a:solidFill>
                <a:latin typeface="Arial"/>
              </a:defRPr>
            </a:pPr>
            <a:r>
              <a:t>Delhi NCR</a:t>
            </a:r>
            <a:br/>
            <a:r>
              <a:t>#3 Connectivity</a:t>
            </a:r>
          </a:p>
        </p:txBody>
      </p:sp>
      <p:sp>
        <p:nvSpPr>
          <p:cNvPr id="15" name="Rectangle 14"/>
          <p:cNvSpPr/>
          <p:nvPr/>
        </p:nvSpPr>
        <p:spPr>
          <a:xfrm>
            <a:off x="9006839" y="5440680"/>
            <a:ext cx="2560320" cy="1051560"/>
          </a:xfrm>
          <a:prstGeom prst="rect">
            <a:avLst/>
          </a:prstGeom>
          <a:solidFill>
            <a:srgbClr val="F5F5F5"/>
          </a:solidFill>
          <a:ln w="9525">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98279" y="5513832"/>
            <a:ext cx="2377439" cy="502920"/>
          </a:xfrm>
          <a:prstGeom prst="rect">
            <a:avLst/>
          </a:prstGeom>
          <a:noFill/>
        </p:spPr>
        <p:txBody>
          <a:bodyPr wrap="square">
            <a:spAutoFit/>
          </a:bodyPr>
          <a:lstStyle/>
          <a:p>
            <a:pPr algn="ctr">
              <a:lnSpc>
                <a:spcPts val="3380"/>
              </a:lnSpc>
              <a:spcAft>
                <a:spcPts val="0"/>
              </a:spcAft>
              <a:defRPr sz="2600" b="1">
                <a:solidFill>
                  <a:srgbClr val="E84D0E"/>
                </a:solidFill>
                <a:latin typeface="Arial"/>
              </a:defRPr>
            </a:pPr>
            <a:r>
              <a:t>6.5</a:t>
            </a:r>
          </a:p>
        </p:txBody>
      </p:sp>
      <p:sp>
        <p:nvSpPr>
          <p:cNvPr id="17" name="TextBox 16"/>
          <p:cNvSpPr txBox="1"/>
          <p:nvPr/>
        </p:nvSpPr>
        <p:spPr>
          <a:xfrm>
            <a:off x="9098279" y="6035040"/>
            <a:ext cx="2377439" cy="411480"/>
          </a:xfrm>
          <a:prstGeom prst="rect">
            <a:avLst/>
          </a:prstGeom>
          <a:noFill/>
        </p:spPr>
        <p:txBody>
          <a:bodyPr wrap="square">
            <a:spAutoFit/>
          </a:bodyPr>
          <a:lstStyle/>
          <a:p>
            <a:pPr algn="ctr">
              <a:lnSpc>
                <a:spcPts val="960"/>
              </a:lnSpc>
              <a:spcAft>
                <a:spcPts val="0"/>
              </a:spcAft>
              <a:defRPr sz="800" b="0">
                <a:solidFill>
                  <a:srgbClr val="666666"/>
                </a:solidFill>
                <a:latin typeface="Arial"/>
              </a:defRPr>
            </a:pPr>
            <a:r>
              <a:t>Pune</a:t>
            </a:r>
            <a:br/>
            <a:r>
              <a:t>#4 Retention</a:t>
            </a:r>
          </a:p>
        </p:txBody>
      </p:sp>
      <p:sp>
        <p:nvSpPr>
          <p:cNvPr id="18" name="Rectangle 17"/>
          <p:cNvSpPr/>
          <p:nvPr/>
        </p:nvSpPr>
        <p:spPr>
          <a:xfrm>
            <a:off x="0" y="6080760"/>
            <a:ext cx="12191695" cy="36576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wrap="square" lIns="640080" tIns="63500"/>
          <a:lstStyle/>
          <a:p>
            <a:pPr algn="l">
              <a:defRPr sz="1000" b="1">
                <a:solidFill>
                  <a:srgbClr val="2D2D2D"/>
                </a:solidFill>
                <a:latin typeface="Arial"/>
              </a:defRPr>
            </a:pPr>
            <a:r>
              <a:t>SO WHAT: Equal-weighted scorecards mask BFSI priorities — when weighted for financial services, Bangalore leads but Hyderabad is closer than expected</a:t>
            </a:r>
          </a:p>
        </p:txBody>
      </p:sp>
      <p:sp>
        <p:nvSpPr>
          <p:cNvPr id="19" name="TextBox 18"/>
          <p:cNvSpPr txBox="1"/>
          <p:nvPr/>
        </p:nvSpPr>
        <p:spPr>
          <a:xfrm>
            <a:off x="11247120" y="6537960"/>
            <a:ext cx="731520" cy="228600"/>
          </a:xfrm>
          <a:prstGeom prst="rect">
            <a:avLst/>
          </a:prstGeom>
          <a:noFill/>
        </p:spPr>
        <p:txBody>
          <a:bodyPr wrap="square">
            <a:spAutoFit/>
          </a:bodyPr>
          <a:lstStyle/>
          <a:p>
            <a:pPr algn="r">
              <a:lnSpc>
                <a:spcPts val="910"/>
              </a:lnSpc>
              <a:spcAft>
                <a:spcPts val="0"/>
              </a:spcAft>
              <a:defRPr sz="700" b="1">
                <a:solidFill>
                  <a:srgbClr val="666666"/>
                </a:solidFill>
                <a:latin typeface="Arial"/>
              </a:defRPr>
            </a:pPr>
            <a:r>
              <a:t>3</a:t>
            </a:r>
          </a:p>
        </p:txBody>
      </p:sp>
      <p:sp>
        <p:nvSpPr>
          <p:cNvPr id="20" name="TextBox 19"/>
          <p:cNvSpPr txBox="1"/>
          <p:nvPr/>
        </p:nvSpPr>
        <p:spPr>
          <a:xfrm>
            <a:off x="640080" y="6537960"/>
            <a:ext cx="10058400" cy="228600"/>
          </a:xfrm>
          <a:prstGeom prst="rect">
            <a:avLst/>
          </a:prstGeom>
          <a:noFill/>
        </p:spPr>
        <p:txBody>
          <a:bodyPr wrap="square">
            <a:spAutoFit/>
          </a:bodyPr>
          <a:lstStyle/>
          <a:p>
            <a:pPr algn="l">
              <a:lnSpc>
                <a:spcPts val="910"/>
              </a:lnSpc>
              <a:spcAft>
                <a:spcPts val="0"/>
              </a:spcAft>
              <a:defRPr sz="700" b="0">
                <a:solidFill>
                  <a:srgbClr val="666666"/>
                </a:solidFill>
                <a:latin typeface="Arial"/>
              </a:defRPr>
            </a:pPr>
            <a:r>
              <a:t>Sources: Zinnov, NASSCOM, ANSR, JLL, CBRE, Aon, Mercer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137160"/>
            <a:ext cx="4572000" cy="228600"/>
          </a:xfrm>
          <a:prstGeom prst="rect">
            <a:avLst/>
          </a:prstGeom>
          <a:noFill/>
        </p:spPr>
        <p:txBody>
          <a:bodyPr wrap="square">
            <a:spAutoFit/>
          </a:bodyPr>
          <a:lstStyle/>
          <a:p>
            <a:pPr algn="l">
              <a:lnSpc>
                <a:spcPts val="1170"/>
              </a:lnSpc>
              <a:spcAft>
                <a:spcPts val="0"/>
              </a:spcAft>
              <a:defRPr sz="900" b="1">
                <a:solidFill>
                  <a:srgbClr val="E84D0E"/>
                </a:solidFill>
                <a:latin typeface="Arial"/>
              </a:defRPr>
            </a:pPr>
            <a:r>
              <a:t>LOCATION DEEP DIVE</a:t>
            </a:r>
          </a:p>
        </p:txBody>
      </p:sp>
      <p:sp>
        <p:nvSpPr>
          <p:cNvPr id="3" name="TextBox 2"/>
          <p:cNvSpPr txBox="1"/>
          <p:nvPr/>
        </p:nvSpPr>
        <p:spPr>
          <a:xfrm>
            <a:off x="640080" y="320040"/>
            <a:ext cx="10881360" cy="822960"/>
          </a:xfrm>
          <a:prstGeom prst="rect">
            <a:avLst/>
          </a:prstGeom>
          <a:noFill/>
        </p:spPr>
        <p:txBody>
          <a:bodyPr wrap="square">
            <a:spAutoFit/>
          </a:bodyPr>
          <a:lstStyle/>
          <a:p>
            <a:pPr algn="l">
              <a:lnSpc>
                <a:spcPts val="3380"/>
              </a:lnSpc>
              <a:spcAft>
                <a:spcPts val="0"/>
              </a:spcAft>
              <a:defRPr sz="2600" b="1">
                <a:solidFill>
                  <a:srgbClr val="1A1A1A"/>
                </a:solidFill>
                <a:latin typeface="Arial"/>
              </a:defRPr>
            </a:pPr>
            <a:r>
              <a:t>Bangalore: The Established Leader Facing Saturation Risk</a:t>
            </a:r>
          </a:p>
        </p:txBody>
      </p:sp>
      <p:sp>
        <p:nvSpPr>
          <p:cNvPr id="4" name="Rectangle 3"/>
          <p:cNvSpPr/>
          <p:nvPr/>
        </p:nvSpPr>
        <p:spPr>
          <a:xfrm>
            <a:off x="640080" y="1371600"/>
            <a:ext cx="2560320" cy="1051560"/>
          </a:xfrm>
          <a:prstGeom prst="rect">
            <a:avLst/>
          </a:prstGeom>
          <a:solidFill>
            <a:srgbClr val="F5F5F5"/>
          </a:solidFill>
          <a:ln w="9525">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19" y="1444752"/>
            <a:ext cx="2377439" cy="502920"/>
          </a:xfrm>
          <a:prstGeom prst="rect">
            <a:avLst/>
          </a:prstGeom>
          <a:noFill/>
        </p:spPr>
        <p:txBody>
          <a:bodyPr wrap="square">
            <a:spAutoFit/>
          </a:bodyPr>
          <a:lstStyle/>
          <a:p>
            <a:pPr algn="ctr">
              <a:lnSpc>
                <a:spcPts val="3900"/>
              </a:lnSpc>
              <a:spcAft>
                <a:spcPts val="0"/>
              </a:spcAft>
              <a:defRPr sz="3000" b="1">
                <a:solidFill>
                  <a:srgbClr val="E84D0E"/>
                </a:solidFill>
                <a:latin typeface="Arial"/>
              </a:defRPr>
            </a:pPr>
            <a:r>
              <a:t>870+</a:t>
            </a:r>
          </a:p>
        </p:txBody>
      </p:sp>
      <p:sp>
        <p:nvSpPr>
          <p:cNvPr id="6" name="TextBox 5"/>
          <p:cNvSpPr txBox="1"/>
          <p:nvPr/>
        </p:nvSpPr>
        <p:spPr>
          <a:xfrm>
            <a:off x="731519" y="1965960"/>
            <a:ext cx="2377439" cy="411480"/>
          </a:xfrm>
          <a:prstGeom prst="rect">
            <a:avLst/>
          </a:prstGeom>
          <a:noFill/>
        </p:spPr>
        <p:txBody>
          <a:bodyPr wrap="square">
            <a:spAutoFit/>
          </a:bodyPr>
          <a:lstStyle/>
          <a:p>
            <a:pPr algn="ctr">
              <a:lnSpc>
                <a:spcPts val="960"/>
              </a:lnSpc>
              <a:spcAft>
                <a:spcPts val="0"/>
              </a:spcAft>
              <a:defRPr sz="800" b="0">
                <a:solidFill>
                  <a:srgbClr val="666666"/>
                </a:solidFill>
                <a:latin typeface="Arial"/>
              </a:defRPr>
            </a:pPr>
            <a:r>
              <a:t>GCCs</a:t>
            </a:r>
          </a:p>
        </p:txBody>
      </p:sp>
      <p:sp>
        <p:nvSpPr>
          <p:cNvPr id="7" name="Rectangle 6"/>
          <p:cNvSpPr/>
          <p:nvPr/>
        </p:nvSpPr>
        <p:spPr>
          <a:xfrm>
            <a:off x="3429000" y="1371600"/>
            <a:ext cx="2560320" cy="1051560"/>
          </a:xfrm>
          <a:prstGeom prst="rect">
            <a:avLst/>
          </a:prstGeom>
          <a:solidFill>
            <a:srgbClr val="F5F5F5"/>
          </a:solidFill>
          <a:ln w="9525">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20440" y="1444752"/>
            <a:ext cx="2377439" cy="502920"/>
          </a:xfrm>
          <a:prstGeom prst="rect">
            <a:avLst/>
          </a:prstGeom>
          <a:noFill/>
        </p:spPr>
        <p:txBody>
          <a:bodyPr wrap="square">
            <a:spAutoFit/>
          </a:bodyPr>
          <a:lstStyle/>
          <a:p>
            <a:pPr algn="ctr">
              <a:lnSpc>
                <a:spcPts val="3900"/>
              </a:lnSpc>
              <a:spcAft>
                <a:spcPts val="0"/>
              </a:spcAft>
              <a:defRPr sz="3000" b="1">
                <a:solidFill>
                  <a:srgbClr val="E84D0E"/>
                </a:solidFill>
                <a:latin typeface="Arial"/>
              </a:defRPr>
            </a:pPr>
            <a:r>
              <a:t>42%</a:t>
            </a:r>
          </a:p>
        </p:txBody>
      </p:sp>
      <p:sp>
        <p:nvSpPr>
          <p:cNvPr id="9" name="TextBox 8"/>
          <p:cNvSpPr txBox="1"/>
          <p:nvPr/>
        </p:nvSpPr>
        <p:spPr>
          <a:xfrm>
            <a:off x="3520440" y="1965960"/>
            <a:ext cx="2377439" cy="411480"/>
          </a:xfrm>
          <a:prstGeom prst="rect">
            <a:avLst/>
          </a:prstGeom>
          <a:noFill/>
        </p:spPr>
        <p:txBody>
          <a:bodyPr wrap="square">
            <a:spAutoFit/>
          </a:bodyPr>
          <a:lstStyle/>
          <a:p>
            <a:pPr algn="ctr">
              <a:lnSpc>
                <a:spcPts val="960"/>
              </a:lnSpc>
              <a:spcAft>
                <a:spcPts val="0"/>
              </a:spcAft>
              <a:defRPr sz="800" b="0">
                <a:solidFill>
                  <a:srgbClr val="666666"/>
                </a:solidFill>
                <a:latin typeface="Arial"/>
              </a:defRPr>
            </a:pPr>
            <a:r>
              <a:t>Market Share</a:t>
            </a:r>
          </a:p>
        </p:txBody>
      </p:sp>
      <p:sp>
        <p:nvSpPr>
          <p:cNvPr id="10" name="Rectangle 9"/>
          <p:cNvSpPr/>
          <p:nvPr/>
        </p:nvSpPr>
        <p:spPr>
          <a:xfrm>
            <a:off x="6217920" y="1371600"/>
            <a:ext cx="2560320" cy="1051560"/>
          </a:xfrm>
          <a:prstGeom prst="rect">
            <a:avLst/>
          </a:prstGeom>
          <a:solidFill>
            <a:srgbClr val="F5F5F5"/>
          </a:solidFill>
          <a:ln w="9525">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59" y="1444752"/>
            <a:ext cx="2377439" cy="502920"/>
          </a:xfrm>
          <a:prstGeom prst="rect">
            <a:avLst/>
          </a:prstGeom>
          <a:noFill/>
        </p:spPr>
        <p:txBody>
          <a:bodyPr wrap="square">
            <a:spAutoFit/>
          </a:bodyPr>
          <a:lstStyle/>
          <a:p>
            <a:pPr algn="ctr">
              <a:lnSpc>
                <a:spcPts val="3900"/>
              </a:lnSpc>
              <a:spcAft>
                <a:spcPts val="0"/>
              </a:spcAft>
              <a:defRPr sz="3000" b="1">
                <a:solidFill>
                  <a:srgbClr val="E84D0E"/>
                </a:solidFill>
                <a:latin typeface="Arial"/>
              </a:defRPr>
            </a:pPr>
            <a:r>
              <a:t>32%</a:t>
            </a:r>
          </a:p>
        </p:txBody>
      </p:sp>
      <p:sp>
        <p:nvSpPr>
          <p:cNvPr id="12" name="TextBox 11"/>
          <p:cNvSpPr txBox="1"/>
          <p:nvPr/>
        </p:nvSpPr>
        <p:spPr>
          <a:xfrm>
            <a:off x="6309359" y="1965960"/>
            <a:ext cx="2377439" cy="411480"/>
          </a:xfrm>
          <a:prstGeom prst="rect">
            <a:avLst/>
          </a:prstGeom>
          <a:noFill/>
        </p:spPr>
        <p:txBody>
          <a:bodyPr wrap="square">
            <a:spAutoFit/>
          </a:bodyPr>
          <a:lstStyle/>
          <a:p>
            <a:pPr algn="ctr">
              <a:lnSpc>
                <a:spcPts val="960"/>
              </a:lnSpc>
              <a:spcAft>
                <a:spcPts val="0"/>
              </a:spcAft>
              <a:defRPr sz="800" b="0">
                <a:solidFill>
                  <a:srgbClr val="666666"/>
                </a:solidFill>
                <a:latin typeface="Arial"/>
              </a:defRPr>
            </a:pPr>
            <a:r>
              <a:t>FinCrime Talent</a:t>
            </a:r>
          </a:p>
        </p:txBody>
      </p:sp>
      <p:sp>
        <p:nvSpPr>
          <p:cNvPr id="13" name="Rectangle 12"/>
          <p:cNvSpPr/>
          <p:nvPr/>
        </p:nvSpPr>
        <p:spPr>
          <a:xfrm>
            <a:off x="9006839" y="1371600"/>
            <a:ext cx="2560320" cy="1051560"/>
          </a:xfrm>
          <a:prstGeom prst="rect">
            <a:avLst/>
          </a:prstGeom>
          <a:solidFill>
            <a:srgbClr val="F5F5F5"/>
          </a:solidFill>
          <a:ln w="9525">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98279" y="1444752"/>
            <a:ext cx="2377439" cy="502920"/>
          </a:xfrm>
          <a:prstGeom prst="rect">
            <a:avLst/>
          </a:prstGeom>
          <a:noFill/>
        </p:spPr>
        <p:txBody>
          <a:bodyPr wrap="square">
            <a:spAutoFit/>
          </a:bodyPr>
          <a:lstStyle/>
          <a:p>
            <a:pPr algn="ctr">
              <a:lnSpc>
                <a:spcPts val="3900"/>
              </a:lnSpc>
              <a:spcAft>
                <a:spcPts val="0"/>
              </a:spcAft>
              <a:defRPr sz="3000" b="1">
                <a:solidFill>
                  <a:srgbClr val="E84D0E"/>
                </a:solidFill>
                <a:latin typeface="Arial"/>
              </a:defRPr>
            </a:pPr>
            <a:r>
              <a:t>1M+</a:t>
            </a:r>
          </a:p>
        </p:txBody>
      </p:sp>
      <p:sp>
        <p:nvSpPr>
          <p:cNvPr id="15" name="TextBox 14"/>
          <p:cNvSpPr txBox="1"/>
          <p:nvPr/>
        </p:nvSpPr>
        <p:spPr>
          <a:xfrm>
            <a:off x="9098279" y="1965960"/>
            <a:ext cx="2377439" cy="411480"/>
          </a:xfrm>
          <a:prstGeom prst="rect">
            <a:avLst/>
          </a:prstGeom>
          <a:noFill/>
        </p:spPr>
        <p:txBody>
          <a:bodyPr wrap="square">
            <a:spAutoFit/>
          </a:bodyPr>
          <a:lstStyle/>
          <a:p>
            <a:pPr algn="ctr">
              <a:lnSpc>
                <a:spcPts val="960"/>
              </a:lnSpc>
              <a:spcAft>
                <a:spcPts val="0"/>
              </a:spcAft>
              <a:defRPr sz="800" b="0">
                <a:solidFill>
                  <a:srgbClr val="666666"/>
                </a:solidFill>
                <a:latin typeface="Arial"/>
              </a:defRPr>
            </a:pPr>
            <a:r>
              <a:t>Tech Professionals</a:t>
            </a:r>
          </a:p>
        </p:txBody>
      </p:sp>
      <p:sp>
        <p:nvSpPr>
          <p:cNvPr id="16" name="Rectangle 15"/>
          <p:cNvSpPr/>
          <p:nvPr/>
        </p:nvSpPr>
        <p:spPr>
          <a:xfrm>
            <a:off x="640080" y="2606040"/>
            <a:ext cx="1088136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 y="2743200"/>
            <a:ext cx="5372100" cy="1463040"/>
          </a:xfrm>
          <a:prstGeom prst="rect">
            <a:avLst/>
          </a:prstGeom>
          <a:solidFill>
            <a:srgbClr val="F5F5F5"/>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rIns="109728"/>
          <a:lstStyle/>
          <a:p>
            <a:pPr algn="ctr">
              <a:defRPr sz="1000" b="1">
                <a:solidFill>
                  <a:srgbClr val="E84D0E"/>
                </a:solidFill>
                <a:latin typeface="Arial"/>
              </a:defRPr>
            </a:pPr>
            <a:r>
              <a:t>■  STRENGTHS</a:t>
            </a:r>
          </a:p>
          <a:p>
            <a:pPr>
              <a:lnSpc>
                <a:spcPts val="1215"/>
              </a:lnSpc>
              <a:spcBef>
                <a:spcPts val="400"/>
              </a:spcBef>
              <a:defRPr sz="900">
                <a:solidFill>
                  <a:srgbClr val="4A4A4A"/>
                </a:solidFill>
                <a:latin typeface="Arial"/>
              </a:defRPr>
            </a:pPr>
            <a:r>
              <a:t>• Home to Goldman Sachs, JP Morgan, Wells Fargo, Citi</a:t>
            </a:r>
            <a:br/>
            <a:r>
              <a:t>• #1 Asia-Pacific for tech talent; #4 globally</a:t>
            </a:r>
            <a:br/>
            <a:r>
              <a:t>• GCC Policy 2024-29: targeting 500 new GCCs</a:t>
            </a:r>
            <a:br/>
            <a:r>
              <a:t>• 25% capital subsidy, Rs 1B AI Skilling Fund</a:t>
            </a:r>
          </a:p>
        </p:txBody>
      </p:sp>
      <p:sp>
        <p:nvSpPr>
          <p:cNvPr id="18" name="Rectangle 17"/>
          <p:cNvSpPr/>
          <p:nvPr/>
        </p:nvSpPr>
        <p:spPr>
          <a:xfrm>
            <a:off x="6149340" y="2743200"/>
            <a:ext cx="5372100" cy="1463040"/>
          </a:xfrm>
          <a:prstGeom prst="rect">
            <a:avLst/>
          </a:prstGeom>
          <a:solidFill>
            <a:srgbClr val="F5F5F5"/>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rIns="109728"/>
          <a:lstStyle/>
          <a:p>
            <a:pPr algn="ctr">
              <a:defRPr sz="1000" b="1">
                <a:solidFill>
                  <a:srgbClr val="C0392B"/>
                </a:solidFill>
                <a:latin typeface="Arial"/>
              </a:defRPr>
            </a:pPr>
            <a:r>
              <a:t>▲  CHALLENGES</a:t>
            </a:r>
          </a:p>
          <a:p>
            <a:pPr>
              <a:lnSpc>
                <a:spcPts val="1215"/>
              </a:lnSpc>
              <a:spcBef>
                <a:spcPts val="400"/>
              </a:spcBef>
              <a:defRPr sz="900">
                <a:solidFill>
                  <a:srgbClr val="4A4A4A"/>
                </a:solidFill>
                <a:latin typeface="Arial"/>
              </a:defRPr>
            </a:pPr>
            <a:r>
              <a:t>• Highest cost index (100) — 25-35% salary premium</a:t>
            </a:r>
            <a:br/>
            <a:r>
              <a:t>• 16-20% attrition: all banks competing for same pool</a:t>
            </a:r>
            <a:br/>
            <a:r>
              <a:t>• Office rents Rs 80-120/sq ft (+16% growth)</a:t>
            </a:r>
            <a:br/>
            <a:r>
              <a:t>• Saturation: talent shared among 870+ GCCs</a:t>
            </a:r>
          </a:p>
        </p:txBody>
      </p:sp>
      <p:sp>
        <p:nvSpPr>
          <p:cNvPr id="19" name="Rectangle 18"/>
          <p:cNvSpPr/>
          <p:nvPr/>
        </p:nvSpPr>
        <p:spPr>
          <a:xfrm>
            <a:off x="640080" y="4343400"/>
            <a:ext cx="5372100" cy="1463040"/>
          </a:xfrm>
          <a:prstGeom prst="rect">
            <a:avLst/>
          </a:prstGeom>
          <a:solidFill>
            <a:srgbClr val="F5F5F5"/>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rIns="109728"/>
          <a:lstStyle/>
          <a:p>
            <a:pPr algn="ctr">
              <a:defRPr sz="1000" b="1">
                <a:solidFill>
                  <a:srgbClr val="27AE60"/>
                </a:solidFill>
                <a:latin typeface="Arial"/>
              </a:defRPr>
            </a:pPr>
            <a:r>
              <a:t>★  KEY BFSI GCCs</a:t>
            </a:r>
          </a:p>
          <a:p>
            <a:pPr>
              <a:lnSpc>
                <a:spcPts val="1215"/>
              </a:lnSpc>
              <a:spcBef>
                <a:spcPts val="400"/>
              </a:spcBef>
              <a:defRPr sz="900">
                <a:solidFill>
                  <a:srgbClr val="4A4A4A"/>
                </a:solidFill>
                <a:latin typeface="Arial"/>
              </a:defRPr>
            </a:pPr>
            <a:r>
              <a:t>• Goldman Sachs (2004, 2nd largest global office)</a:t>
            </a:r>
            <a:br/>
            <a:r>
              <a:t>• JP Morgan (1.6M sq ft campus)</a:t>
            </a:r>
            <a:br/>
            <a:r>
              <a:t>• Wells Fargo | Citibank | Fidelity</a:t>
            </a:r>
            <a:br/>
            <a:r>
              <a:t>• Societe Generale | Standard Chartered</a:t>
            </a:r>
          </a:p>
        </p:txBody>
      </p:sp>
      <p:sp>
        <p:nvSpPr>
          <p:cNvPr id="20" name="Rectangle 19"/>
          <p:cNvSpPr/>
          <p:nvPr/>
        </p:nvSpPr>
        <p:spPr>
          <a:xfrm>
            <a:off x="6149340" y="4343400"/>
            <a:ext cx="5372100" cy="1463040"/>
          </a:xfrm>
          <a:prstGeom prst="rect">
            <a:avLst/>
          </a:prstGeom>
          <a:solidFill>
            <a:srgbClr val="F5F5F5"/>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rIns="109728"/>
          <a:lstStyle/>
          <a:p>
            <a:pPr algn="ctr">
              <a:defRPr sz="1000" b="1">
                <a:solidFill>
                  <a:srgbClr val="2C3E50"/>
                </a:solidFill>
                <a:latin typeface="Arial"/>
              </a:defRPr>
            </a:pPr>
            <a:r>
              <a:t>⚙  POLICY INCENTIVES</a:t>
            </a:r>
          </a:p>
          <a:p>
            <a:pPr>
              <a:lnSpc>
                <a:spcPts val="1215"/>
              </a:lnSpc>
              <a:spcBef>
                <a:spcPts val="400"/>
              </a:spcBef>
              <a:defRPr sz="900">
                <a:solidFill>
                  <a:srgbClr val="4A4A4A"/>
                </a:solidFill>
                <a:latin typeface="Arial"/>
              </a:defRPr>
            </a:pPr>
            <a:r>
              <a:t>• GCC Policy 2024-2029: 350K new jobs target</a:t>
            </a:r>
            <a:br/>
            <a:r>
              <a:t>• 50% EPF reimbursement for 5 years</a:t>
            </a:r>
            <a:br/>
            <a:r>
              <a:t>• Rs 1B AI Skilling Fund for workforce</a:t>
            </a:r>
            <a:br/>
            <a:r>
              <a:t>• Dedicated GCC facilitation cell</a:t>
            </a:r>
          </a:p>
        </p:txBody>
      </p:sp>
      <p:sp>
        <p:nvSpPr>
          <p:cNvPr id="21" name="Rectangle 20"/>
          <p:cNvSpPr/>
          <p:nvPr/>
        </p:nvSpPr>
        <p:spPr>
          <a:xfrm>
            <a:off x="0" y="6080760"/>
            <a:ext cx="12191695" cy="36576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wrap="square" lIns="640080" tIns="63500"/>
          <a:lstStyle/>
          <a:p>
            <a:pPr algn="l">
              <a:defRPr sz="1000" b="1">
                <a:solidFill>
                  <a:srgbClr val="2D2D2D"/>
                </a:solidFill>
                <a:latin typeface="Arial"/>
              </a:defRPr>
            </a:pPr>
            <a:r>
              <a:t>SO WHAT: 42% share means saturation — Goldman, JPM, Citi, Wells Fargo all fight over the same talent pool</a:t>
            </a:r>
          </a:p>
        </p:txBody>
      </p:sp>
      <p:sp>
        <p:nvSpPr>
          <p:cNvPr id="22" name="TextBox 21"/>
          <p:cNvSpPr txBox="1"/>
          <p:nvPr/>
        </p:nvSpPr>
        <p:spPr>
          <a:xfrm>
            <a:off x="11247120" y="6537960"/>
            <a:ext cx="731520" cy="228600"/>
          </a:xfrm>
          <a:prstGeom prst="rect">
            <a:avLst/>
          </a:prstGeom>
          <a:noFill/>
        </p:spPr>
        <p:txBody>
          <a:bodyPr wrap="square">
            <a:spAutoFit/>
          </a:bodyPr>
          <a:lstStyle/>
          <a:p>
            <a:pPr algn="r">
              <a:lnSpc>
                <a:spcPts val="910"/>
              </a:lnSpc>
              <a:spcAft>
                <a:spcPts val="0"/>
              </a:spcAft>
              <a:defRPr sz="700" b="1">
                <a:solidFill>
                  <a:srgbClr val="666666"/>
                </a:solidFill>
                <a:latin typeface="Arial"/>
              </a:defRPr>
            </a:pPr>
            <a:r>
              <a:t>4</a:t>
            </a:r>
          </a:p>
        </p:txBody>
      </p:sp>
      <p:sp>
        <p:nvSpPr>
          <p:cNvPr id="23" name="TextBox 22"/>
          <p:cNvSpPr txBox="1"/>
          <p:nvPr/>
        </p:nvSpPr>
        <p:spPr>
          <a:xfrm>
            <a:off x="640080" y="6537960"/>
            <a:ext cx="10058400" cy="228600"/>
          </a:xfrm>
          <a:prstGeom prst="rect">
            <a:avLst/>
          </a:prstGeom>
          <a:noFill/>
        </p:spPr>
        <p:txBody>
          <a:bodyPr wrap="square">
            <a:spAutoFit/>
          </a:bodyPr>
          <a:lstStyle/>
          <a:p>
            <a:pPr algn="l">
              <a:lnSpc>
                <a:spcPts val="910"/>
              </a:lnSpc>
              <a:spcAft>
                <a:spcPts val="0"/>
              </a:spcAft>
              <a:defRPr sz="700" b="0">
                <a:solidFill>
                  <a:srgbClr val="666666"/>
                </a:solidFill>
                <a:latin typeface="Arial"/>
              </a:defRPr>
            </a:pPr>
            <a:r>
              <a:t>Sources: NASSCOM, Zinnov, Karnataka GCC Policy 2024-2029, Karat 2025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137160"/>
            <a:ext cx="4572000" cy="228600"/>
          </a:xfrm>
          <a:prstGeom prst="rect">
            <a:avLst/>
          </a:prstGeom>
          <a:noFill/>
        </p:spPr>
        <p:txBody>
          <a:bodyPr wrap="square">
            <a:spAutoFit/>
          </a:bodyPr>
          <a:lstStyle/>
          <a:p>
            <a:pPr algn="l">
              <a:lnSpc>
                <a:spcPts val="1170"/>
              </a:lnSpc>
              <a:spcAft>
                <a:spcPts val="0"/>
              </a:spcAft>
              <a:defRPr sz="900" b="1">
                <a:solidFill>
                  <a:srgbClr val="E84D0E"/>
                </a:solidFill>
                <a:latin typeface="Arial"/>
              </a:defRPr>
            </a:pPr>
            <a:r>
              <a:t>LOCATION DEEP DIVE</a:t>
            </a:r>
          </a:p>
        </p:txBody>
      </p:sp>
      <p:sp>
        <p:nvSpPr>
          <p:cNvPr id="3" name="TextBox 2"/>
          <p:cNvSpPr txBox="1"/>
          <p:nvPr/>
        </p:nvSpPr>
        <p:spPr>
          <a:xfrm>
            <a:off x="640080" y="320040"/>
            <a:ext cx="10881360" cy="822960"/>
          </a:xfrm>
          <a:prstGeom prst="rect">
            <a:avLst/>
          </a:prstGeom>
          <a:noFill/>
        </p:spPr>
        <p:txBody>
          <a:bodyPr wrap="square">
            <a:spAutoFit/>
          </a:bodyPr>
          <a:lstStyle/>
          <a:p>
            <a:pPr algn="l">
              <a:lnSpc>
                <a:spcPts val="3380"/>
              </a:lnSpc>
              <a:spcAft>
                <a:spcPts val="0"/>
              </a:spcAft>
              <a:defRPr sz="2600" b="1">
                <a:solidFill>
                  <a:srgbClr val="1A1A1A"/>
                </a:solidFill>
                <a:latin typeface="Arial"/>
              </a:defRPr>
            </a:pPr>
            <a:r>
              <a:t>Hyderabad: 85% of Bangalore's Capability at 78% of the Cost</a:t>
            </a:r>
          </a:p>
        </p:txBody>
      </p:sp>
      <p:sp>
        <p:nvSpPr>
          <p:cNvPr id="4" name="Rectangle 3"/>
          <p:cNvSpPr/>
          <p:nvPr/>
        </p:nvSpPr>
        <p:spPr>
          <a:xfrm>
            <a:off x="640080" y="1371600"/>
            <a:ext cx="2560320" cy="1051560"/>
          </a:xfrm>
          <a:prstGeom prst="rect">
            <a:avLst/>
          </a:prstGeom>
          <a:solidFill>
            <a:srgbClr val="F5F5F5"/>
          </a:solidFill>
          <a:ln w="9525">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19" y="1444752"/>
            <a:ext cx="2377439" cy="502920"/>
          </a:xfrm>
          <a:prstGeom prst="rect">
            <a:avLst/>
          </a:prstGeom>
          <a:noFill/>
        </p:spPr>
        <p:txBody>
          <a:bodyPr wrap="square">
            <a:spAutoFit/>
          </a:bodyPr>
          <a:lstStyle/>
          <a:p>
            <a:pPr algn="ctr">
              <a:lnSpc>
                <a:spcPts val="3900"/>
              </a:lnSpc>
              <a:spcAft>
                <a:spcPts val="0"/>
              </a:spcAft>
              <a:defRPr sz="3000" b="1">
                <a:solidFill>
                  <a:srgbClr val="E84D0E"/>
                </a:solidFill>
                <a:latin typeface="Arial"/>
              </a:defRPr>
            </a:pPr>
            <a:r>
              <a:t>355+</a:t>
            </a:r>
          </a:p>
        </p:txBody>
      </p:sp>
      <p:sp>
        <p:nvSpPr>
          <p:cNvPr id="6" name="TextBox 5"/>
          <p:cNvSpPr txBox="1"/>
          <p:nvPr/>
        </p:nvSpPr>
        <p:spPr>
          <a:xfrm>
            <a:off x="731519" y="1965960"/>
            <a:ext cx="2377439" cy="411480"/>
          </a:xfrm>
          <a:prstGeom prst="rect">
            <a:avLst/>
          </a:prstGeom>
          <a:noFill/>
        </p:spPr>
        <p:txBody>
          <a:bodyPr wrap="square">
            <a:spAutoFit/>
          </a:bodyPr>
          <a:lstStyle/>
          <a:p>
            <a:pPr algn="ctr">
              <a:lnSpc>
                <a:spcPts val="960"/>
              </a:lnSpc>
              <a:spcAft>
                <a:spcPts val="0"/>
              </a:spcAft>
              <a:defRPr sz="800" b="0">
                <a:solidFill>
                  <a:srgbClr val="666666"/>
                </a:solidFill>
                <a:latin typeface="Arial"/>
              </a:defRPr>
            </a:pPr>
            <a:r>
              <a:t>GCCs</a:t>
            </a:r>
          </a:p>
        </p:txBody>
      </p:sp>
      <p:sp>
        <p:nvSpPr>
          <p:cNvPr id="7" name="Rectangle 6"/>
          <p:cNvSpPr/>
          <p:nvPr/>
        </p:nvSpPr>
        <p:spPr>
          <a:xfrm>
            <a:off x="3429000" y="1371600"/>
            <a:ext cx="2560320" cy="1051560"/>
          </a:xfrm>
          <a:prstGeom prst="rect">
            <a:avLst/>
          </a:prstGeom>
          <a:solidFill>
            <a:srgbClr val="F5F5F5"/>
          </a:solidFill>
          <a:ln w="9525">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20440" y="1444752"/>
            <a:ext cx="2377439" cy="502920"/>
          </a:xfrm>
          <a:prstGeom prst="rect">
            <a:avLst/>
          </a:prstGeom>
          <a:noFill/>
        </p:spPr>
        <p:txBody>
          <a:bodyPr wrap="square">
            <a:spAutoFit/>
          </a:bodyPr>
          <a:lstStyle/>
          <a:p>
            <a:pPr algn="ctr">
              <a:lnSpc>
                <a:spcPts val="3900"/>
              </a:lnSpc>
              <a:spcAft>
                <a:spcPts val="0"/>
              </a:spcAft>
              <a:defRPr sz="3000" b="1">
                <a:solidFill>
                  <a:srgbClr val="E84D0E"/>
                </a:solidFill>
                <a:latin typeface="Arial"/>
              </a:defRPr>
            </a:pPr>
            <a:r>
              <a:t>20%</a:t>
            </a:r>
          </a:p>
        </p:txBody>
      </p:sp>
      <p:sp>
        <p:nvSpPr>
          <p:cNvPr id="9" name="TextBox 8"/>
          <p:cNvSpPr txBox="1"/>
          <p:nvPr/>
        </p:nvSpPr>
        <p:spPr>
          <a:xfrm>
            <a:off x="3520440" y="1965960"/>
            <a:ext cx="2377439" cy="411480"/>
          </a:xfrm>
          <a:prstGeom prst="rect">
            <a:avLst/>
          </a:prstGeom>
          <a:noFill/>
        </p:spPr>
        <p:txBody>
          <a:bodyPr wrap="square">
            <a:spAutoFit/>
          </a:bodyPr>
          <a:lstStyle/>
          <a:p>
            <a:pPr algn="ctr">
              <a:lnSpc>
                <a:spcPts val="960"/>
              </a:lnSpc>
              <a:spcAft>
                <a:spcPts val="0"/>
              </a:spcAft>
              <a:defRPr sz="800" b="0">
                <a:solidFill>
                  <a:srgbClr val="666666"/>
                </a:solidFill>
                <a:latin typeface="Arial"/>
              </a:defRPr>
            </a:pPr>
            <a:r>
              <a:t>Banking Share</a:t>
            </a:r>
          </a:p>
        </p:txBody>
      </p:sp>
      <p:sp>
        <p:nvSpPr>
          <p:cNvPr id="10" name="Rectangle 9"/>
          <p:cNvSpPr/>
          <p:nvPr/>
        </p:nvSpPr>
        <p:spPr>
          <a:xfrm>
            <a:off x="6217920" y="1371600"/>
            <a:ext cx="2560320" cy="1051560"/>
          </a:xfrm>
          <a:prstGeom prst="rect">
            <a:avLst/>
          </a:prstGeom>
          <a:solidFill>
            <a:srgbClr val="F5F5F5"/>
          </a:solidFill>
          <a:ln w="9525">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59" y="1444752"/>
            <a:ext cx="2377439" cy="502920"/>
          </a:xfrm>
          <a:prstGeom prst="rect">
            <a:avLst/>
          </a:prstGeom>
          <a:noFill/>
        </p:spPr>
        <p:txBody>
          <a:bodyPr wrap="square">
            <a:spAutoFit/>
          </a:bodyPr>
          <a:lstStyle/>
          <a:p>
            <a:pPr algn="ctr">
              <a:lnSpc>
                <a:spcPts val="3900"/>
              </a:lnSpc>
              <a:spcAft>
                <a:spcPts val="0"/>
              </a:spcAft>
              <a:defRPr sz="3000" b="1">
                <a:solidFill>
                  <a:srgbClr val="E84D0E"/>
                </a:solidFill>
                <a:latin typeface="Arial"/>
              </a:defRPr>
            </a:pPr>
            <a:r>
              <a:t>78-85</a:t>
            </a:r>
          </a:p>
        </p:txBody>
      </p:sp>
      <p:sp>
        <p:nvSpPr>
          <p:cNvPr id="12" name="TextBox 11"/>
          <p:cNvSpPr txBox="1"/>
          <p:nvPr/>
        </p:nvSpPr>
        <p:spPr>
          <a:xfrm>
            <a:off x="6309359" y="1965960"/>
            <a:ext cx="2377439" cy="411480"/>
          </a:xfrm>
          <a:prstGeom prst="rect">
            <a:avLst/>
          </a:prstGeom>
          <a:noFill/>
        </p:spPr>
        <p:txBody>
          <a:bodyPr wrap="square">
            <a:spAutoFit/>
          </a:bodyPr>
          <a:lstStyle/>
          <a:p>
            <a:pPr algn="ctr">
              <a:lnSpc>
                <a:spcPts val="960"/>
              </a:lnSpc>
              <a:spcAft>
                <a:spcPts val="0"/>
              </a:spcAft>
              <a:defRPr sz="800" b="0">
                <a:solidFill>
                  <a:srgbClr val="666666"/>
                </a:solidFill>
                <a:latin typeface="Arial"/>
              </a:defRPr>
            </a:pPr>
            <a:r>
              <a:t>Cost Index</a:t>
            </a:r>
          </a:p>
        </p:txBody>
      </p:sp>
      <p:sp>
        <p:nvSpPr>
          <p:cNvPr id="13" name="Rectangle 12"/>
          <p:cNvSpPr/>
          <p:nvPr/>
        </p:nvSpPr>
        <p:spPr>
          <a:xfrm>
            <a:off x="9006839" y="1371600"/>
            <a:ext cx="2560320" cy="1051560"/>
          </a:xfrm>
          <a:prstGeom prst="rect">
            <a:avLst/>
          </a:prstGeom>
          <a:solidFill>
            <a:srgbClr val="F5F5F5"/>
          </a:solidFill>
          <a:ln w="9525">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98279" y="1444752"/>
            <a:ext cx="2377439" cy="502920"/>
          </a:xfrm>
          <a:prstGeom prst="rect">
            <a:avLst/>
          </a:prstGeom>
          <a:noFill/>
        </p:spPr>
        <p:txBody>
          <a:bodyPr wrap="square">
            <a:spAutoFit/>
          </a:bodyPr>
          <a:lstStyle/>
          <a:p>
            <a:pPr algn="ctr">
              <a:lnSpc>
                <a:spcPts val="3900"/>
              </a:lnSpc>
              <a:spcAft>
                <a:spcPts val="0"/>
              </a:spcAft>
              <a:defRPr sz="3000" b="1">
                <a:solidFill>
                  <a:srgbClr val="E84D0E"/>
                </a:solidFill>
                <a:latin typeface="Arial"/>
              </a:defRPr>
            </a:pPr>
            <a:r>
              <a:t>∼500K</a:t>
            </a:r>
          </a:p>
        </p:txBody>
      </p:sp>
      <p:sp>
        <p:nvSpPr>
          <p:cNvPr id="15" name="TextBox 14"/>
          <p:cNvSpPr txBox="1"/>
          <p:nvPr/>
        </p:nvSpPr>
        <p:spPr>
          <a:xfrm>
            <a:off x="9098279" y="1965960"/>
            <a:ext cx="2377439" cy="411480"/>
          </a:xfrm>
          <a:prstGeom prst="rect">
            <a:avLst/>
          </a:prstGeom>
          <a:noFill/>
        </p:spPr>
        <p:txBody>
          <a:bodyPr wrap="square">
            <a:spAutoFit/>
          </a:bodyPr>
          <a:lstStyle/>
          <a:p>
            <a:pPr algn="ctr">
              <a:lnSpc>
                <a:spcPts val="960"/>
              </a:lnSpc>
              <a:spcAft>
                <a:spcPts val="0"/>
              </a:spcAft>
              <a:defRPr sz="800" b="0">
                <a:solidFill>
                  <a:srgbClr val="666666"/>
                </a:solidFill>
                <a:latin typeface="Arial"/>
              </a:defRPr>
            </a:pPr>
            <a:r>
              <a:t>Tech Talent</a:t>
            </a:r>
          </a:p>
        </p:txBody>
      </p:sp>
      <p:sp>
        <p:nvSpPr>
          <p:cNvPr id="16" name="Rectangle 15"/>
          <p:cNvSpPr/>
          <p:nvPr/>
        </p:nvSpPr>
        <p:spPr>
          <a:xfrm>
            <a:off x="640080" y="2606040"/>
            <a:ext cx="1088136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 y="2743200"/>
            <a:ext cx="5372100" cy="1463040"/>
          </a:xfrm>
          <a:prstGeom prst="rect">
            <a:avLst/>
          </a:prstGeom>
          <a:solidFill>
            <a:srgbClr val="F5F5F5"/>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rIns="109728"/>
          <a:lstStyle/>
          <a:p>
            <a:pPr algn="ctr">
              <a:defRPr sz="1000" b="1">
                <a:solidFill>
                  <a:srgbClr val="E84D0E"/>
                </a:solidFill>
                <a:latin typeface="Arial"/>
              </a:defRPr>
            </a:pPr>
            <a:r>
              <a:t>■  WHY HYDERABAD</a:t>
            </a:r>
          </a:p>
          <a:p>
            <a:pPr>
              <a:lnSpc>
                <a:spcPts val="1215"/>
              </a:lnSpc>
              <a:spcBef>
                <a:spcPts val="400"/>
              </a:spcBef>
              <a:defRPr sz="900">
                <a:solidFill>
                  <a:srgbClr val="4A4A4A"/>
                </a:solidFill>
                <a:latin typeface="Arial"/>
              </a:defRPr>
            </a:pPr>
            <a:r>
              <a:t>• Fastest new GCC additions in India</a:t>
            </a:r>
            <a:br/>
            <a:r>
              <a:t>• Rents 20-30% below BLR (Rs 60-90/sq ft)</a:t>
            </a:r>
            <a:br/>
            <a:r>
              <a:t>• TS-iPASS: single-window clearance in 15 days</a:t>
            </a:r>
            <a:br/>
            <a:r>
              <a:t>• HITEC City &amp; Financial District world-class infra</a:t>
            </a:r>
          </a:p>
        </p:txBody>
      </p:sp>
      <p:sp>
        <p:nvSpPr>
          <p:cNvPr id="18" name="Rectangle 17"/>
          <p:cNvSpPr/>
          <p:nvPr/>
        </p:nvSpPr>
        <p:spPr>
          <a:xfrm>
            <a:off x="6149340" y="2743200"/>
            <a:ext cx="5372100" cy="1463040"/>
          </a:xfrm>
          <a:prstGeom prst="rect">
            <a:avLst/>
          </a:prstGeom>
          <a:solidFill>
            <a:srgbClr val="F5F5F5"/>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rIns="109728"/>
          <a:lstStyle/>
          <a:p>
            <a:pPr algn="ctr">
              <a:defRPr sz="1000" b="1">
                <a:solidFill>
                  <a:srgbClr val="C0392B"/>
                </a:solidFill>
                <a:latin typeface="Arial"/>
              </a:defRPr>
            </a:pPr>
            <a:r>
              <a:t>▲  COST ADVANTAGE</a:t>
            </a:r>
          </a:p>
          <a:p>
            <a:pPr>
              <a:lnSpc>
                <a:spcPts val="1215"/>
              </a:lnSpc>
              <a:spcBef>
                <a:spcPts val="400"/>
              </a:spcBef>
              <a:defRPr sz="900">
                <a:solidFill>
                  <a:srgbClr val="4A4A4A"/>
                </a:solidFill>
                <a:latin typeface="Arial"/>
              </a:defRPr>
            </a:pPr>
            <a:r>
              <a:t>• Salaries: 15-25% lower than Bangalore</a:t>
            </a:r>
            <a:br/>
            <a:r>
              <a:t>• Office rents: 20-30% lower</a:t>
            </a:r>
            <a:br/>
            <a:r>
              <a:t>• Attrition: 13-16% vs BLR's 16-20%</a:t>
            </a:r>
            <a:br/>
            <a:r>
              <a:t>• 100% stamp duty &amp; state GST reimbursement</a:t>
            </a:r>
          </a:p>
        </p:txBody>
      </p:sp>
      <p:sp>
        <p:nvSpPr>
          <p:cNvPr id="19" name="Rectangle 18"/>
          <p:cNvSpPr/>
          <p:nvPr/>
        </p:nvSpPr>
        <p:spPr>
          <a:xfrm>
            <a:off x="640080" y="4343400"/>
            <a:ext cx="5372100" cy="1463040"/>
          </a:xfrm>
          <a:prstGeom prst="rect">
            <a:avLst/>
          </a:prstGeom>
          <a:solidFill>
            <a:srgbClr val="F5F5F5"/>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rIns="109728"/>
          <a:lstStyle/>
          <a:p>
            <a:pPr algn="ctr">
              <a:defRPr sz="1000" b="1">
                <a:solidFill>
                  <a:srgbClr val="27AE60"/>
                </a:solidFill>
                <a:latin typeface="Arial"/>
              </a:defRPr>
            </a:pPr>
            <a:r>
              <a:t>★  KEY BFSI GCCs</a:t>
            </a:r>
          </a:p>
          <a:p>
            <a:pPr>
              <a:lnSpc>
                <a:spcPts val="1215"/>
              </a:lnSpc>
              <a:spcBef>
                <a:spcPts val="400"/>
              </a:spcBef>
              <a:defRPr sz="900">
                <a:solidFill>
                  <a:srgbClr val="4A4A4A"/>
                </a:solidFill>
                <a:latin typeface="Arial"/>
              </a:defRPr>
            </a:pPr>
            <a:r>
              <a:t>• Goldman Sachs (expanded 2021)</a:t>
            </a:r>
            <a:br/>
            <a:r>
              <a:t>• JP Morgan (176K sq ft campus)</a:t>
            </a:r>
            <a:br/>
            <a:r>
              <a:t>• Bank of America | HSBC | DBS</a:t>
            </a:r>
            <a:br/>
            <a:r>
              <a:t>• Wells Fargo | Deloitte | MetLife</a:t>
            </a:r>
          </a:p>
        </p:txBody>
      </p:sp>
      <p:sp>
        <p:nvSpPr>
          <p:cNvPr id="20" name="Rectangle 19"/>
          <p:cNvSpPr/>
          <p:nvPr/>
        </p:nvSpPr>
        <p:spPr>
          <a:xfrm>
            <a:off x="6149340" y="4343400"/>
            <a:ext cx="5372100" cy="1463040"/>
          </a:xfrm>
          <a:prstGeom prst="rect">
            <a:avLst/>
          </a:prstGeom>
          <a:solidFill>
            <a:srgbClr val="F5F5F5"/>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rIns="109728"/>
          <a:lstStyle/>
          <a:p>
            <a:pPr algn="ctr">
              <a:defRPr sz="1000" b="1">
                <a:solidFill>
                  <a:srgbClr val="2C3E50"/>
                </a:solidFill>
                <a:latin typeface="Arial"/>
              </a:defRPr>
            </a:pPr>
            <a:r>
              <a:t>⚙  CASE STUDY: VANGUARD</a:t>
            </a:r>
          </a:p>
          <a:p>
            <a:pPr>
              <a:lnSpc>
                <a:spcPts val="1215"/>
              </a:lnSpc>
              <a:spcBef>
                <a:spcPts val="400"/>
              </a:spcBef>
              <a:defRPr sz="900">
                <a:solidFill>
                  <a:srgbClr val="4A4A4A"/>
                </a:solidFill>
                <a:latin typeface="Arial"/>
              </a:defRPr>
            </a:pPr>
            <a:r>
              <a:t>• Entered with 300 staff</a:t>
            </a:r>
            <a:br/>
            <a:r>
              <a:t>• Scaling to 2,300 by 2029</a:t>
            </a:r>
            <a:br/>
            <a:r>
              <a:t>• Chose HYD for cost + talent availability</a:t>
            </a:r>
            <a:br/>
            <a:r>
              <a:t>• Validates HYD as primary hub alternative</a:t>
            </a:r>
          </a:p>
        </p:txBody>
      </p:sp>
      <p:sp>
        <p:nvSpPr>
          <p:cNvPr id="21" name="Rectangle 20"/>
          <p:cNvSpPr/>
          <p:nvPr/>
        </p:nvSpPr>
        <p:spPr>
          <a:xfrm>
            <a:off x="0" y="6080760"/>
            <a:ext cx="12191695" cy="36576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wrap="square" lIns="640080" tIns="63500"/>
          <a:lstStyle/>
          <a:p>
            <a:pPr algn="l">
              <a:defRPr sz="1000" b="1">
                <a:solidFill>
                  <a:srgbClr val="2D2D2D"/>
                </a:solidFill>
                <a:latin typeface="Arial"/>
              </a:defRPr>
            </a:pPr>
            <a:r>
              <a:t>SO WHAT: Hyderabad is the strongest alternative primary hub — the cost-capability gap with Bangalore is closing fast</a:t>
            </a:r>
          </a:p>
        </p:txBody>
      </p:sp>
      <p:sp>
        <p:nvSpPr>
          <p:cNvPr id="22" name="TextBox 21"/>
          <p:cNvSpPr txBox="1"/>
          <p:nvPr/>
        </p:nvSpPr>
        <p:spPr>
          <a:xfrm>
            <a:off x="11247120" y="6537960"/>
            <a:ext cx="731520" cy="228600"/>
          </a:xfrm>
          <a:prstGeom prst="rect">
            <a:avLst/>
          </a:prstGeom>
          <a:noFill/>
        </p:spPr>
        <p:txBody>
          <a:bodyPr wrap="square">
            <a:spAutoFit/>
          </a:bodyPr>
          <a:lstStyle/>
          <a:p>
            <a:pPr algn="r">
              <a:lnSpc>
                <a:spcPts val="910"/>
              </a:lnSpc>
              <a:spcAft>
                <a:spcPts val="0"/>
              </a:spcAft>
              <a:defRPr sz="700" b="1">
                <a:solidFill>
                  <a:srgbClr val="666666"/>
                </a:solidFill>
                <a:latin typeface="Arial"/>
              </a:defRPr>
            </a:pPr>
            <a:r>
              <a:t>5</a:t>
            </a:r>
          </a:p>
        </p:txBody>
      </p:sp>
      <p:sp>
        <p:nvSpPr>
          <p:cNvPr id="23" name="TextBox 22"/>
          <p:cNvSpPr txBox="1"/>
          <p:nvPr/>
        </p:nvSpPr>
        <p:spPr>
          <a:xfrm>
            <a:off x="640080" y="6537960"/>
            <a:ext cx="10058400" cy="228600"/>
          </a:xfrm>
          <a:prstGeom prst="rect">
            <a:avLst/>
          </a:prstGeom>
          <a:noFill/>
        </p:spPr>
        <p:txBody>
          <a:bodyPr wrap="square">
            <a:spAutoFit/>
          </a:bodyPr>
          <a:lstStyle/>
          <a:p>
            <a:pPr algn="l">
              <a:lnSpc>
                <a:spcPts val="910"/>
              </a:lnSpc>
              <a:spcAft>
                <a:spcPts val="0"/>
              </a:spcAft>
              <a:defRPr sz="700" b="0">
                <a:solidFill>
                  <a:srgbClr val="666666"/>
                </a:solidFill>
                <a:latin typeface="Arial"/>
              </a:defRPr>
            </a:pPr>
            <a:r>
              <a:t>Sources: NASSCOM, Telangana ICT Policy, JLL, ANSR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137160"/>
            <a:ext cx="4572000" cy="228600"/>
          </a:xfrm>
          <a:prstGeom prst="rect">
            <a:avLst/>
          </a:prstGeom>
          <a:noFill/>
        </p:spPr>
        <p:txBody>
          <a:bodyPr wrap="square">
            <a:spAutoFit/>
          </a:bodyPr>
          <a:lstStyle/>
          <a:p>
            <a:pPr algn="l">
              <a:lnSpc>
                <a:spcPts val="1170"/>
              </a:lnSpc>
              <a:spcAft>
                <a:spcPts val="0"/>
              </a:spcAft>
              <a:defRPr sz="900" b="1">
                <a:solidFill>
                  <a:srgbClr val="E84D0E"/>
                </a:solidFill>
                <a:latin typeface="Arial"/>
              </a:defRPr>
            </a:pPr>
            <a:r>
              <a:t>LOCATION DEEP DIVE</a:t>
            </a:r>
          </a:p>
        </p:txBody>
      </p:sp>
      <p:sp>
        <p:nvSpPr>
          <p:cNvPr id="3" name="TextBox 2"/>
          <p:cNvSpPr txBox="1"/>
          <p:nvPr/>
        </p:nvSpPr>
        <p:spPr>
          <a:xfrm>
            <a:off x="640080" y="320040"/>
            <a:ext cx="10881360" cy="822960"/>
          </a:xfrm>
          <a:prstGeom prst="rect">
            <a:avLst/>
          </a:prstGeom>
          <a:noFill/>
        </p:spPr>
        <p:txBody>
          <a:bodyPr wrap="square">
            <a:spAutoFit/>
          </a:bodyPr>
          <a:lstStyle/>
          <a:p>
            <a:pPr algn="l">
              <a:lnSpc>
                <a:spcPts val="3380"/>
              </a:lnSpc>
              <a:spcAft>
                <a:spcPts val="0"/>
              </a:spcAft>
              <a:defRPr sz="2600" b="1">
                <a:solidFill>
                  <a:srgbClr val="1A1A1A"/>
                </a:solidFill>
                <a:latin typeface="Arial"/>
              </a:defRPr>
            </a:pPr>
            <a:r>
              <a:t>Pune: Where Retention Saves $3-5M Annually per 1,000 FTE</a:t>
            </a:r>
          </a:p>
        </p:txBody>
      </p:sp>
      <p:sp>
        <p:nvSpPr>
          <p:cNvPr id="4" name="Rectangle 3"/>
          <p:cNvSpPr/>
          <p:nvPr/>
        </p:nvSpPr>
        <p:spPr>
          <a:xfrm>
            <a:off x="640080" y="1371600"/>
            <a:ext cx="2560320" cy="1051560"/>
          </a:xfrm>
          <a:prstGeom prst="rect">
            <a:avLst/>
          </a:prstGeom>
          <a:solidFill>
            <a:srgbClr val="F5F5F5"/>
          </a:solidFill>
          <a:ln w="9525">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19" y="1444752"/>
            <a:ext cx="2377439" cy="502920"/>
          </a:xfrm>
          <a:prstGeom prst="rect">
            <a:avLst/>
          </a:prstGeom>
          <a:noFill/>
        </p:spPr>
        <p:txBody>
          <a:bodyPr wrap="square">
            <a:spAutoFit/>
          </a:bodyPr>
          <a:lstStyle/>
          <a:p>
            <a:pPr algn="ctr">
              <a:lnSpc>
                <a:spcPts val="3900"/>
              </a:lnSpc>
              <a:spcAft>
                <a:spcPts val="0"/>
              </a:spcAft>
              <a:defRPr sz="3000" b="1">
                <a:solidFill>
                  <a:srgbClr val="E84D0E"/>
                </a:solidFill>
                <a:latin typeface="Arial"/>
              </a:defRPr>
            </a:pPr>
            <a:r>
              <a:t>250+</a:t>
            </a:r>
          </a:p>
        </p:txBody>
      </p:sp>
      <p:sp>
        <p:nvSpPr>
          <p:cNvPr id="6" name="TextBox 5"/>
          <p:cNvSpPr txBox="1"/>
          <p:nvPr/>
        </p:nvSpPr>
        <p:spPr>
          <a:xfrm>
            <a:off x="731519" y="1965960"/>
            <a:ext cx="2377439" cy="411480"/>
          </a:xfrm>
          <a:prstGeom prst="rect">
            <a:avLst/>
          </a:prstGeom>
          <a:noFill/>
        </p:spPr>
        <p:txBody>
          <a:bodyPr wrap="square">
            <a:spAutoFit/>
          </a:bodyPr>
          <a:lstStyle/>
          <a:p>
            <a:pPr algn="ctr">
              <a:lnSpc>
                <a:spcPts val="960"/>
              </a:lnSpc>
              <a:spcAft>
                <a:spcPts val="0"/>
              </a:spcAft>
              <a:defRPr sz="800" b="0">
                <a:solidFill>
                  <a:srgbClr val="666666"/>
                </a:solidFill>
                <a:latin typeface="Arial"/>
              </a:defRPr>
            </a:pPr>
            <a:r>
              <a:t>GCCs</a:t>
            </a:r>
          </a:p>
        </p:txBody>
      </p:sp>
      <p:sp>
        <p:nvSpPr>
          <p:cNvPr id="7" name="Rectangle 6"/>
          <p:cNvSpPr/>
          <p:nvPr/>
        </p:nvSpPr>
        <p:spPr>
          <a:xfrm>
            <a:off x="3429000" y="1371600"/>
            <a:ext cx="2560320" cy="1051560"/>
          </a:xfrm>
          <a:prstGeom prst="rect">
            <a:avLst/>
          </a:prstGeom>
          <a:solidFill>
            <a:srgbClr val="F5F5F5"/>
          </a:solidFill>
          <a:ln w="9525">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20440" y="1444752"/>
            <a:ext cx="2377439" cy="502920"/>
          </a:xfrm>
          <a:prstGeom prst="rect">
            <a:avLst/>
          </a:prstGeom>
          <a:noFill/>
        </p:spPr>
        <p:txBody>
          <a:bodyPr wrap="square">
            <a:spAutoFit/>
          </a:bodyPr>
          <a:lstStyle/>
          <a:p>
            <a:pPr algn="ctr">
              <a:lnSpc>
                <a:spcPts val="3900"/>
              </a:lnSpc>
              <a:spcAft>
                <a:spcPts val="0"/>
              </a:spcAft>
              <a:defRPr sz="3000" b="1">
                <a:solidFill>
                  <a:srgbClr val="E84D0E"/>
                </a:solidFill>
                <a:latin typeface="Arial"/>
              </a:defRPr>
            </a:pPr>
            <a:r>
              <a:t>12-14%</a:t>
            </a:r>
          </a:p>
        </p:txBody>
      </p:sp>
      <p:sp>
        <p:nvSpPr>
          <p:cNvPr id="9" name="TextBox 8"/>
          <p:cNvSpPr txBox="1"/>
          <p:nvPr/>
        </p:nvSpPr>
        <p:spPr>
          <a:xfrm>
            <a:off x="3520440" y="1965960"/>
            <a:ext cx="2377439" cy="411480"/>
          </a:xfrm>
          <a:prstGeom prst="rect">
            <a:avLst/>
          </a:prstGeom>
          <a:noFill/>
        </p:spPr>
        <p:txBody>
          <a:bodyPr wrap="square">
            <a:spAutoFit/>
          </a:bodyPr>
          <a:lstStyle/>
          <a:p>
            <a:pPr algn="ctr">
              <a:lnSpc>
                <a:spcPts val="960"/>
              </a:lnSpc>
              <a:spcAft>
                <a:spcPts val="0"/>
              </a:spcAft>
              <a:defRPr sz="800" b="0">
                <a:solidFill>
                  <a:srgbClr val="666666"/>
                </a:solidFill>
                <a:latin typeface="Arial"/>
              </a:defRPr>
            </a:pPr>
            <a:r>
              <a:t>Attrition (Best)</a:t>
            </a:r>
          </a:p>
        </p:txBody>
      </p:sp>
      <p:sp>
        <p:nvSpPr>
          <p:cNvPr id="10" name="Rectangle 9"/>
          <p:cNvSpPr/>
          <p:nvPr/>
        </p:nvSpPr>
        <p:spPr>
          <a:xfrm>
            <a:off x="6217920" y="1371600"/>
            <a:ext cx="2560320" cy="1051560"/>
          </a:xfrm>
          <a:prstGeom prst="rect">
            <a:avLst/>
          </a:prstGeom>
          <a:solidFill>
            <a:srgbClr val="F5F5F5"/>
          </a:solidFill>
          <a:ln w="9525">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59" y="1444752"/>
            <a:ext cx="2377439" cy="502920"/>
          </a:xfrm>
          <a:prstGeom prst="rect">
            <a:avLst/>
          </a:prstGeom>
          <a:noFill/>
        </p:spPr>
        <p:txBody>
          <a:bodyPr wrap="square">
            <a:spAutoFit/>
          </a:bodyPr>
          <a:lstStyle/>
          <a:p>
            <a:pPr algn="ctr">
              <a:lnSpc>
                <a:spcPts val="3900"/>
              </a:lnSpc>
              <a:spcAft>
                <a:spcPts val="0"/>
              </a:spcAft>
              <a:defRPr sz="3000" b="1">
                <a:solidFill>
                  <a:srgbClr val="E84D0E"/>
                </a:solidFill>
                <a:latin typeface="Arial"/>
              </a:defRPr>
            </a:pPr>
            <a:r>
              <a:t>75-80</a:t>
            </a:r>
          </a:p>
        </p:txBody>
      </p:sp>
      <p:sp>
        <p:nvSpPr>
          <p:cNvPr id="12" name="TextBox 11"/>
          <p:cNvSpPr txBox="1"/>
          <p:nvPr/>
        </p:nvSpPr>
        <p:spPr>
          <a:xfrm>
            <a:off x="6309359" y="1965960"/>
            <a:ext cx="2377439" cy="411480"/>
          </a:xfrm>
          <a:prstGeom prst="rect">
            <a:avLst/>
          </a:prstGeom>
          <a:noFill/>
        </p:spPr>
        <p:txBody>
          <a:bodyPr wrap="square">
            <a:spAutoFit/>
          </a:bodyPr>
          <a:lstStyle/>
          <a:p>
            <a:pPr algn="ctr">
              <a:lnSpc>
                <a:spcPts val="960"/>
              </a:lnSpc>
              <a:spcAft>
                <a:spcPts val="0"/>
              </a:spcAft>
              <a:defRPr sz="800" b="0">
                <a:solidFill>
                  <a:srgbClr val="666666"/>
                </a:solidFill>
                <a:latin typeface="Arial"/>
              </a:defRPr>
            </a:pPr>
            <a:r>
              <a:t>Cost Index</a:t>
            </a:r>
          </a:p>
        </p:txBody>
      </p:sp>
      <p:sp>
        <p:nvSpPr>
          <p:cNvPr id="13" name="Rectangle 12"/>
          <p:cNvSpPr/>
          <p:nvPr/>
        </p:nvSpPr>
        <p:spPr>
          <a:xfrm>
            <a:off x="9006839" y="1371600"/>
            <a:ext cx="2560320" cy="1051560"/>
          </a:xfrm>
          <a:prstGeom prst="rect">
            <a:avLst/>
          </a:prstGeom>
          <a:solidFill>
            <a:srgbClr val="F5F5F5"/>
          </a:solidFill>
          <a:ln w="9525">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98279" y="1444752"/>
            <a:ext cx="2377439" cy="502920"/>
          </a:xfrm>
          <a:prstGeom prst="rect">
            <a:avLst/>
          </a:prstGeom>
          <a:noFill/>
        </p:spPr>
        <p:txBody>
          <a:bodyPr wrap="square">
            <a:spAutoFit/>
          </a:bodyPr>
          <a:lstStyle/>
          <a:p>
            <a:pPr algn="ctr">
              <a:lnSpc>
                <a:spcPts val="3900"/>
              </a:lnSpc>
              <a:spcAft>
                <a:spcPts val="0"/>
              </a:spcAft>
              <a:defRPr sz="3000" b="1">
                <a:solidFill>
                  <a:srgbClr val="E84D0E"/>
                </a:solidFill>
                <a:latin typeface="Arial"/>
              </a:defRPr>
            </a:pPr>
            <a:r>
              <a:t>84%</a:t>
            </a:r>
          </a:p>
        </p:txBody>
      </p:sp>
      <p:sp>
        <p:nvSpPr>
          <p:cNvPr id="15" name="TextBox 14"/>
          <p:cNvSpPr txBox="1"/>
          <p:nvPr/>
        </p:nvSpPr>
        <p:spPr>
          <a:xfrm>
            <a:off x="9098279" y="1965960"/>
            <a:ext cx="2377439" cy="411480"/>
          </a:xfrm>
          <a:prstGeom prst="rect">
            <a:avLst/>
          </a:prstGeom>
          <a:noFill/>
        </p:spPr>
        <p:txBody>
          <a:bodyPr wrap="square">
            <a:spAutoFit/>
          </a:bodyPr>
          <a:lstStyle/>
          <a:p>
            <a:pPr algn="ctr">
              <a:lnSpc>
                <a:spcPts val="960"/>
              </a:lnSpc>
              <a:spcAft>
                <a:spcPts val="0"/>
              </a:spcAft>
              <a:defRPr sz="800" b="0">
                <a:solidFill>
                  <a:srgbClr val="666666"/>
                </a:solidFill>
                <a:latin typeface="Arial"/>
              </a:defRPr>
            </a:pPr>
            <a:r>
              <a:t>Grad Employability</a:t>
            </a:r>
          </a:p>
        </p:txBody>
      </p:sp>
      <p:sp>
        <p:nvSpPr>
          <p:cNvPr id="16" name="Rectangle 15"/>
          <p:cNvSpPr/>
          <p:nvPr/>
        </p:nvSpPr>
        <p:spPr>
          <a:xfrm>
            <a:off x="640080" y="2606040"/>
            <a:ext cx="1088136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 y="2743200"/>
            <a:ext cx="5372100" cy="1463040"/>
          </a:xfrm>
          <a:prstGeom prst="rect">
            <a:avLst/>
          </a:prstGeom>
          <a:solidFill>
            <a:srgbClr val="F5F5F5"/>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rIns="109728"/>
          <a:lstStyle/>
          <a:p>
            <a:pPr algn="ctr">
              <a:defRPr sz="1000" b="1">
                <a:solidFill>
                  <a:srgbClr val="E84D0E"/>
                </a:solidFill>
                <a:latin typeface="Arial"/>
              </a:defRPr>
            </a:pPr>
            <a:r>
              <a:t>■  RETENTION ADVANTAGE</a:t>
            </a:r>
          </a:p>
          <a:p>
            <a:pPr>
              <a:lnSpc>
                <a:spcPts val="1215"/>
              </a:lnSpc>
              <a:spcBef>
                <a:spcPts val="400"/>
              </a:spcBef>
              <a:defRPr sz="900">
                <a:solidFill>
                  <a:srgbClr val="4A4A4A"/>
                </a:solidFill>
                <a:latin typeface="Arial"/>
              </a:defRPr>
            </a:pPr>
            <a:r>
              <a:t>• Best retention: 12-14% attrition, 5-8 pts below BLR</a:t>
            </a:r>
            <a:br/>
            <a:r>
              <a:t>• Cost index 75-80 vs Bangalore 100</a:t>
            </a:r>
            <a:br/>
            <a:r>
              <a:t>• 84% graduate employability (highest nationally)</a:t>
            </a:r>
            <a:br/>
            <a:r>
              <a:t>• Strong engineering culture; pleasant climate</a:t>
            </a:r>
          </a:p>
        </p:txBody>
      </p:sp>
      <p:sp>
        <p:nvSpPr>
          <p:cNvPr id="18" name="Rectangle 17"/>
          <p:cNvSpPr/>
          <p:nvPr/>
        </p:nvSpPr>
        <p:spPr>
          <a:xfrm>
            <a:off x="6149340" y="2743200"/>
            <a:ext cx="5372100" cy="1463040"/>
          </a:xfrm>
          <a:prstGeom prst="rect">
            <a:avLst/>
          </a:prstGeom>
          <a:solidFill>
            <a:srgbClr val="F5F5F5"/>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rIns="109728"/>
          <a:lstStyle/>
          <a:p>
            <a:pPr algn="ctr">
              <a:defRPr sz="1000" b="1">
                <a:solidFill>
                  <a:srgbClr val="C0392B"/>
                </a:solidFill>
                <a:latin typeface="Arial"/>
              </a:defRPr>
            </a:pPr>
            <a:r>
              <a:t>▲  LIMITATIONS</a:t>
            </a:r>
          </a:p>
          <a:p>
            <a:pPr>
              <a:lnSpc>
                <a:spcPts val="1215"/>
              </a:lnSpc>
              <a:spcBef>
                <a:spcPts val="400"/>
              </a:spcBef>
              <a:defRPr sz="900">
                <a:solidFill>
                  <a:srgbClr val="4A4A4A"/>
                </a:solidFill>
                <a:latin typeface="Arial"/>
              </a:defRPr>
            </a:pPr>
            <a:r>
              <a:t>• No international flights (planned mid-2026)</a:t>
            </a:r>
            <a:br/>
            <a:r>
              <a:t>• Only 6% of FinCrime talent</a:t>
            </a:r>
            <a:br/>
            <a:r>
              <a:t>• Limited quant/actuarial talent pool</a:t>
            </a:r>
            <a:br/>
            <a:r>
              <a:t>• Smaller ecosystem (250+ vs 870+ GCCs)</a:t>
            </a:r>
          </a:p>
        </p:txBody>
      </p:sp>
      <p:sp>
        <p:nvSpPr>
          <p:cNvPr id="19" name="Rectangle 18"/>
          <p:cNvSpPr/>
          <p:nvPr/>
        </p:nvSpPr>
        <p:spPr>
          <a:xfrm>
            <a:off x="640080" y="4343400"/>
            <a:ext cx="5372100" cy="1463040"/>
          </a:xfrm>
          <a:prstGeom prst="rect">
            <a:avLst/>
          </a:prstGeom>
          <a:solidFill>
            <a:srgbClr val="F5F5F5"/>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rIns="109728"/>
          <a:lstStyle/>
          <a:p>
            <a:pPr algn="ctr">
              <a:defRPr sz="1000" b="1">
                <a:solidFill>
                  <a:srgbClr val="27AE60"/>
                </a:solidFill>
                <a:latin typeface="Arial"/>
              </a:defRPr>
            </a:pPr>
            <a:r>
              <a:t>★  KEY BFSI GCCs</a:t>
            </a:r>
          </a:p>
          <a:p>
            <a:pPr>
              <a:lnSpc>
                <a:spcPts val="1215"/>
              </a:lnSpc>
              <a:spcBef>
                <a:spcPts val="400"/>
              </a:spcBef>
              <a:defRPr sz="900">
                <a:solidFill>
                  <a:srgbClr val="4A4A4A"/>
                </a:solidFill>
                <a:latin typeface="Arial"/>
              </a:defRPr>
            </a:pPr>
            <a:r>
              <a:t>• Barclays: 9,000 people (largest outside London)</a:t>
            </a:r>
            <a:br/>
            <a:r>
              <a:t>• Barclays Pune rated 4.2/5 on Glassdoor</a:t>
            </a:r>
            <a:br/>
            <a:r>
              <a:t>• Credit Suisse | Nomura | Amdocs</a:t>
            </a:r>
            <a:br/>
            <a:r>
              <a:t>• Persistent Systems | Wipro | TCS</a:t>
            </a:r>
          </a:p>
        </p:txBody>
      </p:sp>
      <p:sp>
        <p:nvSpPr>
          <p:cNvPr id="20" name="Rectangle 19"/>
          <p:cNvSpPr/>
          <p:nvPr/>
        </p:nvSpPr>
        <p:spPr>
          <a:xfrm>
            <a:off x="6149340" y="4343400"/>
            <a:ext cx="5372100" cy="1463040"/>
          </a:xfrm>
          <a:prstGeom prst="rect">
            <a:avLst/>
          </a:prstGeom>
          <a:solidFill>
            <a:srgbClr val="F5F5F5"/>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rIns="109728"/>
          <a:lstStyle/>
          <a:p>
            <a:pPr algn="ctr">
              <a:defRPr sz="1000" b="1">
                <a:solidFill>
                  <a:srgbClr val="2C3E50"/>
                </a:solidFill>
                <a:latin typeface="Arial"/>
              </a:defRPr>
            </a:pPr>
            <a:r>
              <a:t>⚙  RETENTION SAVINGS MODEL</a:t>
            </a:r>
          </a:p>
          <a:p>
            <a:pPr>
              <a:lnSpc>
                <a:spcPts val="1215"/>
              </a:lnSpc>
              <a:spcBef>
                <a:spcPts val="400"/>
              </a:spcBef>
              <a:defRPr sz="900">
                <a:solidFill>
                  <a:srgbClr val="4A4A4A"/>
                </a:solidFill>
                <a:latin typeface="Arial"/>
              </a:defRPr>
            </a:pPr>
            <a:r>
              <a:t>• 5-8 pts lower attrition on 1,000 FTE</a:t>
            </a:r>
            <a:br/>
            <a:r>
              <a:t>• $15-20K replacement cost per head</a:t>
            </a:r>
            <a:br/>
            <a:r>
              <a:t>• = $3-5M annual savings vs Bangalore</a:t>
            </a:r>
            <a:br/>
            <a:r>
              <a:t>• Maharashtra Policy: 20% capital subsidy</a:t>
            </a:r>
          </a:p>
        </p:txBody>
      </p:sp>
      <p:sp>
        <p:nvSpPr>
          <p:cNvPr id="21" name="Rectangle 20"/>
          <p:cNvSpPr/>
          <p:nvPr/>
        </p:nvSpPr>
        <p:spPr>
          <a:xfrm>
            <a:off x="0" y="6080760"/>
            <a:ext cx="12191695" cy="36576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wrap="square" lIns="640080" tIns="63500"/>
          <a:lstStyle/>
          <a:p>
            <a:pPr algn="l">
              <a:defRPr sz="1000" b="1">
                <a:solidFill>
                  <a:srgbClr val="2D2D2D"/>
                </a:solidFill>
                <a:latin typeface="Arial"/>
              </a:defRPr>
            </a:pPr>
            <a:r>
              <a:t>SO WHAT: 6-8 points lower attrition saves $3-5M annually per 1,000 FTE — deploy Pune for stable, long-tenure operations</a:t>
            </a:r>
          </a:p>
        </p:txBody>
      </p:sp>
      <p:sp>
        <p:nvSpPr>
          <p:cNvPr id="22" name="TextBox 21"/>
          <p:cNvSpPr txBox="1"/>
          <p:nvPr/>
        </p:nvSpPr>
        <p:spPr>
          <a:xfrm>
            <a:off x="11247120" y="6537960"/>
            <a:ext cx="731520" cy="228600"/>
          </a:xfrm>
          <a:prstGeom prst="rect">
            <a:avLst/>
          </a:prstGeom>
          <a:noFill/>
        </p:spPr>
        <p:txBody>
          <a:bodyPr wrap="square">
            <a:spAutoFit/>
          </a:bodyPr>
          <a:lstStyle/>
          <a:p>
            <a:pPr algn="r">
              <a:lnSpc>
                <a:spcPts val="910"/>
              </a:lnSpc>
              <a:spcAft>
                <a:spcPts val="0"/>
              </a:spcAft>
              <a:defRPr sz="700" b="1">
                <a:solidFill>
                  <a:srgbClr val="666666"/>
                </a:solidFill>
                <a:latin typeface="Arial"/>
              </a:defRPr>
            </a:pPr>
            <a:r>
              <a:t>6</a:t>
            </a:r>
          </a:p>
        </p:txBody>
      </p:sp>
      <p:sp>
        <p:nvSpPr>
          <p:cNvPr id="23" name="TextBox 22"/>
          <p:cNvSpPr txBox="1"/>
          <p:nvPr/>
        </p:nvSpPr>
        <p:spPr>
          <a:xfrm>
            <a:off x="640080" y="6537960"/>
            <a:ext cx="10058400" cy="228600"/>
          </a:xfrm>
          <a:prstGeom prst="rect">
            <a:avLst/>
          </a:prstGeom>
          <a:noFill/>
        </p:spPr>
        <p:txBody>
          <a:bodyPr wrap="square">
            <a:spAutoFit/>
          </a:bodyPr>
          <a:lstStyle/>
          <a:p>
            <a:pPr algn="l">
              <a:lnSpc>
                <a:spcPts val="910"/>
              </a:lnSpc>
              <a:spcAft>
                <a:spcPts val="0"/>
              </a:spcAft>
              <a:defRPr sz="700" b="0">
                <a:solidFill>
                  <a:srgbClr val="666666"/>
                </a:solidFill>
                <a:latin typeface="Arial"/>
              </a:defRPr>
            </a:pPr>
            <a:r>
              <a:t>Sources: Zinnov SIAH 2025, Aon, Maharashtra GCC Policy, ISR 2025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137160"/>
            <a:ext cx="4572000" cy="228600"/>
          </a:xfrm>
          <a:prstGeom prst="rect">
            <a:avLst/>
          </a:prstGeom>
          <a:noFill/>
        </p:spPr>
        <p:txBody>
          <a:bodyPr wrap="square">
            <a:spAutoFit/>
          </a:bodyPr>
          <a:lstStyle/>
          <a:p>
            <a:pPr algn="l">
              <a:lnSpc>
                <a:spcPts val="1170"/>
              </a:lnSpc>
              <a:spcAft>
                <a:spcPts val="0"/>
              </a:spcAft>
              <a:defRPr sz="900" b="1">
                <a:solidFill>
                  <a:srgbClr val="E84D0E"/>
                </a:solidFill>
                <a:latin typeface="Arial"/>
              </a:defRPr>
            </a:pPr>
            <a:r>
              <a:t>LOCATION DEEP DIVE</a:t>
            </a:r>
          </a:p>
        </p:txBody>
      </p:sp>
      <p:sp>
        <p:nvSpPr>
          <p:cNvPr id="3" name="TextBox 2"/>
          <p:cNvSpPr txBox="1"/>
          <p:nvPr/>
        </p:nvSpPr>
        <p:spPr>
          <a:xfrm>
            <a:off x="640080" y="320040"/>
            <a:ext cx="10881360" cy="822960"/>
          </a:xfrm>
          <a:prstGeom prst="rect">
            <a:avLst/>
          </a:prstGeom>
          <a:noFill/>
        </p:spPr>
        <p:txBody>
          <a:bodyPr wrap="square">
            <a:spAutoFit/>
          </a:bodyPr>
          <a:lstStyle/>
          <a:p>
            <a:pPr algn="l">
              <a:lnSpc>
                <a:spcPts val="3380"/>
              </a:lnSpc>
              <a:spcAft>
                <a:spcPts val="0"/>
              </a:spcAft>
              <a:defRPr sz="2600" b="1">
                <a:solidFill>
                  <a:srgbClr val="1A1A1A"/>
                </a:solidFill>
                <a:latin typeface="Arial"/>
              </a:defRPr>
            </a:pPr>
            <a:r>
              <a:t>Delhi NCR: Direct HQ Flights and Regulatory DNA</a:t>
            </a:r>
          </a:p>
        </p:txBody>
      </p:sp>
      <p:sp>
        <p:nvSpPr>
          <p:cNvPr id="4" name="Rectangle 3"/>
          <p:cNvSpPr/>
          <p:nvPr/>
        </p:nvSpPr>
        <p:spPr>
          <a:xfrm>
            <a:off x="640080" y="1371600"/>
            <a:ext cx="2560320" cy="1051560"/>
          </a:xfrm>
          <a:prstGeom prst="rect">
            <a:avLst/>
          </a:prstGeom>
          <a:solidFill>
            <a:srgbClr val="F5F5F5"/>
          </a:solidFill>
          <a:ln w="9525">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19" y="1444752"/>
            <a:ext cx="2377439" cy="502920"/>
          </a:xfrm>
          <a:prstGeom prst="rect">
            <a:avLst/>
          </a:prstGeom>
          <a:noFill/>
        </p:spPr>
        <p:txBody>
          <a:bodyPr wrap="square">
            <a:spAutoFit/>
          </a:bodyPr>
          <a:lstStyle/>
          <a:p>
            <a:pPr algn="ctr">
              <a:lnSpc>
                <a:spcPts val="3900"/>
              </a:lnSpc>
              <a:spcAft>
                <a:spcPts val="0"/>
              </a:spcAft>
              <a:defRPr sz="3000" b="1">
                <a:solidFill>
                  <a:srgbClr val="E84D0E"/>
                </a:solidFill>
                <a:latin typeface="Arial"/>
              </a:defRPr>
            </a:pPr>
            <a:r>
              <a:t>300+</a:t>
            </a:r>
          </a:p>
        </p:txBody>
      </p:sp>
      <p:sp>
        <p:nvSpPr>
          <p:cNvPr id="6" name="TextBox 5"/>
          <p:cNvSpPr txBox="1"/>
          <p:nvPr/>
        </p:nvSpPr>
        <p:spPr>
          <a:xfrm>
            <a:off x="731519" y="1965960"/>
            <a:ext cx="2377439" cy="411480"/>
          </a:xfrm>
          <a:prstGeom prst="rect">
            <a:avLst/>
          </a:prstGeom>
          <a:noFill/>
        </p:spPr>
        <p:txBody>
          <a:bodyPr wrap="square">
            <a:spAutoFit/>
          </a:bodyPr>
          <a:lstStyle/>
          <a:p>
            <a:pPr algn="ctr">
              <a:lnSpc>
                <a:spcPts val="960"/>
              </a:lnSpc>
              <a:spcAft>
                <a:spcPts val="0"/>
              </a:spcAft>
              <a:defRPr sz="800" b="0">
                <a:solidFill>
                  <a:srgbClr val="666666"/>
                </a:solidFill>
                <a:latin typeface="Arial"/>
              </a:defRPr>
            </a:pPr>
            <a:r>
              <a:t>GCCs</a:t>
            </a:r>
          </a:p>
        </p:txBody>
      </p:sp>
      <p:sp>
        <p:nvSpPr>
          <p:cNvPr id="7" name="Rectangle 6"/>
          <p:cNvSpPr/>
          <p:nvPr/>
        </p:nvSpPr>
        <p:spPr>
          <a:xfrm>
            <a:off x="3429000" y="1371600"/>
            <a:ext cx="2560320" cy="1051560"/>
          </a:xfrm>
          <a:prstGeom prst="rect">
            <a:avLst/>
          </a:prstGeom>
          <a:solidFill>
            <a:srgbClr val="F5F5F5"/>
          </a:solidFill>
          <a:ln w="9525">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20440" y="1444752"/>
            <a:ext cx="2377439" cy="502920"/>
          </a:xfrm>
          <a:prstGeom prst="rect">
            <a:avLst/>
          </a:prstGeom>
          <a:noFill/>
        </p:spPr>
        <p:txBody>
          <a:bodyPr wrap="square">
            <a:spAutoFit/>
          </a:bodyPr>
          <a:lstStyle/>
          <a:p>
            <a:pPr algn="ctr">
              <a:lnSpc>
                <a:spcPts val="3900"/>
              </a:lnSpc>
              <a:spcAft>
                <a:spcPts val="0"/>
              </a:spcAft>
              <a:defRPr sz="3000" b="1">
                <a:solidFill>
                  <a:srgbClr val="E84D0E"/>
                </a:solidFill>
                <a:latin typeface="Arial"/>
              </a:defRPr>
            </a:pPr>
            <a:r>
              <a:t>79.2M</a:t>
            </a:r>
          </a:p>
        </p:txBody>
      </p:sp>
      <p:sp>
        <p:nvSpPr>
          <p:cNvPr id="9" name="TextBox 8"/>
          <p:cNvSpPr txBox="1"/>
          <p:nvPr/>
        </p:nvSpPr>
        <p:spPr>
          <a:xfrm>
            <a:off x="3520440" y="1965960"/>
            <a:ext cx="2377439" cy="411480"/>
          </a:xfrm>
          <a:prstGeom prst="rect">
            <a:avLst/>
          </a:prstGeom>
          <a:noFill/>
        </p:spPr>
        <p:txBody>
          <a:bodyPr wrap="square">
            <a:spAutoFit/>
          </a:bodyPr>
          <a:lstStyle/>
          <a:p>
            <a:pPr algn="ctr">
              <a:lnSpc>
                <a:spcPts val="960"/>
              </a:lnSpc>
              <a:spcAft>
                <a:spcPts val="0"/>
              </a:spcAft>
              <a:defRPr sz="800" b="0">
                <a:solidFill>
                  <a:srgbClr val="666666"/>
                </a:solidFill>
                <a:latin typeface="Arial"/>
              </a:defRPr>
            </a:pPr>
            <a:r>
              <a:t>Airport Passengers</a:t>
            </a:r>
          </a:p>
        </p:txBody>
      </p:sp>
      <p:sp>
        <p:nvSpPr>
          <p:cNvPr id="10" name="Rectangle 9"/>
          <p:cNvSpPr/>
          <p:nvPr/>
        </p:nvSpPr>
        <p:spPr>
          <a:xfrm>
            <a:off x="6217920" y="1371600"/>
            <a:ext cx="2560320" cy="1051560"/>
          </a:xfrm>
          <a:prstGeom prst="rect">
            <a:avLst/>
          </a:prstGeom>
          <a:solidFill>
            <a:srgbClr val="F5F5F5"/>
          </a:solidFill>
          <a:ln w="9525">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59" y="1444752"/>
            <a:ext cx="2377439" cy="502920"/>
          </a:xfrm>
          <a:prstGeom prst="rect">
            <a:avLst/>
          </a:prstGeom>
          <a:noFill/>
        </p:spPr>
        <p:txBody>
          <a:bodyPr wrap="square">
            <a:spAutoFit/>
          </a:bodyPr>
          <a:lstStyle/>
          <a:p>
            <a:pPr algn="ctr">
              <a:lnSpc>
                <a:spcPts val="3900"/>
              </a:lnSpc>
              <a:spcAft>
                <a:spcPts val="0"/>
              </a:spcAft>
              <a:defRPr sz="3000" b="1">
                <a:solidFill>
                  <a:srgbClr val="E84D0E"/>
                </a:solidFill>
                <a:latin typeface="Arial"/>
              </a:defRPr>
            </a:pPr>
            <a:r>
              <a:t>394 km</a:t>
            </a:r>
          </a:p>
        </p:txBody>
      </p:sp>
      <p:sp>
        <p:nvSpPr>
          <p:cNvPr id="12" name="TextBox 11"/>
          <p:cNvSpPr txBox="1"/>
          <p:nvPr/>
        </p:nvSpPr>
        <p:spPr>
          <a:xfrm>
            <a:off x="6309359" y="1965960"/>
            <a:ext cx="2377439" cy="411480"/>
          </a:xfrm>
          <a:prstGeom prst="rect">
            <a:avLst/>
          </a:prstGeom>
          <a:noFill/>
        </p:spPr>
        <p:txBody>
          <a:bodyPr wrap="square">
            <a:spAutoFit/>
          </a:bodyPr>
          <a:lstStyle/>
          <a:p>
            <a:pPr algn="ctr">
              <a:lnSpc>
                <a:spcPts val="960"/>
              </a:lnSpc>
              <a:spcAft>
                <a:spcPts val="0"/>
              </a:spcAft>
              <a:defRPr sz="800" b="0">
                <a:solidFill>
                  <a:srgbClr val="666666"/>
                </a:solidFill>
                <a:latin typeface="Arial"/>
              </a:defRPr>
            </a:pPr>
            <a:r>
              <a:t>Metro Network</a:t>
            </a:r>
          </a:p>
        </p:txBody>
      </p:sp>
      <p:sp>
        <p:nvSpPr>
          <p:cNvPr id="13" name="Rectangle 12"/>
          <p:cNvSpPr/>
          <p:nvPr/>
        </p:nvSpPr>
        <p:spPr>
          <a:xfrm>
            <a:off x="9006839" y="1371600"/>
            <a:ext cx="2560320" cy="1051560"/>
          </a:xfrm>
          <a:prstGeom prst="rect">
            <a:avLst/>
          </a:prstGeom>
          <a:solidFill>
            <a:srgbClr val="F5F5F5"/>
          </a:solidFill>
          <a:ln w="9525">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98279" y="1444752"/>
            <a:ext cx="2377439" cy="502920"/>
          </a:xfrm>
          <a:prstGeom prst="rect">
            <a:avLst/>
          </a:prstGeom>
          <a:noFill/>
        </p:spPr>
        <p:txBody>
          <a:bodyPr wrap="square">
            <a:spAutoFit/>
          </a:bodyPr>
          <a:lstStyle/>
          <a:p>
            <a:pPr algn="ctr">
              <a:lnSpc>
                <a:spcPts val="3900"/>
              </a:lnSpc>
              <a:spcAft>
                <a:spcPts val="0"/>
              </a:spcAft>
              <a:defRPr sz="3000" b="1">
                <a:solidFill>
                  <a:srgbClr val="E84D0E"/>
                </a:solidFill>
                <a:latin typeface="Arial"/>
              </a:defRPr>
            </a:pPr>
            <a:r>
              <a:t>90-95</a:t>
            </a:r>
          </a:p>
        </p:txBody>
      </p:sp>
      <p:sp>
        <p:nvSpPr>
          <p:cNvPr id="15" name="TextBox 14"/>
          <p:cNvSpPr txBox="1"/>
          <p:nvPr/>
        </p:nvSpPr>
        <p:spPr>
          <a:xfrm>
            <a:off x="9098279" y="1965960"/>
            <a:ext cx="2377439" cy="411480"/>
          </a:xfrm>
          <a:prstGeom prst="rect">
            <a:avLst/>
          </a:prstGeom>
          <a:noFill/>
        </p:spPr>
        <p:txBody>
          <a:bodyPr wrap="square">
            <a:spAutoFit/>
          </a:bodyPr>
          <a:lstStyle/>
          <a:p>
            <a:pPr algn="ctr">
              <a:lnSpc>
                <a:spcPts val="960"/>
              </a:lnSpc>
              <a:spcAft>
                <a:spcPts val="0"/>
              </a:spcAft>
              <a:defRPr sz="800" b="0">
                <a:solidFill>
                  <a:srgbClr val="666666"/>
                </a:solidFill>
                <a:latin typeface="Arial"/>
              </a:defRPr>
            </a:pPr>
            <a:r>
              <a:t>Cost Index</a:t>
            </a:r>
          </a:p>
        </p:txBody>
      </p:sp>
      <p:sp>
        <p:nvSpPr>
          <p:cNvPr id="16" name="Rectangle 15"/>
          <p:cNvSpPr/>
          <p:nvPr/>
        </p:nvSpPr>
        <p:spPr>
          <a:xfrm>
            <a:off x="640080" y="2606040"/>
            <a:ext cx="1088136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 y="2743200"/>
            <a:ext cx="5372100" cy="1463040"/>
          </a:xfrm>
          <a:prstGeom prst="rect">
            <a:avLst/>
          </a:prstGeom>
          <a:solidFill>
            <a:srgbClr val="F5F5F5"/>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rIns="109728"/>
          <a:lstStyle/>
          <a:p>
            <a:pPr algn="ctr">
              <a:defRPr sz="1000" b="1">
                <a:solidFill>
                  <a:srgbClr val="E84D0E"/>
                </a:solidFill>
                <a:latin typeface="Arial"/>
              </a:defRPr>
            </a:pPr>
            <a:r>
              <a:t>✈  CONNECTIVITY</a:t>
            </a:r>
          </a:p>
          <a:p>
            <a:pPr>
              <a:lnSpc>
                <a:spcPts val="1215"/>
              </a:lnSpc>
              <a:spcBef>
                <a:spcPts val="400"/>
              </a:spcBef>
              <a:defRPr sz="900">
                <a:solidFill>
                  <a:srgbClr val="4A4A4A"/>
                </a:solidFill>
                <a:latin typeface="Arial"/>
              </a:defRPr>
            </a:pPr>
            <a:r>
              <a:t>• IGI Airport: 9th busiest globally</a:t>
            </a:r>
            <a:br/>
            <a:r>
              <a:t>• Direct flights to US, UK, all major EU hubs</a:t>
            </a:r>
            <a:br/>
            <a:r>
              <a:t>• Only India hub with direct London flights</a:t>
            </a:r>
            <a:br/>
            <a:r>
              <a:t>• 394 km metro (best in India), 289 stations</a:t>
            </a:r>
          </a:p>
        </p:txBody>
      </p:sp>
      <p:sp>
        <p:nvSpPr>
          <p:cNvPr id="18" name="Rectangle 17"/>
          <p:cNvSpPr/>
          <p:nvPr/>
        </p:nvSpPr>
        <p:spPr>
          <a:xfrm>
            <a:off x="6149340" y="2743200"/>
            <a:ext cx="5372100" cy="1463040"/>
          </a:xfrm>
          <a:prstGeom prst="rect">
            <a:avLst/>
          </a:prstGeom>
          <a:solidFill>
            <a:srgbClr val="F5F5F5"/>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rIns="109728"/>
          <a:lstStyle/>
          <a:p>
            <a:pPr algn="ctr">
              <a:defRPr sz="1000" b="1">
                <a:solidFill>
                  <a:srgbClr val="C0392B"/>
                </a:solidFill>
                <a:latin typeface="Arial"/>
              </a:defRPr>
            </a:pPr>
            <a:r>
              <a:t>⚖  REGULATORY ADVANTAGE</a:t>
            </a:r>
          </a:p>
          <a:p>
            <a:pPr>
              <a:lnSpc>
                <a:spcPts val="1215"/>
              </a:lnSpc>
              <a:spcBef>
                <a:spcPts val="400"/>
              </a:spcBef>
              <a:defRPr sz="900">
                <a:solidFill>
                  <a:srgbClr val="4A4A4A"/>
                </a:solidFill>
                <a:latin typeface="Arial"/>
              </a:defRPr>
            </a:pPr>
            <a:r>
              <a:t>• Proximity to RBI, SEBI headquarters</a:t>
            </a:r>
            <a:br/>
            <a:r>
              <a:t>• Regulatory talent pool unmatched</a:t>
            </a:r>
            <a:br/>
            <a:r>
              <a:t>• Home to AmEx, Deutsche Bank, HSBC</a:t>
            </a:r>
            <a:br/>
            <a:r>
              <a:t>• Multi-state: Gurugram, Noida, Delhi</a:t>
            </a:r>
          </a:p>
        </p:txBody>
      </p:sp>
      <p:sp>
        <p:nvSpPr>
          <p:cNvPr id="19" name="Rectangle 18"/>
          <p:cNvSpPr/>
          <p:nvPr/>
        </p:nvSpPr>
        <p:spPr>
          <a:xfrm>
            <a:off x="640080" y="4343400"/>
            <a:ext cx="5372100" cy="1463040"/>
          </a:xfrm>
          <a:prstGeom prst="rect">
            <a:avLst/>
          </a:prstGeom>
          <a:solidFill>
            <a:srgbClr val="F5F5F5"/>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rIns="109728"/>
          <a:lstStyle/>
          <a:p>
            <a:pPr algn="ctr">
              <a:defRPr sz="1000" b="1">
                <a:solidFill>
                  <a:srgbClr val="27AE60"/>
                </a:solidFill>
                <a:latin typeface="Arial"/>
              </a:defRPr>
            </a:pPr>
            <a:r>
              <a:t>★  KEY BFSI GCCs</a:t>
            </a:r>
          </a:p>
          <a:p>
            <a:pPr>
              <a:lnSpc>
                <a:spcPts val="1215"/>
              </a:lnSpc>
              <a:spcBef>
                <a:spcPts val="400"/>
              </a:spcBef>
              <a:defRPr sz="900">
                <a:solidFill>
                  <a:srgbClr val="4A4A4A"/>
                </a:solidFill>
                <a:latin typeface="Arial"/>
              </a:defRPr>
            </a:pPr>
            <a:r>
              <a:t>• American Express (one of largest global)</a:t>
            </a:r>
            <a:br/>
            <a:r>
              <a:t>• Deutsche Bank | HSBC | Barclays</a:t>
            </a:r>
            <a:br/>
            <a:r>
              <a:t>• Standard Chartered | Citibank</a:t>
            </a:r>
            <a:br/>
            <a:r>
              <a:t>• EXL Service | Genpact | WNS</a:t>
            </a:r>
          </a:p>
        </p:txBody>
      </p:sp>
      <p:sp>
        <p:nvSpPr>
          <p:cNvPr id="20" name="Rectangle 19"/>
          <p:cNvSpPr/>
          <p:nvPr/>
        </p:nvSpPr>
        <p:spPr>
          <a:xfrm>
            <a:off x="6149340" y="4343400"/>
            <a:ext cx="5372100" cy="1463040"/>
          </a:xfrm>
          <a:prstGeom prst="rect">
            <a:avLst/>
          </a:prstGeom>
          <a:solidFill>
            <a:srgbClr val="F5F5F5"/>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rIns="109728"/>
          <a:lstStyle/>
          <a:p>
            <a:pPr algn="ctr">
              <a:defRPr sz="1000" b="1">
                <a:solidFill>
                  <a:srgbClr val="2C3E50"/>
                </a:solidFill>
                <a:latin typeface="Arial"/>
              </a:defRPr>
            </a:pPr>
            <a:r>
              <a:t>⚙  POLICY INCENTIVES</a:t>
            </a:r>
          </a:p>
          <a:p>
            <a:pPr>
              <a:lnSpc>
                <a:spcPts val="1215"/>
              </a:lnSpc>
              <a:spcBef>
                <a:spcPts val="400"/>
              </a:spcBef>
              <a:defRPr sz="900">
                <a:solidFill>
                  <a:srgbClr val="4A4A4A"/>
                </a:solidFill>
                <a:latin typeface="Arial"/>
              </a:defRPr>
            </a:pPr>
            <a:r>
              <a:t>• UP GCC Policy: 30-50% land subsidies</a:t>
            </a:r>
            <a:br/>
            <a:r>
              <a:t>• 25% capital subsidies for GCCs</a:t>
            </a:r>
            <a:br/>
            <a:r>
              <a:t>• Rs 20 cr/yr payroll reimbursement</a:t>
            </a:r>
            <a:br/>
            <a:r>
              <a:t>• Haryana: dedicated GCC incentive scheme</a:t>
            </a:r>
          </a:p>
        </p:txBody>
      </p:sp>
      <p:sp>
        <p:nvSpPr>
          <p:cNvPr id="21" name="Rectangle 20"/>
          <p:cNvSpPr/>
          <p:nvPr/>
        </p:nvSpPr>
        <p:spPr>
          <a:xfrm>
            <a:off x="0" y="6080760"/>
            <a:ext cx="12191695" cy="36576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wrap="square" lIns="640080" tIns="63500"/>
          <a:lstStyle/>
          <a:p>
            <a:pPr algn="l">
              <a:defRPr sz="1000" b="1">
                <a:solidFill>
                  <a:srgbClr val="2D2D2D"/>
                </a:solidFill>
                <a:latin typeface="Arial"/>
              </a:defRPr>
            </a:pPr>
            <a:r>
              <a:t>SO WHAT: The only India hub where a London MD can fly direct to office — irreplaceable for front-office and regulatory functions</a:t>
            </a:r>
          </a:p>
        </p:txBody>
      </p:sp>
      <p:sp>
        <p:nvSpPr>
          <p:cNvPr id="22" name="TextBox 21"/>
          <p:cNvSpPr txBox="1"/>
          <p:nvPr/>
        </p:nvSpPr>
        <p:spPr>
          <a:xfrm>
            <a:off x="11247120" y="6537960"/>
            <a:ext cx="731520" cy="228600"/>
          </a:xfrm>
          <a:prstGeom prst="rect">
            <a:avLst/>
          </a:prstGeom>
          <a:noFill/>
        </p:spPr>
        <p:txBody>
          <a:bodyPr wrap="square">
            <a:spAutoFit/>
          </a:bodyPr>
          <a:lstStyle/>
          <a:p>
            <a:pPr algn="r">
              <a:lnSpc>
                <a:spcPts val="910"/>
              </a:lnSpc>
              <a:spcAft>
                <a:spcPts val="0"/>
              </a:spcAft>
              <a:defRPr sz="700" b="1">
                <a:solidFill>
                  <a:srgbClr val="666666"/>
                </a:solidFill>
                <a:latin typeface="Arial"/>
              </a:defRPr>
            </a:pPr>
            <a:r>
              <a:t>7</a:t>
            </a:r>
          </a:p>
        </p:txBody>
      </p:sp>
      <p:sp>
        <p:nvSpPr>
          <p:cNvPr id="23" name="TextBox 22"/>
          <p:cNvSpPr txBox="1"/>
          <p:nvPr/>
        </p:nvSpPr>
        <p:spPr>
          <a:xfrm>
            <a:off x="640080" y="6537960"/>
            <a:ext cx="10058400" cy="228600"/>
          </a:xfrm>
          <a:prstGeom prst="rect">
            <a:avLst/>
          </a:prstGeom>
          <a:noFill/>
        </p:spPr>
        <p:txBody>
          <a:bodyPr wrap="square">
            <a:spAutoFit/>
          </a:bodyPr>
          <a:lstStyle/>
          <a:p>
            <a:pPr algn="l">
              <a:lnSpc>
                <a:spcPts val="910"/>
              </a:lnSpc>
              <a:spcAft>
                <a:spcPts val="0"/>
              </a:spcAft>
              <a:defRPr sz="700" b="0">
                <a:solidFill>
                  <a:srgbClr val="666666"/>
                </a:solidFill>
                <a:latin typeface="Arial"/>
              </a:defRPr>
            </a:pPr>
            <a:r>
              <a:t>Sources: AAI FY25, Delhi Metro, UP GCC Policy 2024, Haryana GCC Policy 2025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137160"/>
            <a:ext cx="4572000" cy="228600"/>
          </a:xfrm>
          <a:prstGeom prst="rect">
            <a:avLst/>
          </a:prstGeom>
          <a:noFill/>
        </p:spPr>
        <p:txBody>
          <a:bodyPr wrap="square">
            <a:spAutoFit/>
          </a:bodyPr>
          <a:lstStyle/>
          <a:p>
            <a:pPr algn="l">
              <a:lnSpc>
                <a:spcPts val="1170"/>
              </a:lnSpc>
              <a:spcAft>
                <a:spcPts val="0"/>
              </a:spcAft>
              <a:defRPr sz="900" b="1">
                <a:solidFill>
                  <a:srgbClr val="E84D0E"/>
                </a:solidFill>
                <a:latin typeface="Arial"/>
              </a:defRPr>
            </a:pPr>
            <a:r>
              <a:t>STRATEGIC RECOMMENDATION</a:t>
            </a:r>
          </a:p>
        </p:txBody>
      </p:sp>
      <p:sp>
        <p:nvSpPr>
          <p:cNvPr id="3" name="TextBox 2"/>
          <p:cNvSpPr txBox="1"/>
          <p:nvPr/>
        </p:nvSpPr>
        <p:spPr>
          <a:xfrm>
            <a:off x="640080" y="320040"/>
            <a:ext cx="10881360" cy="822960"/>
          </a:xfrm>
          <a:prstGeom prst="rect">
            <a:avLst/>
          </a:prstGeom>
          <a:noFill/>
        </p:spPr>
        <p:txBody>
          <a:bodyPr wrap="square">
            <a:spAutoFit/>
          </a:bodyPr>
          <a:lstStyle/>
          <a:p>
            <a:pPr algn="l">
              <a:lnSpc>
                <a:spcPts val="3380"/>
              </a:lnSpc>
              <a:spcAft>
                <a:spcPts val="0"/>
              </a:spcAft>
              <a:defRPr sz="2600" b="1">
                <a:solidFill>
                  <a:srgbClr val="1A1A1A"/>
                </a:solidFill>
                <a:latin typeface="Arial"/>
              </a:defRPr>
            </a:pPr>
            <a:r>
              <a:t>Hub-and-Spoke with BFSI Function-City Allocation</a:t>
            </a:r>
          </a:p>
        </p:txBody>
      </p:sp>
      <p:sp>
        <p:nvSpPr>
          <p:cNvPr id="4" name="Rectangle 3"/>
          <p:cNvSpPr/>
          <p:nvPr/>
        </p:nvSpPr>
        <p:spPr>
          <a:xfrm>
            <a:off x="640080" y="1371600"/>
            <a:ext cx="10881360" cy="320040"/>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lIns="137160" tIns="25400"/>
          <a:lstStyle/>
          <a:p>
            <a:pPr algn="ctr">
              <a:defRPr sz="1100" b="1">
                <a:solidFill>
                  <a:srgbClr val="FFFFFF"/>
                </a:solidFill>
                <a:latin typeface="Arial"/>
              </a:defRPr>
            </a:pPr>
            <a:r>
              <a:t>FUNCTION → CITY MAPPING MATRIX</a:t>
            </a:r>
          </a:p>
        </p:txBody>
      </p:sp>
      <p:graphicFrame>
        <p:nvGraphicFramePr>
          <p:cNvPr id="5" name="Table 4"/>
          <p:cNvGraphicFramePr>
            <a:graphicFrameLocks noGrp="1"/>
          </p:cNvGraphicFramePr>
          <p:nvPr/>
        </p:nvGraphicFramePr>
        <p:xfrm>
          <a:off x="640080" y="1783080"/>
          <a:ext cx="10881360" cy="2377440"/>
        </p:xfrm>
        <a:graphic>
          <a:graphicData uri="http://schemas.openxmlformats.org/drawingml/2006/table">
            <a:tbl>
              <a:tblPr firstRow="1" bandRow="1">
                <a:tableStyleId>{5C22544A-7EE6-4342-B048-85BDC9FD1C3A}</a:tableStyleId>
              </a:tblPr>
              <a:tblGrid>
                <a:gridCol w="2743200"/>
                <a:gridCol w="2286000"/>
                <a:gridCol w="5852160"/>
              </a:tblGrid>
              <a:tr h="396240">
                <a:tc>
                  <a:txBody>
                    <a:bodyPr/>
                    <a:lstStyle/>
                    <a:p>
                      <a:pPr>
                        <a:defRPr sz="900" b="1">
                          <a:solidFill>
                            <a:srgbClr val="FFFFFF"/>
                          </a:solidFill>
                          <a:latin typeface="Arial"/>
                        </a:defRPr>
                      </a:pPr>
                      <a:r>
                        <a:t>Function</a:t>
                      </a:r>
                    </a:p>
                  </a:txBody>
                  <a:tcPr marL="73152" marR="73152" marT="36576" marB="36576">
                    <a:solidFill>
                      <a:srgbClr val="2D2D2D"/>
                    </a:solidFill>
                  </a:tcPr>
                </a:tc>
                <a:tc>
                  <a:txBody>
                    <a:bodyPr/>
                    <a:lstStyle/>
                    <a:p>
                      <a:pPr>
                        <a:defRPr sz="900" b="1">
                          <a:solidFill>
                            <a:srgbClr val="FFFFFF"/>
                          </a:solidFill>
                          <a:latin typeface="Arial"/>
                        </a:defRPr>
                      </a:pPr>
                      <a:r>
                        <a:t>Primary City</a:t>
                      </a:r>
                    </a:p>
                  </a:txBody>
                  <a:tcPr marL="73152" marR="73152" marT="36576" marB="36576">
                    <a:solidFill>
                      <a:srgbClr val="2D2D2D"/>
                    </a:solidFill>
                  </a:tcPr>
                </a:tc>
                <a:tc>
                  <a:txBody>
                    <a:bodyPr/>
                    <a:lstStyle/>
                    <a:p>
                      <a:pPr>
                        <a:defRPr sz="900" b="1">
                          <a:solidFill>
                            <a:srgbClr val="FFFFFF"/>
                          </a:solidFill>
                          <a:latin typeface="Arial"/>
                        </a:defRPr>
                      </a:pPr>
                      <a:r>
                        <a:t>Rationale</a:t>
                      </a:r>
                    </a:p>
                  </a:txBody>
                  <a:tcPr marL="73152" marR="73152" marT="36576" marB="36576">
                    <a:solidFill>
                      <a:srgbClr val="2D2D2D"/>
                    </a:solidFill>
                  </a:tcPr>
                </a:tc>
              </a:tr>
              <a:tr h="396240">
                <a:tc>
                  <a:txBody>
                    <a:bodyPr/>
                    <a:lstStyle/>
                    <a:p>
                      <a:pPr>
                        <a:defRPr sz="900">
                          <a:solidFill>
                            <a:srgbClr val="4A4A4A"/>
                          </a:solidFill>
                          <a:latin typeface="Arial"/>
                        </a:defRPr>
                      </a:pPr>
                      <a:r>
                        <a:t>Innovation &amp; AI/ML</a:t>
                      </a:r>
                    </a:p>
                  </a:txBody>
                  <a:tcPr marL="73152" marR="73152" marT="36576" marB="36576">
                    <a:solidFill>
                      <a:srgbClr val="FFFFFF"/>
                    </a:solidFill>
                  </a:tcPr>
                </a:tc>
                <a:tc>
                  <a:txBody>
                    <a:bodyPr/>
                    <a:lstStyle/>
                    <a:p>
                      <a:pPr>
                        <a:defRPr sz="900">
                          <a:solidFill>
                            <a:srgbClr val="4A4A4A"/>
                          </a:solidFill>
                          <a:latin typeface="Arial"/>
                        </a:defRPr>
                      </a:pPr>
                      <a:r>
                        <a:t>Bangalore</a:t>
                      </a:r>
                    </a:p>
                  </a:txBody>
                  <a:tcPr marL="73152" marR="73152" marT="36576" marB="36576">
                    <a:solidFill>
                      <a:srgbClr val="FFFFFF"/>
                    </a:solidFill>
                  </a:tcPr>
                </a:tc>
                <a:tc>
                  <a:txBody>
                    <a:bodyPr/>
                    <a:lstStyle/>
                    <a:p>
                      <a:pPr>
                        <a:defRPr sz="900">
                          <a:solidFill>
                            <a:srgbClr val="4A4A4A"/>
                          </a:solidFill>
                          <a:latin typeface="Arial"/>
                        </a:defRPr>
                      </a:pPr>
                      <a:r>
                        <a:t>Deepest AI/ML talent pool; Goldman, JPM quant teams</a:t>
                      </a:r>
                    </a:p>
                  </a:txBody>
                  <a:tcPr marL="73152" marR="73152" marT="36576" marB="36576">
                    <a:solidFill>
                      <a:srgbClr val="FFFFFF"/>
                    </a:solidFill>
                  </a:tcPr>
                </a:tc>
              </a:tr>
              <a:tr h="396240">
                <a:tc>
                  <a:txBody>
                    <a:bodyPr/>
                    <a:lstStyle/>
                    <a:p>
                      <a:pPr>
                        <a:defRPr sz="900">
                          <a:solidFill>
                            <a:srgbClr val="4A4A4A"/>
                          </a:solidFill>
                          <a:latin typeface="Arial"/>
                        </a:defRPr>
                      </a:pPr>
                      <a:r>
                        <a:t>Operations &amp; Scale</a:t>
                      </a:r>
                    </a:p>
                  </a:txBody>
                  <a:tcPr marL="73152" marR="73152" marT="36576" marB="36576">
                    <a:solidFill>
                      <a:srgbClr val="F5F5F5"/>
                    </a:solidFill>
                  </a:tcPr>
                </a:tc>
                <a:tc>
                  <a:txBody>
                    <a:bodyPr/>
                    <a:lstStyle/>
                    <a:p>
                      <a:pPr>
                        <a:defRPr sz="900">
                          <a:solidFill>
                            <a:srgbClr val="4A4A4A"/>
                          </a:solidFill>
                          <a:latin typeface="Arial"/>
                        </a:defRPr>
                      </a:pPr>
                      <a:r>
                        <a:t>Hyderabad</a:t>
                      </a:r>
                    </a:p>
                  </a:txBody>
                  <a:tcPr marL="73152" marR="73152" marT="36576" marB="36576">
                    <a:solidFill>
                      <a:srgbClr val="F5F5F5"/>
                    </a:solidFill>
                  </a:tcPr>
                </a:tc>
                <a:tc>
                  <a:txBody>
                    <a:bodyPr/>
                    <a:lstStyle/>
                    <a:p>
                      <a:pPr>
                        <a:defRPr sz="900">
                          <a:solidFill>
                            <a:srgbClr val="4A4A4A"/>
                          </a:solidFill>
                          <a:latin typeface="Arial"/>
                        </a:defRPr>
                      </a:pPr>
                      <a:r>
                        <a:t>78% cost; fastest growth; Vanguard model proven</a:t>
                      </a:r>
                    </a:p>
                  </a:txBody>
                  <a:tcPr marL="73152" marR="73152" marT="36576" marB="36576">
                    <a:solidFill>
                      <a:srgbClr val="F5F5F5"/>
                    </a:solidFill>
                  </a:tcPr>
                </a:tc>
              </a:tr>
              <a:tr h="396240">
                <a:tc>
                  <a:txBody>
                    <a:bodyPr/>
                    <a:lstStyle/>
                    <a:p>
                      <a:pPr>
                        <a:defRPr sz="900">
                          <a:solidFill>
                            <a:srgbClr val="4A4A4A"/>
                          </a:solidFill>
                          <a:latin typeface="Arial"/>
                        </a:defRPr>
                      </a:pPr>
                      <a:r>
                        <a:t>Risk &amp; Compliance</a:t>
                      </a:r>
                    </a:p>
                  </a:txBody>
                  <a:tcPr marL="73152" marR="73152" marT="36576" marB="36576">
                    <a:solidFill>
                      <a:srgbClr val="FFFFFF"/>
                    </a:solidFill>
                  </a:tcPr>
                </a:tc>
                <a:tc>
                  <a:txBody>
                    <a:bodyPr/>
                    <a:lstStyle/>
                    <a:p>
                      <a:pPr>
                        <a:defRPr sz="900">
                          <a:solidFill>
                            <a:srgbClr val="4A4A4A"/>
                          </a:solidFill>
                          <a:latin typeface="Arial"/>
                        </a:defRPr>
                      </a:pPr>
                      <a:r>
                        <a:t>Pune</a:t>
                      </a:r>
                    </a:p>
                  </a:txBody>
                  <a:tcPr marL="73152" marR="73152" marT="36576" marB="36576">
                    <a:solidFill>
                      <a:srgbClr val="FFFFFF"/>
                    </a:solidFill>
                  </a:tcPr>
                </a:tc>
                <a:tc>
                  <a:txBody>
                    <a:bodyPr/>
                    <a:lstStyle/>
                    <a:p>
                      <a:pPr>
                        <a:defRPr sz="900">
                          <a:solidFill>
                            <a:srgbClr val="4A4A4A"/>
                          </a:solidFill>
                          <a:latin typeface="Arial"/>
                        </a:defRPr>
                      </a:pPr>
                      <a:r>
                        <a:t>Best retention (12-14%); Barclays 9K; stable ops</a:t>
                      </a:r>
                    </a:p>
                  </a:txBody>
                  <a:tcPr marL="73152" marR="73152" marT="36576" marB="36576">
                    <a:solidFill>
                      <a:srgbClr val="FFFFFF"/>
                    </a:solidFill>
                  </a:tcPr>
                </a:tc>
              </a:tr>
              <a:tr h="396240">
                <a:tc>
                  <a:txBody>
                    <a:bodyPr/>
                    <a:lstStyle/>
                    <a:p>
                      <a:pPr>
                        <a:defRPr sz="900">
                          <a:solidFill>
                            <a:srgbClr val="4A4A4A"/>
                          </a:solidFill>
                          <a:latin typeface="Arial"/>
                        </a:defRPr>
                      </a:pPr>
                      <a:r>
                        <a:t>Client-Facing &amp; Regulatory</a:t>
                      </a:r>
                    </a:p>
                  </a:txBody>
                  <a:tcPr marL="73152" marR="73152" marT="36576" marB="36576">
                    <a:solidFill>
                      <a:srgbClr val="F5F5F5"/>
                    </a:solidFill>
                  </a:tcPr>
                </a:tc>
                <a:tc>
                  <a:txBody>
                    <a:bodyPr/>
                    <a:lstStyle/>
                    <a:p>
                      <a:pPr>
                        <a:defRPr sz="900">
                          <a:solidFill>
                            <a:srgbClr val="4A4A4A"/>
                          </a:solidFill>
                          <a:latin typeface="Arial"/>
                        </a:defRPr>
                      </a:pPr>
                      <a:r>
                        <a:t>Delhi NCR</a:t>
                      </a:r>
                    </a:p>
                  </a:txBody>
                  <a:tcPr marL="73152" marR="73152" marT="36576" marB="36576">
                    <a:solidFill>
                      <a:srgbClr val="F5F5F5"/>
                    </a:solidFill>
                  </a:tcPr>
                </a:tc>
                <a:tc>
                  <a:txBody>
                    <a:bodyPr/>
                    <a:lstStyle/>
                    <a:p>
                      <a:pPr>
                        <a:defRPr sz="900">
                          <a:solidFill>
                            <a:srgbClr val="4A4A4A"/>
                          </a:solidFill>
                          <a:latin typeface="Arial"/>
                        </a:defRPr>
                      </a:pPr>
                      <a:r>
                        <a:t>Direct HQ flights; RBI/SEBI proximity</a:t>
                      </a:r>
                    </a:p>
                  </a:txBody>
                  <a:tcPr marL="73152" marR="73152" marT="36576" marB="36576">
                    <a:solidFill>
                      <a:srgbClr val="F5F5F5"/>
                    </a:solidFill>
                  </a:tcPr>
                </a:tc>
              </a:tr>
              <a:tr h="396240">
                <a:tc>
                  <a:txBody>
                    <a:bodyPr/>
                    <a:lstStyle/>
                    <a:p>
                      <a:pPr>
                        <a:defRPr sz="900">
                          <a:solidFill>
                            <a:srgbClr val="4A4A4A"/>
                          </a:solidFill>
                          <a:latin typeface="Arial"/>
                        </a:defRPr>
                      </a:pPr>
                      <a:r>
                        <a:t>Burst Capacity &amp; BPO</a:t>
                      </a:r>
                    </a:p>
                  </a:txBody>
                  <a:tcPr marL="73152" marR="73152" marT="36576" marB="36576">
                    <a:solidFill>
                      <a:srgbClr val="FFFFFF"/>
                    </a:solidFill>
                  </a:tcPr>
                </a:tc>
                <a:tc>
                  <a:txBody>
                    <a:bodyPr/>
                    <a:lstStyle/>
                    <a:p>
                      <a:pPr>
                        <a:defRPr sz="900">
                          <a:solidFill>
                            <a:srgbClr val="4A4A4A"/>
                          </a:solidFill>
                          <a:latin typeface="Arial"/>
                        </a:defRPr>
                      </a:pPr>
                      <a:r>
                        <a:t>Tier-2 Satellites</a:t>
                      </a:r>
                    </a:p>
                  </a:txBody>
                  <a:tcPr marL="73152" marR="73152" marT="36576" marB="36576">
                    <a:solidFill>
                      <a:srgbClr val="FFFFFF"/>
                    </a:solidFill>
                  </a:tcPr>
                </a:tc>
                <a:tc>
                  <a:txBody>
                    <a:bodyPr/>
                    <a:lstStyle/>
                    <a:p>
                      <a:pPr>
                        <a:defRPr sz="900">
                          <a:solidFill>
                            <a:srgbClr val="4A4A4A"/>
                          </a:solidFill>
                          <a:latin typeface="Arial"/>
                        </a:defRPr>
                      </a:pPr>
                      <a:r>
                        <a:t>30-40% additional savings; Mysuru, Vizag, Jaipur</a:t>
                      </a:r>
                    </a:p>
                  </a:txBody>
                  <a:tcPr marL="73152" marR="73152" marT="36576" marB="36576">
                    <a:solidFill>
                      <a:srgbClr val="FFFFFF"/>
                    </a:solidFill>
                  </a:tcPr>
                </a:tc>
              </a:tr>
            </a:tbl>
          </a:graphicData>
        </a:graphic>
      </p:graphicFrame>
      <p:sp>
        <p:nvSpPr>
          <p:cNvPr id="6" name="Rectangle 5"/>
          <p:cNvSpPr/>
          <p:nvPr/>
        </p:nvSpPr>
        <p:spPr>
          <a:xfrm>
            <a:off x="640080" y="4297680"/>
            <a:ext cx="1088136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4434840"/>
            <a:ext cx="3200400" cy="1051560"/>
          </a:xfrm>
          <a:prstGeom prst="rect">
            <a:avLst/>
          </a:prstGeom>
          <a:solidFill>
            <a:srgbClr val="F5F5F5"/>
          </a:solidFill>
          <a:ln w="9525">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19" y="4507992"/>
            <a:ext cx="3017520" cy="502920"/>
          </a:xfrm>
          <a:prstGeom prst="rect">
            <a:avLst/>
          </a:prstGeom>
          <a:noFill/>
        </p:spPr>
        <p:txBody>
          <a:bodyPr wrap="square">
            <a:spAutoFit/>
          </a:bodyPr>
          <a:lstStyle/>
          <a:p>
            <a:pPr algn="ctr">
              <a:lnSpc>
                <a:spcPts val="3640"/>
              </a:lnSpc>
              <a:spcAft>
                <a:spcPts val="0"/>
              </a:spcAft>
              <a:defRPr sz="2800" b="1">
                <a:solidFill>
                  <a:srgbClr val="E84D0E"/>
                </a:solidFill>
                <a:latin typeface="Arial"/>
              </a:defRPr>
            </a:pPr>
            <a:r>
              <a:t>70%+</a:t>
            </a:r>
          </a:p>
        </p:txBody>
      </p:sp>
      <p:sp>
        <p:nvSpPr>
          <p:cNvPr id="9" name="TextBox 8"/>
          <p:cNvSpPr txBox="1"/>
          <p:nvPr/>
        </p:nvSpPr>
        <p:spPr>
          <a:xfrm>
            <a:off x="731519" y="5029200"/>
            <a:ext cx="3017520" cy="411480"/>
          </a:xfrm>
          <a:prstGeom prst="rect">
            <a:avLst/>
          </a:prstGeom>
          <a:noFill/>
        </p:spPr>
        <p:txBody>
          <a:bodyPr wrap="square">
            <a:spAutoFit/>
          </a:bodyPr>
          <a:lstStyle/>
          <a:p>
            <a:pPr algn="ctr">
              <a:lnSpc>
                <a:spcPts val="1080"/>
              </a:lnSpc>
              <a:spcAft>
                <a:spcPts val="0"/>
              </a:spcAft>
              <a:defRPr sz="900" b="0">
                <a:solidFill>
                  <a:srgbClr val="666666"/>
                </a:solidFill>
                <a:latin typeface="Arial"/>
              </a:defRPr>
            </a:pPr>
            <a:r>
              <a:t>Banking GCCs operate</a:t>
            </a:r>
            <a:br/>
            <a:r>
              <a:t>multiple centers</a:t>
            </a:r>
          </a:p>
        </p:txBody>
      </p:sp>
      <p:sp>
        <p:nvSpPr>
          <p:cNvPr id="10" name="Rectangle 9"/>
          <p:cNvSpPr/>
          <p:nvPr/>
        </p:nvSpPr>
        <p:spPr>
          <a:xfrm>
            <a:off x="4114800" y="4434840"/>
            <a:ext cx="3200400" cy="1051560"/>
          </a:xfrm>
          <a:prstGeom prst="rect">
            <a:avLst/>
          </a:prstGeom>
          <a:solidFill>
            <a:srgbClr val="F5F5F5"/>
          </a:solidFill>
          <a:ln w="9525">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06240" y="4507992"/>
            <a:ext cx="3017520" cy="502920"/>
          </a:xfrm>
          <a:prstGeom prst="rect">
            <a:avLst/>
          </a:prstGeom>
          <a:noFill/>
        </p:spPr>
        <p:txBody>
          <a:bodyPr wrap="square">
            <a:spAutoFit/>
          </a:bodyPr>
          <a:lstStyle/>
          <a:p>
            <a:pPr algn="ctr">
              <a:lnSpc>
                <a:spcPts val="3640"/>
              </a:lnSpc>
              <a:spcAft>
                <a:spcPts val="0"/>
              </a:spcAft>
              <a:defRPr sz="2800" b="1">
                <a:solidFill>
                  <a:srgbClr val="E84D0E"/>
                </a:solidFill>
                <a:latin typeface="Arial"/>
              </a:defRPr>
            </a:pPr>
            <a:r>
              <a:t>30-40%</a:t>
            </a:r>
          </a:p>
        </p:txBody>
      </p:sp>
      <p:sp>
        <p:nvSpPr>
          <p:cNvPr id="12" name="TextBox 11"/>
          <p:cNvSpPr txBox="1"/>
          <p:nvPr/>
        </p:nvSpPr>
        <p:spPr>
          <a:xfrm>
            <a:off x="4206240" y="5029200"/>
            <a:ext cx="3017520" cy="411480"/>
          </a:xfrm>
          <a:prstGeom prst="rect">
            <a:avLst/>
          </a:prstGeom>
          <a:noFill/>
        </p:spPr>
        <p:txBody>
          <a:bodyPr wrap="square">
            <a:spAutoFit/>
          </a:bodyPr>
          <a:lstStyle/>
          <a:p>
            <a:pPr algn="ctr">
              <a:lnSpc>
                <a:spcPts val="1080"/>
              </a:lnSpc>
              <a:spcAft>
                <a:spcPts val="0"/>
              </a:spcAft>
              <a:defRPr sz="900" b="0">
                <a:solidFill>
                  <a:srgbClr val="666666"/>
                </a:solidFill>
                <a:latin typeface="Arial"/>
              </a:defRPr>
            </a:pPr>
            <a:r>
              <a:t>Additional savings from</a:t>
            </a:r>
            <a:br/>
            <a:r>
              <a:t>Tier-2 satellites</a:t>
            </a:r>
          </a:p>
        </p:txBody>
      </p:sp>
      <p:sp>
        <p:nvSpPr>
          <p:cNvPr id="13" name="Rectangle 12"/>
          <p:cNvSpPr/>
          <p:nvPr/>
        </p:nvSpPr>
        <p:spPr>
          <a:xfrm>
            <a:off x="7589520" y="4434840"/>
            <a:ext cx="3931920" cy="1051560"/>
          </a:xfrm>
          <a:prstGeom prst="rect">
            <a:avLst/>
          </a:prstGeom>
          <a:solidFill>
            <a:srgbClr val="F5F5F5"/>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rIns="109728"/>
          <a:lstStyle/>
          <a:p>
            <a:pPr algn="ctr">
              <a:defRPr sz="1000" b="1">
                <a:solidFill>
                  <a:srgbClr val="E84D0E"/>
                </a:solidFill>
                <a:latin typeface="Arial"/>
              </a:defRPr>
            </a:pPr>
            <a:r>
              <a:t>→  RECOMMENDED APPROACH</a:t>
            </a:r>
          </a:p>
          <a:p>
            <a:pPr>
              <a:lnSpc>
                <a:spcPts val="1215"/>
              </a:lnSpc>
              <a:spcBef>
                <a:spcPts val="400"/>
              </a:spcBef>
              <a:defRPr sz="900">
                <a:solidFill>
                  <a:srgbClr val="4A4A4A"/>
                </a:solidFill>
                <a:latin typeface="Arial"/>
              </a:defRPr>
            </a:pPr>
            <a:r>
              <a:t>Start with Bangalore OR Hyderabad as primary hub (200 FTE Year 1). Add second city by Month 8. Evaluate Pune spoke by Month 12. BFSI needs at least two hubs from Day 1.</a:t>
            </a:r>
          </a:p>
        </p:txBody>
      </p:sp>
      <p:sp>
        <p:nvSpPr>
          <p:cNvPr id="14" name="Rectangle 13"/>
          <p:cNvSpPr/>
          <p:nvPr/>
        </p:nvSpPr>
        <p:spPr>
          <a:xfrm>
            <a:off x="0" y="6080760"/>
            <a:ext cx="12191695" cy="36576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wrap="square" lIns="640080" tIns="63500"/>
          <a:lstStyle/>
          <a:p>
            <a:pPr algn="l">
              <a:defRPr sz="1000" b="1">
                <a:solidFill>
                  <a:srgbClr val="2D2D2D"/>
                </a:solidFill>
                <a:latin typeface="Arial"/>
              </a:defRPr>
            </a:pPr>
            <a:r>
              <a:t>SO WHAT: The question is not which city — it is which functions go where. BFSI needs at least two hubs from Day 1</a:t>
            </a:r>
          </a:p>
        </p:txBody>
      </p:sp>
      <p:sp>
        <p:nvSpPr>
          <p:cNvPr id="15" name="TextBox 14"/>
          <p:cNvSpPr txBox="1"/>
          <p:nvPr/>
        </p:nvSpPr>
        <p:spPr>
          <a:xfrm>
            <a:off x="11247120" y="6537960"/>
            <a:ext cx="731520" cy="228600"/>
          </a:xfrm>
          <a:prstGeom prst="rect">
            <a:avLst/>
          </a:prstGeom>
          <a:noFill/>
        </p:spPr>
        <p:txBody>
          <a:bodyPr wrap="square">
            <a:spAutoFit/>
          </a:bodyPr>
          <a:lstStyle/>
          <a:p>
            <a:pPr algn="r">
              <a:lnSpc>
                <a:spcPts val="910"/>
              </a:lnSpc>
              <a:spcAft>
                <a:spcPts val="0"/>
              </a:spcAft>
              <a:defRPr sz="700" b="1">
                <a:solidFill>
                  <a:srgbClr val="666666"/>
                </a:solidFill>
                <a:latin typeface="Arial"/>
              </a:defRPr>
            </a:pPr>
            <a:r>
              <a:t>8</a:t>
            </a:r>
          </a:p>
        </p:txBody>
      </p:sp>
      <p:sp>
        <p:nvSpPr>
          <p:cNvPr id="16" name="TextBox 15"/>
          <p:cNvSpPr txBox="1"/>
          <p:nvPr/>
        </p:nvSpPr>
        <p:spPr>
          <a:xfrm>
            <a:off x="640080" y="6537960"/>
            <a:ext cx="10058400" cy="228600"/>
          </a:xfrm>
          <a:prstGeom prst="rect">
            <a:avLst/>
          </a:prstGeom>
          <a:noFill/>
        </p:spPr>
        <p:txBody>
          <a:bodyPr wrap="square">
            <a:spAutoFit/>
          </a:bodyPr>
          <a:lstStyle/>
          <a:p>
            <a:pPr algn="l">
              <a:lnSpc>
                <a:spcPts val="910"/>
              </a:lnSpc>
              <a:spcAft>
                <a:spcPts val="0"/>
              </a:spcAft>
              <a:defRPr sz="700" b="0">
                <a:solidFill>
                  <a:srgbClr val="666666"/>
                </a:solidFill>
                <a:latin typeface="Arial"/>
              </a:defRPr>
            </a:pPr>
            <a:r>
              <a:t>Sources: Zinnov, NASSCOM, ANSR, JLL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137160"/>
            <a:ext cx="4572000" cy="228600"/>
          </a:xfrm>
          <a:prstGeom prst="rect">
            <a:avLst/>
          </a:prstGeom>
          <a:noFill/>
        </p:spPr>
        <p:txBody>
          <a:bodyPr wrap="square">
            <a:spAutoFit/>
          </a:bodyPr>
          <a:lstStyle/>
          <a:p>
            <a:pPr algn="l">
              <a:lnSpc>
                <a:spcPts val="1170"/>
              </a:lnSpc>
              <a:spcAft>
                <a:spcPts val="0"/>
              </a:spcAft>
              <a:defRPr sz="900" b="1">
                <a:solidFill>
                  <a:srgbClr val="E84D0E"/>
                </a:solidFill>
                <a:latin typeface="Arial"/>
              </a:defRPr>
            </a:pPr>
            <a:r>
              <a:t>FINANCIAL BUSINESS CASE</a:t>
            </a:r>
          </a:p>
        </p:txBody>
      </p:sp>
      <p:sp>
        <p:nvSpPr>
          <p:cNvPr id="3" name="TextBox 2"/>
          <p:cNvSpPr txBox="1"/>
          <p:nvPr/>
        </p:nvSpPr>
        <p:spPr>
          <a:xfrm>
            <a:off x="640080" y="320040"/>
            <a:ext cx="10881360" cy="822960"/>
          </a:xfrm>
          <a:prstGeom prst="rect">
            <a:avLst/>
          </a:prstGeom>
          <a:noFill/>
        </p:spPr>
        <p:txBody>
          <a:bodyPr wrap="square">
            <a:spAutoFit/>
          </a:bodyPr>
          <a:lstStyle/>
          <a:p>
            <a:pPr algn="l">
              <a:lnSpc>
                <a:spcPts val="3380"/>
              </a:lnSpc>
              <a:spcAft>
                <a:spcPts val="0"/>
              </a:spcAft>
              <a:defRPr sz="2600" b="1">
                <a:solidFill>
                  <a:srgbClr val="1A1A1A"/>
                </a:solidFill>
                <a:latin typeface="Arial"/>
              </a:defRPr>
            </a:pPr>
            <a:r>
              <a:t>5-Year TCO Model: GCC Breaks Even at Month 24-30</a:t>
            </a:r>
          </a:p>
        </p:txBody>
      </p:sp>
      <p:graphicFrame>
        <p:nvGraphicFramePr>
          <p:cNvPr id="4" name="Table 3"/>
          <p:cNvGraphicFramePr>
            <a:graphicFrameLocks noGrp="1"/>
          </p:cNvGraphicFramePr>
          <p:nvPr/>
        </p:nvGraphicFramePr>
        <p:xfrm>
          <a:off x="640080" y="1371600"/>
          <a:ext cx="10789920" cy="3200400"/>
        </p:xfrm>
        <a:graphic>
          <a:graphicData uri="http://schemas.openxmlformats.org/drawingml/2006/table">
            <a:tbl>
              <a:tblPr firstRow="1" bandRow="1">
                <a:tableStyleId>{5C22544A-7EE6-4342-B048-85BDC9FD1C3A}</a:tableStyleId>
              </a:tblPr>
              <a:tblGrid>
                <a:gridCol w="2286000"/>
                <a:gridCol w="2834640"/>
                <a:gridCol w="2834640"/>
                <a:gridCol w="2834640"/>
              </a:tblGrid>
              <a:tr h="355600">
                <a:tc>
                  <a:txBody>
                    <a:bodyPr/>
                    <a:lstStyle/>
                    <a:p>
                      <a:pPr>
                        <a:defRPr sz="900" b="1">
                          <a:solidFill>
                            <a:srgbClr val="FFFFFF"/>
                          </a:solidFill>
                          <a:latin typeface="Arial"/>
                        </a:defRPr>
                      </a:pPr>
                      <a:r>
                        <a:t>Dimension</a:t>
                      </a:r>
                    </a:p>
                  </a:txBody>
                  <a:tcPr marL="73152" marR="73152" marT="36576" marB="36576">
                    <a:solidFill>
                      <a:srgbClr val="2D2D2D"/>
                    </a:solidFill>
                  </a:tcPr>
                </a:tc>
                <a:tc>
                  <a:txBody>
                    <a:bodyPr/>
                    <a:lstStyle/>
                    <a:p>
                      <a:pPr>
                        <a:defRPr sz="900" b="1">
                          <a:solidFill>
                            <a:srgbClr val="FFFFFF"/>
                          </a:solidFill>
                          <a:latin typeface="Arial"/>
                        </a:defRPr>
                      </a:pPr>
                      <a:r>
                        <a:t>Pure Outsourcing</a:t>
                      </a:r>
                    </a:p>
                  </a:txBody>
                  <a:tcPr marL="73152" marR="73152" marT="36576" marB="36576">
                    <a:solidFill>
                      <a:srgbClr val="2D2D2D"/>
                    </a:solidFill>
                  </a:tcPr>
                </a:tc>
                <a:tc>
                  <a:txBody>
                    <a:bodyPr/>
                    <a:lstStyle/>
                    <a:p>
                      <a:pPr>
                        <a:defRPr sz="900" b="1">
                          <a:solidFill>
                            <a:srgbClr val="FFFFFF"/>
                          </a:solidFill>
                          <a:latin typeface="Arial"/>
                        </a:defRPr>
                      </a:pPr>
                      <a:r>
                        <a:t>Pure GCC</a:t>
                      </a:r>
                    </a:p>
                  </a:txBody>
                  <a:tcPr marL="73152" marR="73152" marT="36576" marB="36576">
                    <a:solidFill>
                      <a:srgbClr val="2D2D2D"/>
                    </a:solidFill>
                  </a:tcPr>
                </a:tc>
                <a:tc>
                  <a:txBody>
                    <a:bodyPr/>
                    <a:lstStyle/>
                    <a:p>
                      <a:pPr>
                        <a:defRPr sz="900" b="1">
                          <a:solidFill>
                            <a:srgbClr val="FFFFFF"/>
                          </a:solidFill>
                          <a:latin typeface="Arial"/>
                        </a:defRPr>
                      </a:pPr>
                      <a:r>
                        <a:t>BOT Hybrid</a:t>
                      </a:r>
                    </a:p>
                  </a:txBody>
                  <a:tcPr marL="73152" marR="73152" marT="36576" marB="36576">
                    <a:solidFill>
                      <a:srgbClr val="2D2D2D"/>
                    </a:solidFill>
                  </a:tcPr>
                </a:tc>
              </a:tr>
              <a:tr h="355600">
                <a:tc>
                  <a:txBody>
                    <a:bodyPr/>
                    <a:lstStyle/>
                    <a:p>
                      <a:pPr>
                        <a:defRPr sz="900">
                          <a:solidFill>
                            <a:srgbClr val="4A4A4A"/>
                          </a:solidFill>
                          <a:latin typeface="Arial"/>
                        </a:defRPr>
                      </a:pPr>
                      <a:r>
                        <a:t>Year 1 Cost</a:t>
                      </a:r>
                    </a:p>
                  </a:txBody>
                  <a:tcPr marL="73152" marR="73152" marT="36576" marB="36576">
                    <a:solidFill>
                      <a:srgbClr val="FFFFFF"/>
                    </a:solidFill>
                  </a:tcPr>
                </a:tc>
                <a:tc>
                  <a:txBody>
                    <a:bodyPr/>
                    <a:lstStyle/>
                    <a:p>
                      <a:pPr>
                        <a:defRPr sz="900">
                          <a:solidFill>
                            <a:srgbClr val="4A4A4A"/>
                          </a:solidFill>
                          <a:latin typeface="Arial"/>
                        </a:defRPr>
                      </a:pPr>
                      <a:r>
                        <a:t>30-70% cheaper</a:t>
                      </a:r>
                    </a:p>
                  </a:txBody>
                  <a:tcPr marL="73152" marR="73152" marT="36576" marB="36576">
                    <a:solidFill>
                      <a:srgbClr val="FFFFFF"/>
                    </a:solidFill>
                  </a:tcPr>
                </a:tc>
                <a:tc>
                  <a:txBody>
                    <a:bodyPr/>
                    <a:lstStyle/>
                    <a:p>
                      <a:pPr>
                        <a:defRPr sz="900">
                          <a:solidFill>
                            <a:srgbClr val="4A4A4A"/>
                          </a:solidFill>
                          <a:latin typeface="Arial"/>
                        </a:defRPr>
                      </a:pPr>
                      <a:r>
                        <a:t>High CapEx (setup)</a:t>
                      </a:r>
                    </a:p>
                  </a:txBody>
                  <a:tcPr marL="73152" marR="73152" marT="36576" marB="36576">
                    <a:solidFill>
                      <a:srgbClr val="FFFFFF"/>
                    </a:solidFill>
                  </a:tcPr>
                </a:tc>
                <a:tc>
                  <a:txBody>
                    <a:bodyPr/>
                    <a:lstStyle/>
                    <a:p>
                      <a:pPr>
                        <a:defRPr sz="900">
                          <a:solidFill>
                            <a:srgbClr val="4A4A4A"/>
                          </a:solidFill>
                          <a:latin typeface="Arial"/>
                        </a:defRPr>
                      </a:pPr>
                      <a:r>
                        <a:t>Moderate (shared)</a:t>
                      </a:r>
                    </a:p>
                  </a:txBody>
                  <a:tcPr marL="73152" marR="73152" marT="36576" marB="36576">
                    <a:solidFill>
                      <a:srgbClr val="FFFFFF"/>
                    </a:solidFill>
                  </a:tcPr>
                </a:tc>
              </a:tr>
              <a:tr h="355600">
                <a:tc>
                  <a:txBody>
                    <a:bodyPr/>
                    <a:lstStyle/>
                    <a:p>
                      <a:pPr>
                        <a:defRPr sz="900">
                          <a:solidFill>
                            <a:srgbClr val="4A4A4A"/>
                          </a:solidFill>
                          <a:latin typeface="Arial"/>
                        </a:defRPr>
                      </a:pPr>
                      <a:r>
                        <a:t>Year 2-3</a:t>
                      </a:r>
                    </a:p>
                  </a:txBody>
                  <a:tcPr marL="73152" marR="73152" marT="36576" marB="36576">
                    <a:solidFill>
                      <a:srgbClr val="F5F5F5"/>
                    </a:solidFill>
                  </a:tcPr>
                </a:tc>
                <a:tc>
                  <a:txBody>
                    <a:bodyPr/>
                    <a:lstStyle/>
                    <a:p>
                      <a:pPr>
                        <a:defRPr sz="900">
                          <a:solidFill>
                            <a:srgbClr val="4A4A4A"/>
                          </a:solidFill>
                          <a:latin typeface="Arial"/>
                        </a:defRPr>
                      </a:pPr>
                      <a:r>
                        <a:t>10-20% escalation</a:t>
                      </a:r>
                    </a:p>
                  </a:txBody>
                  <a:tcPr marL="73152" marR="73152" marT="36576" marB="36576">
                    <a:solidFill>
                      <a:srgbClr val="F5F5F5"/>
                    </a:solidFill>
                  </a:tcPr>
                </a:tc>
                <a:tc>
                  <a:txBody>
                    <a:bodyPr/>
                    <a:lstStyle/>
                    <a:p>
                      <a:pPr>
                        <a:defRPr sz="900">
                          <a:solidFill>
                            <a:srgbClr val="4A4A4A"/>
                          </a:solidFill>
                          <a:latin typeface="Arial"/>
                        </a:defRPr>
                      </a:pPr>
                      <a:r>
                        <a:t>Breakeven point</a:t>
                      </a:r>
                    </a:p>
                  </a:txBody>
                  <a:tcPr marL="73152" marR="73152" marT="36576" marB="36576">
                    <a:solidFill>
                      <a:srgbClr val="F5F5F5"/>
                    </a:solidFill>
                  </a:tcPr>
                </a:tc>
                <a:tc>
                  <a:txBody>
                    <a:bodyPr/>
                    <a:lstStyle/>
                    <a:p>
                      <a:pPr>
                        <a:defRPr sz="900">
                          <a:solidFill>
                            <a:srgbClr val="4A4A4A"/>
                          </a:solidFill>
                          <a:latin typeface="Arial"/>
                        </a:defRPr>
                      </a:pPr>
                      <a:r>
                        <a:t>Captive conversion M18</a:t>
                      </a:r>
                    </a:p>
                  </a:txBody>
                  <a:tcPr marL="73152" marR="73152" marT="36576" marB="36576">
                    <a:solidFill>
                      <a:srgbClr val="F5F5F5"/>
                    </a:solidFill>
                  </a:tcPr>
                </a:tc>
              </a:tr>
              <a:tr h="355600">
                <a:tc>
                  <a:txBody>
                    <a:bodyPr/>
                    <a:lstStyle/>
                    <a:p>
                      <a:pPr>
                        <a:defRPr sz="900">
                          <a:solidFill>
                            <a:srgbClr val="4A4A4A"/>
                          </a:solidFill>
                          <a:latin typeface="Arial"/>
                        </a:defRPr>
                      </a:pPr>
                      <a:r>
                        <a:t>Year 3-5</a:t>
                      </a:r>
                    </a:p>
                  </a:txBody>
                  <a:tcPr marL="73152" marR="73152" marT="36576" marB="36576">
                    <a:solidFill>
                      <a:srgbClr val="FFFFFF"/>
                    </a:solidFill>
                  </a:tcPr>
                </a:tc>
                <a:tc>
                  <a:txBody>
                    <a:bodyPr/>
                    <a:lstStyle/>
                    <a:p>
                      <a:pPr>
                        <a:defRPr sz="900">
                          <a:solidFill>
                            <a:srgbClr val="4A4A4A"/>
                          </a:solidFill>
                          <a:latin typeface="Arial"/>
                        </a:defRPr>
                      </a:pPr>
                      <a:r>
                        <a:t>Escalating; lock-in</a:t>
                      </a:r>
                    </a:p>
                  </a:txBody>
                  <a:tcPr marL="73152" marR="73152" marT="36576" marB="36576">
                    <a:solidFill>
                      <a:srgbClr val="FFFFFF"/>
                    </a:solidFill>
                  </a:tcPr>
                </a:tc>
                <a:tc>
                  <a:txBody>
                    <a:bodyPr/>
                    <a:lstStyle/>
                    <a:p>
                      <a:pPr>
                        <a:defRPr sz="900">
                          <a:solidFill>
                            <a:srgbClr val="4A4A4A"/>
                          </a:solidFill>
                          <a:latin typeface="Arial"/>
                        </a:defRPr>
                      </a:pPr>
                      <a:r>
                        <a:t>15-20% savings</a:t>
                      </a:r>
                    </a:p>
                  </a:txBody>
                  <a:tcPr marL="73152" marR="73152" marT="36576" marB="36576">
                    <a:solidFill>
                      <a:srgbClr val="FFFFFF"/>
                    </a:solidFill>
                  </a:tcPr>
                </a:tc>
                <a:tc>
                  <a:txBody>
                    <a:bodyPr/>
                    <a:lstStyle/>
                    <a:p>
                      <a:pPr>
                        <a:defRPr sz="900">
                          <a:solidFill>
                            <a:srgbClr val="4A4A4A"/>
                          </a:solidFill>
                          <a:latin typeface="Arial"/>
                        </a:defRPr>
                      </a:pPr>
                      <a:r>
                        <a:t>15-20% savings</a:t>
                      </a:r>
                    </a:p>
                  </a:txBody>
                  <a:tcPr marL="73152" marR="73152" marT="36576" marB="36576">
                    <a:solidFill>
                      <a:srgbClr val="FFFFFF"/>
                    </a:solidFill>
                  </a:tcPr>
                </a:tc>
              </a:tr>
              <a:tr h="355600">
                <a:tc>
                  <a:txBody>
                    <a:bodyPr/>
                    <a:lstStyle/>
                    <a:p>
                      <a:pPr>
                        <a:defRPr sz="900">
                          <a:solidFill>
                            <a:srgbClr val="4A4A4A"/>
                          </a:solidFill>
                          <a:latin typeface="Arial"/>
                        </a:defRPr>
                      </a:pPr>
                      <a:r>
                        <a:t>Setup Time</a:t>
                      </a:r>
                    </a:p>
                  </a:txBody>
                  <a:tcPr marL="73152" marR="73152" marT="36576" marB="36576">
                    <a:solidFill>
                      <a:srgbClr val="F5F5F5"/>
                    </a:solidFill>
                  </a:tcPr>
                </a:tc>
                <a:tc>
                  <a:txBody>
                    <a:bodyPr/>
                    <a:lstStyle/>
                    <a:p>
                      <a:pPr>
                        <a:defRPr sz="900">
                          <a:solidFill>
                            <a:srgbClr val="4A4A4A"/>
                          </a:solidFill>
                          <a:latin typeface="Arial"/>
                        </a:defRPr>
                      </a:pPr>
                      <a:r>
                        <a:t>Weeks to months</a:t>
                      </a:r>
                    </a:p>
                  </a:txBody>
                  <a:tcPr marL="73152" marR="73152" marT="36576" marB="36576">
                    <a:solidFill>
                      <a:srgbClr val="F5F5F5"/>
                    </a:solidFill>
                  </a:tcPr>
                </a:tc>
                <a:tc>
                  <a:txBody>
                    <a:bodyPr/>
                    <a:lstStyle/>
                    <a:p>
                      <a:pPr>
                        <a:defRPr sz="900">
                          <a:solidFill>
                            <a:srgbClr val="4A4A4A"/>
                          </a:solidFill>
                          <a:latin typeface="Arial"/>
                        </a:defRPr>
                      </a:pPr>
                      <a:r>
                        <a:t>12-24 months</a:t>
                      </a:r>
                    </a:p>
                  </a:txBody>
                  <a:tcPr marL="73152" marR="73152" marT="36576" marB="36576">
                    <a:solidFill>
                      <a:srgbClr val="F5F5F5"/>
                    </a:solidFill>
                  </a:tcPr>
                </a:tc>
                <a:tc>
                  <a:txBody>
                    <a:bodyPr/>
                    <a:lstStyle/>
                    <a:p>
                      <a:pPr>
                        <a:defRPr sz="900">
                          <a:solidFill>
                            <a:srgbClr val="4A4A4A"/>
                          </a:solidFill>
                          <a:latin typeface="Arial"/>
                        </a:defRPr>
                      </a:pPr>
                      <a:r>
                        <a:t>4-6 months</a:t>
                      </a:r>
                    </a:p>
                  </a:txBody>
                  <a:tcPr marL="73152" marR="73152" marT="36576" marB="36576">
                    <a:solidFill>
                      <a:srgbClr val="F5F5F5"/>
                    </a:solidFill>
                  </a:tcPr>
                </a:tc>
              </a:tr>
              <a:tr h="355600">
                <a:tc>
                  <a:txBody>
                    <a:bodyPr/>
                    <a:lstStyle/>
                    <a:p>
                      <a:pPr>
                        <a:defRPr sz="900">
                          <a:solidFill>
                            <a:srgbClr val="4A4A4A"/>
                          </a:solidFill>
                          <a:latin typeface="Arial"/>
                        </a:defRPr>
                      </a:pPr>
                      <a:r>
                        <a:t>Control &amp; IP</a:t>
                      </a:r>
                    </a:p>
                  </a:txBody>
                  <a:tcPr marL="73152" marR="73152" marT="36576" marB="36576">
                    <a:solidFill>
                      <a:srgbClr val="FFFFFF"/>
                    </a:solidFill>
                  </a:tcPr>
                </a:tc>
                <a:tc>
                  <a:txBody>
                    <a:bodyPr/>
                    <a:lstStyle/>
                    <a:p>
                      <a:pPr>
                        <a:defRPr sz="900">
                          <a:solidFill>
                            <a:srgbClr val="4A4A4A"/>
                          </a:solidFill>
                          <a:latin typeface="Arial"/>
                        </a:defRPr>
                      </a:pPr>
                      <a:r>
                        <a:t>Limited; vendor owns</a:t>
                      </a:r>
                    </a:p>
                  </a:txBody>
                  <a:tcPr marL="73152" marR="73152" marT="36576" marB="36576">
                    <a:solidFill>
                      <a:srgbClr val="FFFFFF"/>
                    </a:solidFill>
                  </a:tcPr>
                </a:tc>
                <a:tc>
                  <a:txBody>
                    <a:bodyPr/>
                    <a:lstStyle/>
                    <a:p>
                      <a:pPr>
                        <a:defRPr sz="900">
                          <a:solidFill>
                            <a:srgbClr val="4A4A4A"/>
                          </a:solidFill>
                          <a:latin typeface="Arial"/>
                        </a:defRPr>
                      </a:pPr>
                      <a:r>
                        <a:t>Full ownership</a:t>
                      </a:r>
                    </a:p>
                  </a:txBody>
                  <a:tcPr marL="73152" marR="73152" marT="36576" marB="36576">
                    <a:solidFill>
                      <a:srgbClr val="FFFFFF"/>
                    </a:solidFill>
                  </a:tcPr>
                </a:tc>
                <a:tc>
                  <a:txBody>
                    <a:bodyPr/>
                    <a:lstStyle/>
                    <a:p>
                      <a:pPr>
                        <a:defRPr sz="900">
                          <a:solidFill>
                            <a:srgbClr val="4A4A4A"/>
                          </a:solidFill>
                          <a:latin typeface="Arial"/>
                        </a:defRPr>
                      </a:pPr>
                      <a:r>
                        <a:t>Full post-handover</a:t>
                      </a:r>
                    </a:p>
                  </a:txBody>
                  <a:tcPr marL="73152" marR="73152" marT="36576" marB="36576">
                    <a:solidFill>
                      <a:srgbClr val="FFFFFF"/>
                    </a:solidFill>
                  </a:tcPr>
                </a:tc>
              </a:tr>
              <a:tr h="355600">
                <a:tc>
                  <a:txBody>
                    <a:bodyPr/>
                    <a:lstStyle/>
                    <a:p>
                      <a:pPr>
                        <a:defRPr sz="900">
                          <a:solidFill>
                            <a:srgbClr val="4A4A4A"/>
                          </a:solidFill>
                          <a:latin typeface="Arial"/>
                        </a:defRPr>
                      </a:pPr>
                      <a:r>
                        <a:t>Innovation</a:t>
                      </a:r>
                    </a:p>
                  </a:txBody>
                  <a:tcPr marL="73152" marR="73152" marT="36576" marB="36576">
                    <a:solidFill>
                      <a:srgbClr val="F5F5F5"/>
                    </a:solidFill>
                  </a:tcPr>
                </a:tc>
                <a:tc>
                  <a:txBody>
                    <a:bodyPr/>
                    <a:lstStyle/>
                    <a:p>
                      <a:pPr>
                        <a:defRPr sz="900">
                          <a:solidFill>
                            <a:srgbClr val="4A4A4A"/>
                          </a:solidFill>
                          <a:latin typeface="Arial"/>
                        </a:defRPr>
                      </a:pPr>
                      <a:r>
                        <a:t>Moderate; 1x patents</a:t>
                      </a:r>
                    </a:p>
                  </a:txBody>
                  <a:tcPr marL="73152" marR="73152" marT="36576" marB="36576">
                    <a:solidFill>
                      <a:srgbClr val="F5F5F5"/>
                    </a:solidFill>
                  </a:tcPr>
                </a:tc>
                <a:tc>
                  <a:txBody>
                    <a:bodyPr/>
                    <a:lstStyle/>
                    <a:p>
                      <a:pPr>
                        <a:defRPr sz="900">
                          <a:solidFill>
                            <a:srgbClr val="4A4A4A"/>
                          </a:solidFill>
                          <a:latin typeface="Arial"/>
                        </a:defRPr>
                      </a:pPr>
                      <a:r>
                        <a:t>3.2x patents/$1M</a:t>
                      </a:r>
                    </a:p>
                  </a:txBody>
                  <a:tcPr marL="73152" marR="73152" marT="36576" marB="36576">
                    <a:solidFill>
                      <a:srgbClr val="F5F5F5"/>
                    </a:solidFill>
                  </a:tcPr>
                </a:tc>
                <a:tc>
                  <a:txBody>
                    <a:bodyPr/>
                    <a:lstStyle/>
                    <a:p>
                      <a:pPr>
                        <a:defRPr sz="900">
                          <a:solidFill>
                            <a:srgbClr val="4A4A4A"/>
                          </a:solidFill>
                          <a:latin typeface="Arial"/>
                        </a:defRPr>
                      </a:pPr>
                      <a:r>
                        <a:t>3.2x post-conversion</a:t>
                      </a:r>
                    </a:p>
                  </a:txBody>
                  <a:tcPr marL="73152" marR="73152" marT="36576" marB="36576">
                    <a:solidFill>
                      <a:srgbClr val="F5F5F5"/>
                    </a:solidFill>
                  </a:tcPr>
                </a:tc>
              </a:tr>
              <a:tr h="355600">
                <a:tc>
                  <a:txBody>
                    <a:bodyPr/>
                    <a:lstStyle/>
                    <a:p>
                      <a:pPr>
                        <a:defRPr sz="900">
                          <a:solidFill>
                            <a:srgbClr val="4A4A4A"/>
                          </a:solidFill>
                          <a:latin typeface="Arial"/>
                        </a:defRPr>
                      </a:pPr>
                      <a:r>
                        <a:t>Retention</a:t>
                      </a:r>
                    </a:p>
                  </a:txBody>
                  <a:tcPr marL="73152" marR="73152" marT="36576" marB="36576">
                    <a:solidFill>
                      <a:srgbClr val="FFFFFF"/>
                    </a:solidFill>
                  </a:tcPr>
                </a:tc>
                <a:tc>
                  <a:txBody>
                    <a:bodyPr/>
                    <a:lstStyle/>
                    <a:p>
                      <a:pPr>
                        <a:defRPr sz="900">
                          <a:solidFill>
                            <a:srgbClr val="4A4A4A"/>
                          </a:solidFill>
                          <a:latin typeface="Arial"/>
                        </a:defRPr>
                      </a:pPr>
                      <a:r>
                        <a:t>30-35% attrition</a:t>
                      </a:r>
                    </a:p>
                  </a:txBody>
                  <a:tcPr marL="73152" marR="73152" marT="36576" marB="36576">
                    <a:solidFill>
                      <a:srgbClr val="FFFFFF"/>
                    </a:solidFill>
                  </a:tcPr>
                </a:tc>
                <a:tc>
                  <a:txBody>
                    <a:bodyPr/>
                    <a:lstStyle/>
                    <a:p>
                      <a:pPr>
                        <a:defRPr sz="900">
                          <a:solidFill>
                            <a:srgbClr val="4A4A4A"/>
                          </a:solidFill>
                          <a:latin typeface="Arial"/>
                        </a:defRPr>
                      </a:pPr>
                      <a:r>
                        <a:t>11.5-12.6% attrition</a:t>
                      </a:r>
                    </a:p>
                  </a:txBody>
                  <a:tcPr marL="73152" marR="73152" marT="36576" marB="36576">
                    <a:solidFill>
                      <a:srgbClr val="FFFFFF"/>
                    </a:solidFill>
                  </a:tcPr>
                </a:tc>
                <a:tc>
                  <a:txBody>
                    <a:bodyPr/>
                    <a:lstStyle/>
                    <a:p>
                      <a:pPr>
                        <a:defRPr sz="900">
                          <a:solidFill>
                            <a:srgbClr val="4A4A4A"/>
                          </a:solidFill>
                          <a:latin typeface="Arial"/>
                        </a:defRPr>
                      </a:pPr>
                      <a:r>
                        <a:t>GCC-level post-M18</a:t>
                      </a:r>
                    </a:p>
                  </a:txBody>
                  <a:tcPr marL="73152" marR="73152" marT="36576" marB="36576">
                    <a:solidFill>
                      <a:srgbClr val="FFFFFF"/>
                    </a:solidFill>
                  </a:tcPr>
                </a:tc>
              </a:tr>
              <a:tr h="355600">
                <a:tc>
                  <a:txBody>
                    <a:bodyPr/>
                    <a:lstStyle/>
                    <a:p>
                      <a:pPr>
                        <a:defRPr sz="900">
                          <a:solidFill>
                            <a:srgbClr val="4A4A4A"/>
                          </a:solidFill>
                          <a:latin typeface="Arial"/>
                        </a:defRPr>
                      </a:pPr>
                      <a:r>
                        <a:t>Risk Profile</a:t>
                      </a:r>
                    </a:p>
                  </a:txBody>
                  <a:tcPr marL="73152" marR="73152" marT="36576" marB="36576">
                    <a:solidFill>
                      <a:srgbClr val="F5F5F5"/>
                    </a:solidFill>
                  </a:tcPr>
                </a:tc>
                <a:tc>
                  <a:txBody>
                    <a:bodyPr/>
                    <a:lstStyle/>
                    <a:p>
                      <a:pPr>
                        <a:defRPr sz="900">
                          <a:solidFill>
                            <a:srgbClr val="4A4A4A"/>
                          </a:solidFill>
                          <a:latin typeface="Arial"/>
                        </a:defRPr>
                      </a:pPr>
                      <a:r>
                        <a:t>Grows (DORA)</a:t>
                      </a:r>
                    </a:p>
                  </a:txBody>
                  <a:tcPr marL="73152" marR="73152" marT="36576" marB="36576">
                    <a:solidFill>
                      <a:srgbClr val="F5F5F5"/>
                    </a:solidFill>
                  </a:tcPr>
                </a:tc>
                <a:tc>
                  <a:txBody>
                    <a:bodyPr/>
                    <a:lstStyle/>
                    <a:p>
                      <a:pPr>
                        <a:defRPr sz="900">
                          <a:solidFill>
                            <a:srgbClr val="4A4A4A"/>
                          </a:solidFill>
                          <a:latin typeface="Arial"/>
                        </a:defRPr>
                      </a:pPr>
                      <a:r>
                        <a:t>Lower long-term</a:t>
                      </a:r>
                    </a:p>
                  </a:txBody>
                  <a:tcPr marL="73152" marR="73152" marT="36576" marB="36576">
                    <a:solidFill>
                      <a:srgbClr val="F5F5F5"/>
                    </a:solidFill>
                  </a:tcPr>
                </a:tc>
                <a:tc>
                  <a:txBody>
                    <a:bodyPr/>
                    <a:lstStyle/>
                    <a:p>
                      <a:pPr>
                        <a:defRPr sz="900">
                          <a:solidFill>
                            <a:srgbClr val="4A4A4A"/>
                          </a:solidFill>
                          <a:latin typeface="Arial"/>
                        </a:defRPr>
                      </a:pPr>
                      <a:r>
                        <a:t>Best of both</a:t>
                      </a:r>
                    </a:p>
                  </a:txBody>
                  <a:tcPr marL="73152" marR="73152" marT="36576" marB="36576">
                    <a:solidFill>
                      <a:srgbClr val="F5F5F5"/>
                    </a:solidFill>
                  </a:tcPr>
                </a:tc>
              </a:tr>
            </a:tbl>
          </a:graphicData>
        </a:graphic>
      </p:graphicFrame>
      <p:sp>
        <p:nvSpPr>
          <p:cNvPr id="5" name="Rectangle 4"/>
          <p:cNvSpPr/>
          <p:nvPr/>
        </p:nvSpPr>
        <p:spPr>
          <a:xfrm>
            <a:off x="640080" y="4709160"/>
            <a:ext cx="1088136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4846320"/>
            <a:ext cx="2560320" cy="1051560"/>
          </a:xfrm>
          <a:prstGeom prst="rect">
            <a:avLst/>
          </a:prstGeom>
          <a:solidFill>
            <a:srgbClr val="F5F5F5"/>
          </a:solidFill>
          <a:ln w="9525">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19" y="4919472"/>
            <a:ext cx="2377439" cy="502920"/>
          </a:xfrm>
          <a:prstGeom prst="rect">
            <a:avLst/>
          </a:prstGeom>
          <a:noFill/>
        </p:spPr>
        <p:txBody>
          <a:bodyPr wrap="square">
            <a:spAutoFit/>
          </a:bodyPr>
          <a:lstStyle/>
          <a:p>
            <a:pPr algn="ctr">
              <a:lnSpc>
                <a:spcPts val="3380"/>
              </a:lnSpc>
              <a:spcAft>
                <a:spcPts val="0"/>
              </a:spcAft>
              <a:defRPr sz="2600" b="1">
                <a:solidFill>
                  <a:srgbClr val="E84D0E"/>
                </a:solidFill>
                <a:latin typeface="Arial"/>
              </a:defRPr>
            </a:pPr>
            <a:r>
              <a:t>M24-30</a:t>
            </a:r>
          </a:p>
        </p:txBody>
      </p:sp>
      <p:sp>
        <p:nvSpPr>
          <p:cNvPr id="8" name="TextBox 7"/>
          <p:cNvSpPr txBox="1"/>
          <p:nvPr/>
        </p:nvSpPr>
        <p:spPr>
          <a:xfrm>
            <a:off x="731519" y="5440680"/>
            <a:ext cx="2377439" cy="411480"/>
          </a:xfrm>
          <a:prstGeom prst="rect">
            <a:avLst/>
          </a:prstGeom>
          <a:noFill/>
        </p:spPr>
        <p:txBody>
          <a:bodyPr wrap="square">
            <a:spAutoFit/>
          </a:bodyPr>
          <a:lstStyle/>
          <a:p>
            <a:pPr algn="ctr">
              <a:lnSpc>
                <a:spcPts val="1080"/>
              </a:lnSpc>
              <a:spcAft>
                <a:spcPts val="0"/>
              </a:spcAft>
              <a:defRPr sz="900" b="0">
                <a:solidFill>
                  <a:srgbClr val="666666"/>
                </a:solidFill>
                <a:latin typeface="Arial"/>
              </a:defRPr>
            </a:pPr>
            <a:r>
              <a:t>Breakeven Point</a:t>
            </a:r>
          </a:p>
        </p:txBody>
      </p:sp>
      <p:sp>
        <p:nvSpPr>
          <p:cNvPr id="9" name="Rectangle 8"/>
          <p:cNvSpPr/>
          <p:nvPr/>
        </p:nvSpPr>
        <p:spPr>
          <a:xfrm>
            <a:off x="3474720" y="4846320"/>
            <a:ext cx="2560320" cy="1051560"/>
          </a:xfrm>
          <a:prstGeom prst="rect">
            <a:avLst/>
          </a:prstGeom>
          <a:solidFill>
            <a:srgbClr val="F5F5F5"/>
          </a:solidFill>
          <a:ln w="9525">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66160" y="4919472"/>
            <a:ext cx="2377439" cy="502920"/>
          </a:xfrm>
          <a:prstGeom prst="rect">
            <a:avLst/>
          </a:prstGeom>
          <a:noFill/>
        </p:spPr>
        <p:txBody>
          <a:bodyPr wrap="square">
            <a:spAutoFit/>
          </a:bodyPr>
          <a:lstStyle/>
          <a:p>
            <a:pPr algn="ctr">
              <a:lnSpc>
                <a:spcPts val="3380"/>
              </a:lnSpc>
              <a:spcAft>
                <a:spcPts val="0"/>
              </a:spcAft>
              <a:defRPr sz="2600" b="1">
                <a:solidFill>
                  <a:srgbClr val="27AE60"/>
                </a:solidFill>
                <a:latin typeface="Arial"/>
              </a:defRPr>
            </a:pPr>
            <a:r>
              <a:t>15-20%</a:t>
            </a:r>
          </a:p>
        </p:txBody>
      </p:sp>
      <p:sp>
        <p:nvSpPr>
          <p:cNvPr id="11" name="TextBox 10"/>
          <p:cNvSpPr txBox="1"/>
          <p:nvPr/>
        </p:nvSpPr>
        <p:spPr>
          <a:xfrm>
            <a:off x="3566160" y="5440680"/>
            <a:ext cx="2377439" cy="411480"/>
          </a:xfrm>
          <a:prstGeom prst="rect">
            <a:avLst/>
          </a:prstGeom>
          <a:noFill/>
        </p:spPr>
        <p:txBody>
          <a:bodyPr wrap="square">
            <a:spAutoFit/>
          </a:bodyPr>
          <a:lstStyle/>
          <a:p>
            <a:pPr algn="ctr">
              <a:lnSpc>
                <a:spcPts val="1080"/>
              </a:lnSpc>
              <a:spcAft>
                <a:spcPts val="0"/>
              </a:spcAft>
              <a:defRPr sz="900" b="0">
                <a:solidFill>
                  <a:srgbClr val="666666"/>
                </a:solidFill>
                <a:latin typeface="Arial"/>
              </a:defRPr>
            </a:pPr>
            <a:r>
              <a:t>Savings Post Year 3</a:t>
            </a:r>
          </a:p>
        </p:txBody>
      </p:sp>
      <p:sp>
        <p:nvSpPr>
          <p:cNvPr id="12" name="Rectangle 11"/>
          <p:cNvSpPr/>
          <p:nvPr/>
        </p:nvSpPr>
        <p:spPr>
          <a:xfrm>
            <a:off x="6309360" y="4846320"/>
            <a:ext cx="2560320" cy="1051560"/>
          </a:xfrm>
          <a:prstGeom prst="rect">
            <a:avLst/>
          </a:prstGeom>
          <a:solidFill>
            <a:srgbClr val="F5F5F5"/>
          </a:solidFill>
          <a:ln w="9525">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4919472"/>
            <a:ext cx="2377439" cy="502920"/>
          </a:xfrm>
          <a:prstGeom prst="rect">
            <a:avLst/>
          </a:prstGeom>
          <a:noFill/>
        </p:spPr>
        <p:txBody>
          <a:bodyPr wrap="square">
            <a:spAutoFit/>
          </a:bodyPr>
          <a:lstStyle/>
          <a:p>
            <a:pPr algn="ctr">
              <a:lnSpc>
                <a:spcPts val="3380"/>
              </a:lnSpc>
              <a:spcAft>
                <a:spcPts val="0"/>
              </a:spcAft>
              <a:defRPr sz="2600" b="1">
                <a:solidFill>
                  <a:srgbClr val="E84D0E"/>
                </a:solidFill>
                <a:latin typeface="Arial"/>
              </a:defRPr>
            </a:pPr>
            <a:r>
              <a:t>4-6 mo</a:t>
            </a:r>
          </a:p>
        </p:txBody>
      </p:sp>
      <p:sp>
        <p:nvSpPr>
          <p:cNvPr id="14" name="TextBox 13"/>
          <p:cNvSpPr txBox="1"/>
          <p:nvPr/>
        </p:nvSpPr>
        <p:spPr>
          <a:xfrm>
            <a:off x="6400800" y="5440680"/>
            <a:ext cx="2377439" cy="411480"/>
          </a:xfrm>
          <a:prstGeom prst="rect">
            <a:avLst/>
          </a:prstGeom>
          <a:noFill/>
        </p:spPr>
        <p:txBody>
          <a:bodyPr wrap="square">
            <a:spAutoFit/>
          </a:bodyPr>
          <a:lstStyle/>
          <a:p>
            <a:pPr algn="ctr">
              <a:lnSpc>
                <a:spcPts val="1080"/>
              </a:lnSpc>
              <a:spcAft>
                <a:spcPts val="0"/>
              </a:spcAft>
              <a:defRPr sz="900" b="0">
                <a:solidFill>
                  <a:srgbClr val="666666"/>
                </a:solidFill>
                <a:latin typeface="Arial"/>
              </a:defRPr>
            </a:pPr>
            <a:r>
              <a:t>BOT Operational</a:t>
            </a:r>
          </a:p>
        </p:txBody>
      </p:sp>
      <p:sp>
        <p:nvSpPr>
          <p:cNvPr id="15" name="Rectangle 14"/>
          <p:cNvSpPr/>
          <p:nvPr/>
        </p:nvSpPr>
        <p:spPr>
          <a:xfrm>
            <a:off x="9144000" y="4846320"/>
            <a:ext cx="2377440" cy="1051560"/>
          </a:xfrm>
          <a:prstGeom prst="rect">
            <a:avLst/>
          </a:prstGeom>
          <a:solidFill>
            <a:srgbClr val="FDEDED"/>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rIns="109728"/>
          <a:lstStyle/>
          <a:p>
            <a:pPr algn="ctr">
              <a:defRPr sz="1000" b="1">
                <a:solidFill>
                  <a:srgbClr val="C0392B"/>
                </a:solidFill>
                <a:latin typeface="Arial"/>
              </a:defRPr>
            </a:pPr>
            <a:r>
              <a:t>⚠  COST OF INACTION</a:t>
            </a:r>
          </a:p>
          <a:p>
            <a:pPr>
              <a:lnSpc>
                <a:spcPts val="1215"/>
              </a:lnSpc>
              <a:spcBef>
                <a:spcPts val="400"/>
              </a:spcBef>
              <a:defRPr sz="900">
                <a:solidFill>
                  <a:srgbClr val="4A4A4A"/>
                </a:solidFill>
                <a:latin typeface="Arial"/>
              </a:defRPr>
            </a:pPr>
            <a:r>
              <a:t>10-15% salary inflation/year of delay. 500 FTE delayed 1 year = $2-4M additional costs.</a:t>
            </a:r>
          </a:p>
        </p:txBody>
      </p:sp>
      <p:sp>
        <p:nvSpPr>
          <p:cNvPr id="16" name="Rectangle 15"/>
          <p:cNvSpPr/>
          <p:nvPr/>
        </p:nvSpPr>
        <p:spPr>
          <a:xfrm>
            <a:off x="0" y="6080760"/>
            <a:ext cx="12191695" cy="36576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wrap="square" lIns="640080" tIns="63500"/>
          <a:lstStyle/>
          <a:p>
            <a:pPr algn="l">
              <a:defRPr sz="1000" b="1">
                <a:solidFill>
                  <a:srgbClr val="2D2D2D"/>
                </a:solidFill>
                <a:latin typeface="Arial"/>
              </a:defRPr>
            </a:pPr>
            <a:r>
              <a:t>SO WHAT: A 500 FTE GCC delivers cumulative savings of 15-20% over outsourcing by Year 5 — the financial case is unambiguous at scale</a:t>
            </a:r>
          </a:p>
        </p:txBody>
      </p:sp>
      <p:sp>
        <p:nvSpPr>
          <p:cNvPr id="17" name="TextBox 16"/>
          <p:cNvSpPr txBox="1"/>
          <p:nvPr/>
        </p:nvSpPr>
        <p:spPr>
          <a:xfrm>
            <a:off x="11247120" y="6537960"/>
            <a:ext cx="731520" cy="228600"/>
          </a:xfrm>
          <a:prstGeom prst="rect">
            <a:avLst/>
          </a:prstGeom>
          <a:noFill/>
        </p:spPr>
        <p:txBody>
          <a:bodyPr wrap="square">
            <a:spAutoFit/>
          </a:bodyPr>
          <a:lstStyle/>
          <a:p>
            <a:pPr algn="r">
              <a:lnSpc>
                <a:spcPts val="910"/>
              </a:lnSpc>
              <a:spcAft>
                <a:spcPts val="0"/>
              </a:spcAft>
              <a:defRPr sz="700" b="1">
                <a:solidFill>
                  <a:srgbClr val="666666"/>
                </a:solidFill>
                <a:latin typeface="Arial"/>
              </a:defRPr>
            </a:pPr>
            <a:r>
              <a:t>9</a:t>
            </a:r>
          </a:p>
        </p:txBody>
      </p:sp>
      <p:sp>
        <p:nvSpPr>
          <p:cNvPr id="18" name="TextBox 17"/>
          <p:cNvSpPr txBox="1"/>
          <p:nvPr/>
        </p:nvSpPr>
        <p:spPr>
          <a:xfrm>
            <a:off x="640080" y="6537960"/>
            <a:ext cx="10058400" cy="228600"/>
          </a:xfrm>
          <a:prstGeom prst="rect">
            <a:avLst/>
          </a:prstGeom>
          <a:noFill/>
        </p:spPr>
        <p:txBody>
          <a:bodyPr wrap="square">
            <a:spAutoFit/>
          </a:bodyPr>
          <a:lstStyle/>
          <a:p>
            <a:pPr algn="l">
              <a:lnSpc>
                <a:spcPts val="910"/>
              </a:lnSpc>
              <a:spcAft>
                <a:spcPts val="0"/>
              </a:spcAft>
              <a:defRPr sz="700" b="0">
                <a:solidFill>
                  <a:srgbClr val="666666"/>
                </a:solidFill>
                <a:latin typeface="Arial"/>
              </a:defRPr>
            </a:pPr>
            <a:r>
              <a:t>Sources: ANSR, Zinnov, Everest Group, EY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2560320"/>
            <a:ext cx="1371600" cy="54864"/>
          </a:xfrm>
          <a:prstGeom prst="rect">
            <a:avLst/>
          </a:prstGeom>
          <a:solidFill>
            <a:srgbClr val="E84D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788920"/>
            <a:ext cx="9144000" cy="457200"/>
          </a:xfrm>
          <a:prstGeom prst="rect">
            <a:avLst/>
          </a:prstGeom>
          <a:noFill/>
        </p:spPr>
        <p:txBody>
          <a:bodyPr wrap="square">
            <a:spAutoFit/>
          </a:bodyPr>
          <a:lstStyle/>
          <a:p>
            <a:pPr algn="l">
              <a:lnSpc>
                <a:spcPts val="1820"/>
              </a:lnSpc>
              <a:spcAft>
                <a:spcPts val="0"/>
              </a:spcAft>
              <a:defRPr sz="1400" b="1">
                <a:solidFill>
                  <a:srgbClr val="E84D0E"/>
                </a:solidFill>
                <a:latin typeface="Arial"/>
              </a:defRPr>
            </a:pPr>
            <a:r>
              <a:t>ACT III</a:t>
            </a:r>
          </a:p>
        </p:txBody>
      </p:sp>
      <p:sp>
        <p:nvSpPr>
          <p:cNvPr id="5" name="TextBox 4"/>
          <p:cNvSpPr txBox="1"/>
          <p:nvPr/>
        </p:nvSpPr>
        <p:spPr>
          <a:xfrm>
            <a:off x="640080" y="3200400"/>
            <a:ext cx="9144000" cy="731520"/>
          </a:xfrm>
          <a:prstGeom prst="rect">
            <a:avLst/>
          </a:prstGeom>
          <a:noFill/>
        </p:spPr>
        <p:txBody>
          <a:bodyPr wrap="square">
            <a:spAutoFit/>
          </a:bodyPr>
          <a:lstStyle/>
          <a:p>
            <a:pPr algn="l">
              <a:lnSpc>
                <a:spcPts val="4420"/>
              </a:lnSpc>
              <a:spcAft>
                <a:spcPts val="0"/>
              </a:spcAft>
              <a:defRPr sz="3400" b="1">
                <a:solidFill>
                  <a:srgbClr val="FFFFFF"/>
                </a:solidFill>
                <a:latin typeface="Arial"/>
              </a:defRPr>
            </a:pPr>
            <a:r>
              <a:t>Operating Model &amp; Talent</a:t>
            </a:r>
          </a:p>
        </p:txBody>
      </p:sp>
      <p:sp>
        <p:nvSpPr>
          <p:cNvPr id="6" name="TextBox 5"/>
          <p:cNvSpPr txBox="1"/>
          <p:nvPr/>
        </p:nvSpPr>
        <p:spPr>
          <a:xfrm>
            <a:off x="640080" y="4023360"/>
            <a:ext cx="9144000" cy="548640"/>
          </a:xfrm>
          <a:prstGeom prst="rect">
            <a:avLst/>
          </a:prstGeom>
          <a:noFill/>
        </p:spPr>
        <p:txBody>
          <a:bodyPr wrap="square">
            <a:spAutoFit/>
          </a:bodyPr>
          <a:lstStyle/>
          <a:p>
            <a:pPr algn="l">
              <a:lnSpc>
                <a:spcPts val="1820"/>
              </a:lnSpc>
              <a:spcAft>
                <a:spcPts val="0"/>
              </a:spcAft>
              <a:defRPr sz="1400" b="0">
                <a:solidFill>
                  <a:srgbClr val="999999"/>
                </a:solidFill>
                <a:latin typeface="Arial"/>
              </a:defRPr>
            </a:pPr>
            <a:r>
              <a:t>GCC advantage, risk landscape, talent strategy, and EVP framework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137160"/>
            <a:ext cx="4572000" cy="228600"/>
          </a:xfrm>
          <a:prstGeom prst="rect">
            <a:avLst/>
          </a:prstGeom>
          <a:noFill/>
        </p:spPr>
        <p:txBody>
          <a:bodyPr wrap="square">
            <a:spAutoFit/>
          </a:bodyPr>
          <a:lstStyle/>
          <a:p>
            <a:pPr algn="l">
              <a:lnSpc>
                <a:spcPts val="1170"/>
              </a:lnSpc>
              <a:spcAft>
                <a:spcPts val="0"/>
              </a:spcAft>
              <a:defRPr sz="900" b="1">
                <a:solidFill>
                  <a:srgbClr val="E84D0E"/>
                </a:solidFill>
                <a:latin typeface="Arial"/>
              </a:defRPr>
            </a:pPr>
            <a:r>
              <a:t>OPERATING MODEL</a:t>
            </a:r>
          </a:p>
        </p:txBody>
      </p:sp>
      <p:sp>
        <p:nvSpPr>
          <p:cNvPr id="3" name="TextBox 2"/>
          <p:cNvSpPr txBox="1"/>
          <p:nvPr/>
        </p:nvSpPr>
        <p:spPr>
          <a:xfrm>
            <a:off x="640080" y="320040"/>
            <a:ext cx="10881360" cy="822960"/>
          </a:xfrm>
          <a:prstGeom prst="rect">
            <a:avLst/>
          </a:prstGeom>
          <a:noFill/>
        </p:spPr>
        <p:txBody>
          <a:bodyPr wrap="square">
            <a:spAutoFit/>
          </a:bodyPr>
          <a:lstStyle/>
          <a:p>
            <a:pPr algn="l">
              <a:lnSpc>
                <a:spcPts val="3380"/>
              </a:lnSpc>
              <a:spcAft>
                <a:spcPts val="0"/>
              </a:spcAft>
              <a:defRPr sz="2600" b="1">
                <a:solidFill>
                  <a:srgbClr val="1A1A1A"/>
                </a:solidFill>
                <a:latin typeface="Arial"/>
              </a:defRPr>
            </a:pPr>
            <a:r>
              <a:t>GCC Wins on 6 of 8 Dimensions in a 3+ Year Horizon</a:t>
            </a:r>
          </a:p>
        </p:txBody>
      </p:sp>
      <p:graphicFrame>
        <p:nvGraphicFramePr>
          <p:cNvPr id="4" name="Table 3"/>
          <p:cNvGraphicFramePr>
            <a:graphicFrameLocks noGrp="1"/>
          </p:cNvGraphicFramePr>
          <p:nvPr/>
        </p:nvGraphicFramePr>
        <p:xfrm>
          <a:off x="640080" y="1371600"/>
          <a:ext cx="10881360" cy="3200400"/>
        </p:xfrm>
        <a:graphic>
          <a:graphicData uri="http://schemas.openxmlformats.org/drawingml/2006/table">
            <a:tbl>
              <a:tblPr firstRow="1" bandRow="1">
                <a:tableStyleId>{5C22544A-7EE6-4342-B048-85BDC9FD1C3A}</a:tableStyleId>
              </a:tblPr>
              <a:tblGrid>
                <a:gridCol w="2286000"/>
                <a:gridCol w="3017520"/>
                <a:gridCol w="3017520"/>
                <a:gridCol w="2560320"/>
              </a:tblGrid>
              <a:tr h="355600">
                <a:tc>
                  <a:txBody>
                    <a:bodyPr/>
                    <a:lstStyle/>
                    <a:p>
                      <a:pPr>
                        <a:defRPr sz="900" b="1">
                          <a:solidFill>
                            <a:srgbClr val="FFFFFF"/>
                          </a:solidFill>
                          <a:latin typeface="Arial"/>
                        </a:defRPr>
                      </a:pPr>
                      <a:r>
                        <a:t>Dimension</a:t>
                      </a:r>
                    </a:p>
                  </a:txBody>
                  <a:tcPr marL="73152" marR="73152" marT="36576" marB="36576">
                    <a:solidFill>
                      <a:srgbClr val="2D2D2D"/>
                    </a:solidFill>
                  </a:tcPr>
                </a:tc>
                <a:tc>
                  <a:txBody>
                    <a:bodyPr/>
                    <a:lstStyle/>
                    <a:p>
                      <a:pPr>
                        <a:defRPr sz="900" b="1">
                          <a:solidFill>
                            <a:srgbClr val="FFFFFF"/>
                          </a:solidFill>
                          <a:latin typeface="Arial"/>
                        </a:defRPr>
                      </a:pPr>
                      <a:r>
                        <a:t>GCC Model</a:t>
                      </a:r>
                    </a:p>
                  </a:txBody>
                  <a:tcPr marL="73152" marR="73152" marT="36576" marB="36576">
                    <a:solidFill>
                      <a:srgbClr val="2D2D2D"/>
                    </a:solidFill>
                  </a:tcPr>
                </a:tc>
                <a:tc>
                  <a:txBody>
                    <a:bodyPr/>
                    <a:lstStyle/>
                    <a:p>
                      <a:pPr>
                        <a:defRPr sz="900" b="1">
                          <a:solidFill>
                            <a:srgbClr val="FFFFFF"/>
                          </a:solidFill>
                          <a:latin typeface="Arial"/>
                        </a:defRPr>
                      </a:pPr>
                      <a:r>
                        <a:t>Third-Party</a:t>
                      </a:r>
                    </a:p>
                  </a:txBody>
                  <a:tcPr marL="73152" marR="73152" marT="36576" marB="36576">
                    <a:solidFill>
                      <a:srgbClr val="2D2D2D"/>
                    </a:solidFill>
                  </a:tcPr>
                </a:tc>
                <a:tc>
                  <a:txBody>
                    <a:bodyPr/>
                    <a:lstStyle/>
                    <a:p>
                      <a:pPr>
                        <a:defRPr sz="900" b="1">
                          <a:solidFill>
                            <a:srgbClr val="FFFFFF"/>
                          </a:solidFill>
                          <a:latin typeface="Arial"/>
                        </a:defRPr>
                      </a:pPr>
                      <a:r>
                        <a:t>Winner</a:t>
                      </a:r>
                    </a:p>
                  </a:txBody>
                  <a:tcPr marL="73152" marR="73152" marT="36576" marB="36576">
                    <a:solidFill>
                      <a:srgbClr val="2D2D2D"/>
                    </a:solidFill>
                  </a:tcPr>
                </a:tc>
              </a:tr>
              <a:tr h="355600">
                <a:tc>
                  <a:txBody>
                    <a:bodyPr/>
                    <a:lstStyle/>
                    <a:p>
                      <a:pPr>
                        <a:defRPr sz="900">
                          <a:solidFill>
                            <a:srgbClr val="4A4A4A"/>
                          </a:solidFill>
                          <a:latin typeface="Arial"/>
                        </a:defRPr>
                      </a:pPr>
                      <a:r>
                        <a:t>Long-term Cost (Y3+)</a:t>
                      </a:r>
                    </a:p>
                  </a:txBody>
                  <a:tcPr marL="73152" marR="73152" marT="36576" marB="36576">
                    <a:solidFill>
                      <a:srgbClr val="FFFFFF"/>
                    </a:solidFill>
                  </a:tcPr>
                </a:tc>
                <a:tc>
                  <a:txBody>
                    <a:bodyPr/>
                    <a:lstStyle/>
                    <a:p>
                      <a:pPr>
                        <a:defRPr sz="900">
                          <a:solidFill>
                            <a:srgbClr val="4A4A4A"/>
                          </a:solidFill>
                          <a:latin typeface="Arial"/>
                        </a:defRPr>
                      </a:pPr>
                      <a:r>
                        <a:t>20% annual decline</a:t>
                      </a:r>
                    </a:p>
                  </a:txBody>
                  <a:tcPr marL="73152" marR="73152" marT="36576" marB="36576">
                    <a:solidFill>
                      <a:srgbClr val="FFFFFF"/>
                    </a:solidFill>
                  </a:tcPr>
                </a:tc>
                <a:tc>
                  <a:txBody>
                    <a:bodyPr/>
                    <a:lstStyle/>
                    <a:p>
                      <a:pPr>
                        <a:defRPr sz="900">
                          <a:solidFill>
                            <a:srgbClr val="4A4A4A"/>
                          </a:solidFill>
                          <a:latin typeface="Arial"/>
                        </a:defRPr>
                      </a:pPr>
                      <a:r>
                        <a:t>10-20% escalation</a:t>
                      </a:r>
                    </a:p>
                  </a:txBody>
                  <a:tcPr marL="73152" marR="73152" marT="36576" marB="36576">
                    <a:solidFill>
                      <a:srgbClr val="FFFFFF"/>
                    </a:solidFill>
                  </a:tcPr>
                </a:tc>
                <a:tc>
                  <a:txBody>
                    <a:bodyPr/>
                    <a:lstStyle/>
                    <a:p>
                      <a:pPr>
                        <a:defRPr sz="900">
                          <a:solidFill>
                            <a:srgbClr val="4A4A4A"/>
                          </a:solidFill>
                          <a:latin typeface="Arial"/>
                        </a:defRPr>
                      </a:pPr>
                      <a:r>
                        <a:t>GCC</a:t>
                      </a:r>
                    </a:p>
                  </a:txBody>
                  <a:tcPr marL="73152" marR="73152" marT="36576" marB="36576">
                    <a:solidFill>
                      <a:srgbClr val="FFFFFF"/>
                    </a:solidFill>
                  </a:tcPr>
                </a:tc>
              </a:tr>
              <a:tr h="355600">
                <a:tc>
                  <a:txBody>
                    <a:bodyPr/>
                    <a:lstStyle/>
                    <a:p>
                      <a:pPr>
                        <a:defRPr sz="900">
                          <a:solidFill>
                            <a:srgbClr val="4A4A4A"/>
                          </a:solidFill>
                          <a:latin typeface="Arial"/>
                        </a:defRPr>
                      </a:pPr>
                      <a:r>
                        <a:t>Control &amp; IP</a:t>
                      </a:r>
                    </a:p>
                  </a:txBody>
                  <a:tcPr marL="73152" marR="73152" marT="36576" marB="36576">
                    <a:solidFill>
                      <a:srgbClr val="F5F5F5"/>
                    </a:solidFill>
                  </a:tcPr>
                </a:tc>
                <a:tc>
                  <a:txBody>
                    <a:bodyPr/>
                    <a:lstStyle/>
                    <a:p>
                      <a:pPr>
                        <a:defRPr sz="900">
                          <a:solidFill>
                            <a:srgbClr val="4A4A4A"/>
                          </a:solidFill>
                          <a:latin typeface="Arial"/>
                        </a:defRPr>
                      </a:pPr>
                      <a:r>
                        <a:t>Full ownership</a:t>
                      </a:r>
                    </a:p>
                  </a:txBody>
                  <a:tcPr marL="73152" marR="73152" marT="36576" marB="36576">
                    <a:solidFill>
                      <a:srgbClr val="F5F5F5"/>
                    </a:solidFill>
                  </a:tcPr>
                </a:tc>
                <a:tc>
                  <a:txBody>
                    <a:bodyPr/>
                    <a:lstStyle/>
                    <a:p>
                      <a:pPr>
                        <a:defRPr sz="900">
                          <a:solidFill>
                            <a:srgbClr val="4A4A4A"/>
                          </a:solidFill>
                          <a:latin typeface="Arial"/>
                        </a:defRPr>
                      </a:pPr>
                      <a:r>
                        <a:t>Limited; vendor lock-in</a:t>
                      </a:r>
                    </a:p>
                  </a:txBody>
                  <a:tcPr marL="73152" marR="73152" marT="36576" marB="36576">
                    <a:solidFill>
                      <a:srgbClr val="F5F5F5"/>
                    </a:solidFill>
                  </a:tcPr>
                </a:tc>
                <a:tc>
                  <a:txBody>
                    <a:bodyPr/>
                    <a:lstStyle/>
                    <a:p>
                      <a:pPr>
                        <a:defRPr sz="900">
                          <a:solidFill>
                            <a:srgbClr val="4A4A4A"/>
                          </a:solidFill>
                          <a:latin typeface="Arial"/>
                        </a:defRPr>
                      </a:pPr>
                      <a:r>
                        <a:t>GCC</a:t>
                      </a:r>
                    </a:p>
                  </a:txBody>
                  <a:tcPr marL="73152" marR="73152" marT="36576" marB="36576">
                    <a:solidFill>
                      <a:srgbClr val="F5F5F5"/>
                    </a:solidFill>
                  </a:tcPr>
                </a:tc>
              </a:tr>
              <a:tr h="355600">
                <a:tc>
                  <a:txBody>
                    <a:bodyPr/>
                    <a:lstStyle/>
                    <a:p>
                      <a:pPr>
                        <a:defRPr sz="900">
                          <a:solidFill>
                            <a:srgbClr val="4A4A4A"/>
                          </a:solidFill>
                          <a:latin typeface="Arial"/>
                        </a:defRPr>
                      </a:pPr>
                      <a:r>
                        <a:t>Innovation</a:t>
                      </a:r>
                    </a:p>
                  </a:txBody>
                  <a:tcPr marL="73152" marR="73152" marT="36576" marB="36576">
                    <a:solidFill>
                      <a:srgbClr val="FFFFFF"/>
                    </a:solidFill>
                  </a:tcPr>
                </a:tc>
                <a:tc>
                  <a:txBody>
                    <a:bodyPr/>
                    <a:lstStyle/>
                    <a:p>
                      <a:pPr>
                        <a:defRPr sz="900">
                          <a:solidFill>
                            <a:srgbClr val="4A4A4A"/>
                          </a:solidFill>
                          <a:latin typeface="Arial"/>
                        </a:defRPr>
                      </a:pPr>
                      <a:r>
                        <a:t>3.2x more patents/$1M</a:t>
                      </a:r>
                    </a:p>
                  </a:txBody>
                  <a:tcPr marL="73152" marR="73152" marT="36576" marB="36576">
                    <a:solidFill>
                      <a:srgbClr val="FFFFFF"/>
                    </a:solidFill>
                  </a:tcPr>
                </a:tc>
                <a:tc>
                  <a:txBody>
                    <a:bodyPr/>
                    <a:lstStyle/>
                    <a:p>
                      <a:pPr>
                        <a:defRPr sz="900">
                          <a:solidFill>
                            <a:srgbClr val="4A4A4A"/>
                          </a:solidFill>
                          <a:latin typeface="Arial"/>
                        </a:defRPr>
                      </a:pPr>
                      <a:r>
                        <a:t>Moderate</a:t>
                      </a:r>
                    </a:p>
                  </a:txBody>
                  <a:tcPr marL="73152" marR="73152" marT="36576" marB="36576">
                    <a:solidFill>
                      <a:srgbClr val="FFFFFF"/>
                    </a:solidFill>
                  </a:tcPr>
                </a:tc>
                <a:tc>
                  <a:txBody>
                    <a:bodyPr/>
                    <a:lstStyle/>
                    <a:p>
                      <a:pPr>
                        <a:defRPr sz="900">
                          <a:solidFill>
                            <a:srgbClr val="4A4A4A"/>
                          </a:solidFill>
                          <a:latin typeface="Arial"/>
                        </a:defRPr>
                      </a:pPr>
                      <a:r>
                        <a:t>GCC</a:t>
                      </a:r>
                    </a:p>
                  </a:txBody>
                  <a:tcPr marL="73152" marR="73152" marT="36576" marB="36576">
                    <a:solidFill>
                      <a:srgbClr val="FFFFFF"/>
                    </a:solidFill>
                  </a:tcPr>
                </a:tc>
              </a:tr>
              <a:tr h="355600">
                <a:tc>
                  <a:txBody>
                    <a:bodyPr/>
                    <a:lstStyle/>
                    <a:p>
                      <a:pPr>
                        <a:defRPr sz="900">
                          <a:solidFill>
                            <a:srgbClr val="4A4A4A"/>
                          </a:solidFill>
                          <a:latin typeface="Arial"/>
                        </a:defRPr>
                      </a:pPr>
                      <a:r>
                        <a:t>Talent Retention</a:t>
                      </a:r>
                    </a:p>
                  </a:txBody>
                  <a:tcPr marL="73152" marR="73152" marT="36576" marB="36576">
                    <a:solidFill>
                      <a:srgbClr val="F5F5F5"/>
                    </a:solidFill>
                  </a:tcPr>
                </a:tc>
                <a:tc>
                  <a:txBody>
                    <a:bodyPr/>
                    <a:lstStyle/>
                    <a:p>
                      <a:pPr>
                        <a:defRPr sz="900">
                          <a:solidFill>
                            <a:srgbClr val="4A4A4A"/>
                          </a:solidFill>
                          <a:latin typeface="Arial"/>
                        </a:defRPr>
                      </a:pPr>
                      <a:r>
                        <a:t>40% higher vs vendor</a:t>
                      </a:r>
                    </a:p>
                  </a:txBody>
                  <a:tcPr marL="73152" marR="73152" marT="36576" marB="36576">
                    <a:solidFill>
                      <a:srgbClr val="F5F5F5"/>
                    </a:solidFill>
                  </a:tcPr>
                </a:tc>
                <a:tc>
                  <a:txBody>
                    <a:bodyPr/>
                    <a:lstStyle/>
                    <a:p>
                      <a:pPr>
                        <a:defRPr sz="900">
                          <a:solidFill>
                            <a:srgbClr val="4A4A4A"/>
                          </a:solidFill>
                          <a:latin typeface="Arial"/>
                        </a:defRPr>
                      </a:pPr>
                      <a:r>
                        <a:t>30-35% BPO attrition</a:t>
                      </a:r>
                    </a:p>
                  </a:txBody>
                  <a:tcPr marL="73152" marR="73152" marT="36576" marB="36576">
                    <a:solidFill>
                      <a:srgbClr val="F5F5F5"/>
                    </a:solidFill>
                  </a:tcPr>
                </a:tc>
                <a:tc>
                  <a:txBody>
                    <a:bodyPr/>
                    <a:lstStyle/>
                    <a:p>
                      <a:pPr>
                        <a:defRPr sz="900">
                          <a:solidFill>
                            <a:srgbClr val="4A4A4A"/>
                          </a:solidFill>
                          <a:latin typeface="Arial"/>
                        </a:defRPr>
                      </a:pPr>
                      <a:r>
                        <a:t>GCC</a:t>
                      </a:r>
                    </a:p>
                  </a:txBody>
                  <a:tcPr marL="73152" marR="73152" marT="36576" marB="36576">
                    <a:solidFill>
                      <a:srgbClr val="F5F5F5"/>
                    </a:solidFill>
                  </a:tcPr>
                </a:tc>
              </a:tr>
              <a:tr h="355600">
                <a:tc>
                  <a:txBody>
                    <a:bodyPr/>
                    <a:lstStyle/>
                    <a:p>
                      <a:pPr>
                        <a:defRPr sz="900">
                          <a:solidFill>
                            <a:srgbClr val="4A4A4A"/>
                          </a:solidFill>
                          <a:latin typeface="Arial"/>
                        </a:defRPr>
                      </a:pPr>
                      <a:r>
                        <a:t>Regulatory Compliance</a:t>
                      </a:r>
                    </a:p>
                  </a:txBody>
                  <a:tcPr marL="73152" marR="73152" marT="36576" marB="36576">
                    <a:solidFill>
                      <a:srgbClr val="FFFFFF"/>
                    </a:solidFill>
                  </a:tcPr>
                </a:tc>
                <a:tc>
                  <a:txBody>
                    <a:bodyPr/>
                    <a:lstStyle/>
                    <a:p>
                      <a:pPr>
                        <a:defRPr sz="900">
                          <a:solidFill>
                            <a:srgbClr val="4A4A4A"/>
                          </a:solidFill>
                          <a:latin typeface="Arial"/>
                        </a:defRPr>
                      </a:pPr>
                      <a:r>
                        <a:t>By design (in-house)</a:t>
                      </a:r>
                    </a:p>
                  </a:txBody>
                  <a:tcPr marL="73152" marR="73152" marT="36576" marB="36576">
                    <a:solidFill>
                      <a:srgbClr val="FFFFFF"/>
                    </a:solidFill>
                  </a:tcPr>
                </a:tc>
                <a:tc>
                  <a:txBody>
                    <a:bodyPr/>
                    <a:lstStyle/>
                    <a:p>
                      <a:pPr>
                        <a:defRPr sz="900">
                          <a:solidFill>
                            <a:srgbClr val="4A4A4A"/>
                          </a:solidFill>
                          <a:latin typeface="Arial"/>
                        </a:defRPr>
                      </a:pPr>
                      <a:r>
                        <a:t>Extensive oversight needed</a:t>
                      </a:r>
                    </a:p>
                  </a:txBody>
                  <a:tcPr marL="73152" marR="73152" marT="36576" marB="36576">
                    <a:solidFill>
                      <a:srgbClr val="FFFFFF"/>
                    </a:solidFill>
                  </a:tcPr>
                </a:tc>
                <a:tc>
                  <a:txBody>
                    <a:bodyPr/>
                    <a:lstStyle/>
                    <a:p>
                      <a:pPr>
                        <a:defRPr sz="900">
                          <a:solidFill>
                            <a:srgbClr val="4A4A4A"/>
                          </a:solidFill>
                          <a:latin typeface="Arial"/>
                        </a:defRPr>
                      </a:pPr>
                      <a:r>
                        <a:t>GCC</a:t>
                      </a:r>
                    </a:p>
                  </a:txBody>
                  <a:tcPr marL="73152" marR="73152" marT="36576" marB="36576">
                    <a:solidFill>
                      <a:srgbClr val="FFFFFF"/>
                    </a:solidFill>
                  </a:tcPr>
                </a:tc>
              </a:tr>
              <a:tr h="355600">
                <a:tc>
                  <a:txBody>
                    <a:bodyPr/>
                    <a:lstStyle/>
                    <a:p>
                      <a:pPr>
                        <a:defRPr sz="900">
                          <a:solidFill>
                            <a:srgbClr val="4A4A4A"/>
                          </a:solidFill>
                          <a:latin typeface="Arial"/>
                        </a:defRPr>
                      </a:pPr>
                      <a:r>
                        <a:t>COVID/BCP Resilience</a:t>
                      </a:r>
                    </a:p>
                  </a:txBody>
                  <a:tcPr marL="73152" marR="73152" marT="36576" marB="36576">
                    <a:solidFill>
                      <a:srgbClr val="F5F5F5"/>
                    </a:solidFill>
                  </a:tcPr>
                </a:tc>
                <a:tc>
                  <a:txBody>
                    <a:bodyPr/>
                    <a:lstStyle/>
                    <a:p>
                      <a:pPr>
                        <a:defRPr sz="900">
                          <a:solidFill>
                            <a:srgbClr val="4A4A4A"/>
                          </a:solidFill>
                          <a:latin typeface="Arial"/>
                        </a:defRPr>
                      </a:pPr>
                      <a:r>
                        <a:t>100%+ pre-crisis level</a:t>
                      </a:r>
                    </a:p>
                  </a:txBody>
                  <a:tcPr marL="73152" marR="73152" marT="36576" marB="36576">
                    <a:solidFill>
                      <a:srgbClr val="F5F5F5"/>
                    </a:solidFill>
                  </a:tcPr>
                </a:tc>
                <a:tc>
                  <a:txBody>
                    <a:bodyPr/>
                    <a:lstStyle/>
                    <a:p>
                      <a:pPr>
                        <a:defRPr sz="900">
                          <a:solidFill>
                            <a:srgbClr val="4A4A4A"/>
                          </a:solidFill>
                          <a:latin typeface="Arial"/>
                        </a:defRPr>
                      </a:pPr>
                      <a:r>
                        <a:t>Struggled with continuity</a:t>
                      </a:r>
                    </a:p>
                  </a:txBody>
                  <a:tcPr marL="73152" marR="73152" marT="36576" marB="36576">
                    <a:solidFill>
                      <a:srgbClr val="F5F5F5"/>
                    </a:solidFill>
                  </a:tcPr>
                </a:tc>
                <a:tc>
                  <a:txBody>
                    <a:bodyPr/>
                    <a:lstStyle/>
                    <a:p>
                      <a:pPr>
                        <a:defRPr sz="900">
                          <a:solidFill>
                            <a:srgbClr val="4A4A4A"/>
                          </a:solidFill>
                          <a:latin typeface="Arial"/>
                        </a:defRPr>
                      </a:pPr>
                      <a:r>
                        <a:t>GCC</a:t>
                      </a:r>
                    </a:p>
                  </a:txBody>
                  <a:tcPr marL="73152" marR="73152" marT="36576" marB="36576">
                    <a:solidFill>
                      <a:srgbClr val="F5F5F5"/>
                    </a:solidFill>
                  </a:tcPr>
                </a:tc>
              </a:tr>
              <a:tr h="355600">
                <a:tc>
                  <a:txBody>
                    <a:bodyPr/>
                    <a:lstStyle/>
                    <a:p>
                      <a:pPr>
                        <a:defRPr sz="900">
                          <a:solidFill>
                            <a:srgbClr val="4A4A4A"/>
                          </a:solidFill>
                          <a:latin typeface="Arial"/>
                        </a:defRPr>
                      </a:pPr>
                      <a:r>
                        <a:t>Setup Speed</a:t>
                      </a:r>
                    </a:p>
                  </a:txBody>
                  <a:tcPr marL="73152" marR="73152" marT="36576" marB="36576">
                    <a:solidFill>
                      <a:srgbClr val="FFFFFF"/>
                    </a:solidFill>
                  </a:tcPr>
                </a:tc>
                <a:tc>
                  <a:txBody>
                    <a:bodyPr/>
                    <a:lstStyle/>
                    <a:p>
                      <a:pPr>
                        <a:defRPr sz="900">
                          <a:solidFill>
                            <a:srgbClr val="4A4A4A"/>
                          </a:solidFill>
                          <a:latin typeface="Arial"/>
                        </a:defRPr>
                      </a:pPr>
                      <a:r>
                        <a:t>12-24 months</a:t>
                      </a:r>
                    </a:p>
                  </a:txBody>
                  <a:tcPr marL="73152" marR="73152" marT="36576" marB="36576">
                    <a:solidFill>
                      <a:srgbClr val="FFFFFF"/>
                    </a:solidFill>
                  </a:tcPr>
                </a:tc>
                <a:tc>
                  <a:txBody>
                    <a:bodyPr/>
                    <a:lstStyle/>
                    <a:p>
                      <a:pPr>
                        <a:defRPr sz="900">
                          <a:solidFill>
                            <a:srgbClr val="4A4A4A"/>
                          </a:solidFill>
                          <a:latin typeface="Arial"/>
                        </a:defRPr>
                      </a:pPr>
                      <a:r>
                        <a:t>Weeks to months</a:t>
                      </a:r>
                    </a:p>
                  </a:txBody>
                  <a:tcPr marL="73152" marR="73152" marT="36576" marB="36576">
                    <a:solidFill>
                      <a:srgbClr val="FFFFFF"/>
                    </a:solidFill>
                  </a:tcPr>
                </a:tc>
                <a:tc>
                  <a:txBody>
                    <a:bodyPr/>
                    <a:lstStyle/>
                    <a:p>
                      <a:pPr>
                        <a:defRPr sz="900">
                          <a:solidFill>
                            <a:srgbClr val="4A4A4A"/>
                          </a:solidFill>
                          <a:latin typeface="Arial"/>
                        </a:defRPr>
                      </a:pPr>
                      <a:r>
                        <a:t>Third-Party</a:t>
                      </a:r>
                    </a:p>
                  </a:txBody>
                  <a:tcPr marL="73152" marR="73152" marT="36576" marB="36576">
                    <a:solidFill>
                      <a:srgbClr val="FFFFFF"/>
                    </a:solidFill>
                  </a:tcPr>
                </a:tc>
              </a:tr>
              <a:tr h="355600">
                <a:tc>
                  <a:txBody>
                    <a:bodyPr/>
                    <a:lstStyle/>
                    <a:p>
                      <a:pPr>
                        <a:defRPr sz="900">
                          <a:solidFill>
                            <a:srgbClr val="4A4A4A"/>
                          </a:solidFill>
                          <a:latin typeface="Arial"/>
                        </a:defRPr>
                      </a:pPr>
                      <a:r>
                        <a:t>Upfront Cost</a:t>
                      </a:r>
                    </a:p>
                  </a:txBody>
                  <a:tcPr marL="73152" marR="73152" marT="36576" marB="36576">
                    <a:solidFill>
                      <a:srgbClr val="F5F5F5"/>
                    </a:solidFill>
                  </a:tcPr>
                </a:tc>
                <a:tc>
                  <a:txBody>
                    <a:bodyPr/>
                    <a:lstStyle/>
                    <a:p>
                      <a:pPr>
                        <a:defRPr sz="900">
                          <a:solidFill>
                            <a:srgbClr val="4A4A4A"/>
                          </a:solidFill>
                          <a:latin typeface="Arial"/>
                        </a:defRPr>
                      </a:pPr>
                      <a:r>
                        <a:t>High CapEx</a:t>
                      </a:r>
                    </a:p>
                  </a:txBody>
                  <a:tcPr marL="73152" marR="73152" marT="36576" marB="36576">
                    <a:solidFill>
                      <a:srgbClr val="F5F5F5"/>
                    </a:solidFill>
                  </a:tcPr>
                </a:tc>
                <a:tc>
                  <a:txBody>
                    <a:bodyPr/>
                    <a:lstStyle/>
                    <a:p>
                      <a:pPr>
                        <a:defRPr sz="900">
                          <a:solidFill>
                            <a:srgbClr val="4A4A4A"/>
                          </a:solidFill>
                          <a:latin typeface="Arial"/>
                        </a:defRPr>
                      </a:pPr>
                      <a:r>
                        <a:t>Low initial investment</a:t>
                      </a:r>
                    </a:p>
                  </a:txBody>
                  <a:tcPr marL="73152" marR="73152" marT="36576" marB="36576">
                    <a:solidFill>
                      <a:srgbClr val="F5F5F5"/>
                    </a:solidFill>
                  </a:tcPr>
                </a:tc>
                <a:tc>
                  <a:txBody>
                    <a:bodyPr/>
                    <a:lstStyle/>
                    <a:p>
                      <a:pPr>
                        <a:defRPr sz="900">
                          <a:solidFill>
                            <a:srgbClr val="4A4A4A"/>
                          </a:solidFill>
                          <a:latin typeface="Arial"/>
                        </a:defRPr>
                      </a:pPr>
                      <a:r>
                        <a:t>Third-Party</a:t>
                      </a:r>
                    </a:p>
                  </a:txBody>
                  <a:tcPr marL="73152" marR="73152" marT="36576" marB="36576">
                    <a:solidFill>
                      <a:srgbClr val="F5F5F5"/>
                    </a:solidFill>
                  </a:tcPr>
                </a:tc>
              </a:tr>
            </a:tbl>
          </a:graphicData>
        </a:graphic>
      </p:graphicFrame>
      <p:sp>
        <p:nvSpPr>
          <p:cNvPr id="5" name="Rectangle 4"/>
          <p:cNvSpPr/>
          <p:nvPr/>
        </p:nvSpPr>
        <p:spPr>
          <a:xfrm>
            <a:off x="640080" y="4709160"/>
            <a:ext cx="1088136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4846320"/>
            <a:ext cx="3200400" cy="1051560"/>
          </a:xfrm>
          <a:prstGeom prst="rect">
            <a:avLst/>
          </a:prstGeom>
          <a:solidFill>
            <a:srgbClr val="F5F5F5"/>
          </a:solidFill>
          <a:ln w="9525">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19" y="4919472"/>
            <a:ext cx="3017520" cy="502920"/>
          </a:xfrm>
          <a:prstGeom prst="rect">
            <a:avLst/>
          </a:prstGeom>
          <a:noFill/>
        </p:spPr>
        <p:txBody>
          <a:bodyPr wrap="square">
            <a:spAutoFit/>
          </a:bodyPr>
          <a:lstStyle/>
          <a:p>
            <a:pPr algn="ctr">
              <a:lnSpc>
                <a:spcPts val="3900"/>
              </a:lnSpc>
              <a:spcAft>
                <a:spcPts val="0"/>
              </a:spcAft>
              <a:defRPr sz="3000" b="1">
                <a:solidFill>
                  <a:srgbClr val="27AE60"/>
                </a:solidFill>
                <a:latin typeface="Arial"/>
              </a:defRPr>
            </a:pPr>
            <a:r>
              <a:t>6 of 8</a:t>
            </a:r>
          </a:p>
        </p:txBody>
      </p:sp>
      <p:sp>
        <p:nvSpPr>
          <p:cNvPr id="8" name="TextBox 7"/>
          <p:cNvSpPr txBox="1"/>
          <p:nvPr/>
        </p:nvSpPr>
        <p:spPr>
          <a:xfrm>
            <a:off x="731519" y="5440680"/>
            <a:ext cx="3017520" cy="411480"/>
          </a:xfrm>
          <a:prstGeom prst="rect">
            <a:avLst/>
          </a:prstGeom>
          <a:noFill/>
        </p:spPr>
        <p:txBody>
          <a:bodyPr wrap="square">
            <a:spAutoFit/>
          </a:bodyPr>
          <a:lstStyle/>
          <a:p>
            <a:pPr algn="ctr">
              <a:lnSpc>
                <a:spcPts val="1080"/>
              </a:lnSpc>
              <a:spcAft>
                <a:spcPts val="0"/>
              </a:spcAft>
              <a:defRPr sz="900" b="0">
                <a:solidFill>
                  <a:srgbClr val="666666"/>
                </a:solidFill>
                <a:latin typeface="Arial"/>
              </a:defRPr>
            </a:pPr>
            <a:r>
              <a:t>Dimensions Won</a:t>
            </a:r>
            <a:br/>
            <a:r>
              <a:t>by GCC</a:t>
            </a:r>
          </a:p>
        </p:txBody>
      </p:sp>
      <p:sp>
        <p:nvSpPr>
          <p:cNvPr id="9" name="Rectangle 8"/>
          <p:cNvSpPr/>
          <p:nvPr/>
        </p:nvSpPr>
        <p:spPr>
          <a:xfrm>
            <a:off x="4114800" y="4846320"/>
            <a:ext cx="3200400" cy="1051560"/>
          </a:xfrm>
          <a:prstGeom prst="rect">
            <a:avLst/>
          </a:prstGeom>
          <a:solidFill>
            <a:srgbClr val="F5F5F5"/>
          </a:solidFill>
          <a:ln w="9525">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06240" y="4919472"/>
            <a:ext cx="3017520" cy="502920"/>
          </a:xfrm>
          <a:prstGeom prst="rect">
            <a:avLst/>
          </a:prstGeom>
          <a:noFill/>
        </p:spPr>
        <p:txBody>
          <a:bodyPr wrap="square">
            <a:spAutoFit/>
          </a:bodyPr>
          <a:lstStyle/>
          <a:p>
            <a:pPr algn="ctr">
              <a:lnSpc>
                <a:spcPts val="3900"/>
              </a:lnSpc>
              <a:spcAft>
                <a:spcPts val="0"/>
              </a:spcAft>
              <a:defRPr sz="3000" b="1">
                <a:solidFill>
                  <a:srgbClr val="666666"/>
                </a:solidFill>
                <a:latin typeface="Arial"/>
              </a:defRPr>
            </a:pPr>
            <a:r>
              <a:t>2 of 8</a:t>
            </a:r>
          </a:p>
        </p:txBody>
      </p:sp>
      <p:sp>
        <p:nvSpPr>
          <p:cNvPr id="11" name="TextBox 10"/>
          <p:cNvSpPr txBox="1"/>
          <p:nvPr/>
        </p:nvSpPr>
        <p:spPr>
          <a:xfrm>
            <a:off x="4206240" y="5440680"/>
            <a:ext cx="3017520" cy="411480"/>
          </a:xfrm>
          <a:prstGeom prst="rect">
            <a:avLst/>
          </a:prstGeom>
          <a:noFill/>
        </p:spPr>
        <p:txBody>
          <a:bodyPr wrap="square">
            <a:spAutoFit/>
          </a:bodyPr>
          <a:lstStyle/>
          <a:p>
            <a:pPr algn="ctr">
              <a:lnSpc>
                <a:spcPts val="1080"/>
              </a:lnSpc>
              <a:spcAft>
                <a:spcPts val="0"/>
              </a:spcAft>
              <a:defRPr sz="900" b="0">
                <a:solidFill>
                  <a:srgbClr val="666666"/>
                </a:solidFill>
                <a:latin typeface="Arial"/>
              </a:defRPr>
            </a:pPr>
            <a:r>
              <a:t>Dimensions Won</a:t>
            </a:r>
            <a:br/>
            <a:r>
              <a:t>by Third-Party</a:t>
            </a:r>
          </a:p>
        </p:txBody>
      </p:sp>
      <p:sp>
        <p:nvSpPr>
          <p:cNvPr id="12" name="Rectangle 11"/>
          <p:cNvSpPr/>
          <p:nvPr/>
        </p:nvSpPr>
        <p:spPr>
          <a:xfrm>
            <a:off x="7589520" y="4846320"/>
            <a:ext cx="3931920" cy="1051560"/>
          </a:xfrm>
          <a:prstGeom prst="rect">
            <a:avLst/>
          </a:prstGeom>
          <a:solidFill>
            <a:srgbClr val="F5F5F5"/>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rIns="109728"/>
          <a:lstStyle/>
          <a:p>
            <a:pPr algn="ctr">
              <a:defRPr sz="1000" b="1">
                <a:solidFill>
                  <a:srgbClr val="666666"/>
                </a:solidFill>
                <a:latin typeface="Arial"/>
              </a:defRPr>
            </a:pPr>
            <a:r>
              <a:t>WHEN OUTSOURCING WINS</a:t>
            </a:r>
          </a:p>
          <a:p>
            <a:pPr>
              <a:lnSpc>
                <a:spcPts val="1215"/>
              </a:lnSpc>
              <a:spcBef>
                <a:spcPts val="400"/>
              </a:spcBef>
              <a:defRPr sz="900">
                <a:solidFill>
                  <a:srgbClr val="4A4A4A"/>
                </a:solidFill>
                <a:latin typeface="Arial"/>
              </a:defRPr>
            </a:pPr>
            <a:r>
              <a:t>Only if planning to exit within 2 years, need burst capacity, or require niche skills for short-duration projects.</a:t>
            </a:r>
          </a:p>
        </p:txBody>
      </p:sp>
      <p:sp>
        <p:nvSpPr>
          <p:cNvPr id="13" name="Rectangle 12"/>
          <p:cNvSpPr/>
          <p:nvPr/>
        </p:nvSpPr>
        <p:spPr>
          <a:xfrm>
            <a:off x="0" y="6080760"/>
            <a:ext cx="12191695" cy="36576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wrap="square" lIns="640080" tIns="63500"/>
          <a:lstStyle/>
          <a:p>
            <a:pPr algn="l">
              <a:defRPr sz="1000" b="1">
                <a:solidFill>
                  <a:srgbClr val="2D2D2D"/>
                </a:solidFill>
                <a:latin typeface="Arial"/>
              </a:defRPr>
            </a:pPr>
            <a:r>
              <a:t>SO WHAT: GCC costs more upfront but wins decisively on control and risk — outsourcing only wins if you plan to exit within 2 years</a:t>
            </a:r>
          </a:p>
        </p:txBody>
      </p:sp>
      <p:sp>
        <p:nvSpPr>
          <p:cNvPr id="14" name="TextBox 13"/>
          <p:cNvSpPr txBox="1"/>
          <p:nvPr/>
        </p:nvSpPr>
        <p:spPr>
          <a:xfrm>
            <a:off x="11247120" y="6537960"/>
            <a:ext cx="731520" cy="228600"/>
          </a:xfrm>
          <a:prstGeom prst="rect">
            <a:avLst/>
          </a:prstGeom>
          <a:noFill/>
        </p:spPr>
        <p:txBody>
          <a:bodyPr wrap="square">
            <a:spAutoFit/>
          </a:bodyPr>
          <a:lstStyle/>
          <a:p>
            <a:pPr algn="r">
              <a:lnSpc>
                <a:spcPts val="910"/>
              </a:lnSpc>
              <a:spcAft>
                <a:spcPts val="0"/>
              </a:spcAft>
              <a:defRPr sz="700" b="1">
                <a:solidFill>
                  <a:srgbClr val="666666"/>
                </a:solidFill>
                <a:latin typeface="Arial"/>
              </a:defRPr>
            </a:pPr>
            <a:r>
              <a:t>10</a:t>
            </a:r>
          </a:p>
        </p:txBody>
      </p:sp>
      <p:sp>
        <p:nvSpPr>
          <p:cNvPr id="15" name="TextBox 14"/>
          <p:cNvSpPr txBox="1"/>
          <p:nvPr/>
        </p:nvSpPr>
        <p:spPr>
          <a:xfrm>
            <a:off x="640080" y="6537960"/>
            <a:ext cx="10058400" cy="228600"/>
          </a:xfrm>
          <a:prstGeom prst="rect">
            <a:avLst/>
          </a:prstGeom>
          <a:noFill/>
        </p:spPr>
        <p:txBody>
          <a:bodyPr wrap="square">
            <a:spAutoFit/>
          </a:bodyPr>
          <a:lstStyle/>
          <a:p>
            <a:pPr algn="l">
              <a:lnSpc>
                <a:spcPts val="910"/>
              </a:lnSpc>
              <a:spcAft>
                <a:spcPts val="0"/>
              </a:spcAft>
              <a:defRPr sz="700" b="0">
                <a:solidFill>
                  <a:srgbClr val="666666"/>
                </a:solidFill>
                <a:latin typeface="Arial"/>
              </a:defRPr>
            </a:pPr>
            <a:r>
              <a:t>Sources: ANSR, Zinnov, McKinsey, Forrester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137160"/>
            <a:ext cx="4572000" cy="228600"/>
          </a:xfrm>
          <a:prstGeom prst="rect">
            <a:avLst/>
          </a:prstGeom>
          <a:noFill/>
        </p:spPr>
        <p:txBody>
          <a:bodyPr wrap="square">
            <a:spAutoFit/>
          </a:bodyPr>
          <a:lstStyle/>
          <a:p>
            <a:pPr algn="l">
              <a:lnSpc>
                <a:spcPts val="1170"/>
              </a:lnSpc>
              <a:spcAft>
                <a:spcPts val="0"/>
              </a:spcAft>
              <a:defRPr sz="900" b="1">
                <a:solidFill>
                  <a:srgbClr val="E84D0E"/>
                </a:solidFill>
                <a:latin typeface="Arial"/>
              </a:defRPr>
            </a:pPr>
            <a:r>
              <a:t>GCC STRATEGIC VALUE</a:t>
            </a:r>
          </a:p>
        </p:txBody>
      </p:sp>
      <p:sp>
        <p:nvSpPr>
          <p:cNvPr id="3" name="TextBox 2"/>
          <p:cNvSpPr txBox="1"/>
          <p:nvPr/>
        </p:nvSpPr>
        <p:spPr>
          <a:xfrm>
            <a:off x="640080" y="320040"/>
            <a:ext cx="10881360" cy="822960"/>
          </a:xfrm>
          <a:prstGeom prst="rect">
            <a:avLst/>
          </a:prstGeom>
          <a:noFill/>
        </p:spPr>
        <p:txBody>
          <a:bodyPr wrap="square">
            <a:spAutoFit/>
          </a:bodyPr>
          <a:lstStyle/>
          <a:p>
            <a:pPr algn="l">
              <a:lnSpc>
                <a:spcPts val="3380"/>
              </a:lnSpc>
              <a:spcAft>
                <a:spcPts val="0"/>
              </a:spcAft>
              <a:defRPr sz="2600" b="1">
                <a:solidFill>
                  <a:srgbClr val="1A1A1A"/>
                </a:solidFill>
                <a:latin typeface="Arial"/>
              </a:defRPr>
            </a:pPr>
            <a:r>
              <a:t>From Cost Center to Innovation Engine: The GCC Strategic Shift</a:t>
            </a:r>
          </a:p>
        </p:txBody>
      </p:sp>
      <p:sp>
        <p:nvSpPr>
          <p:cNvPr id="4" name="Rectangle 3"/>
          <p:cNvSpPr/>
          <p:nvPr/>
        </p:nvSpPr>
        <p:spPr>
          <a:xfrm>
            <a:off x="640080" y="1371600"/>
            <a:ext cx="2560320" cy="1051560"/>
          </a:xfrm>
          <a:prstGeom prst="rect">
            <a:avLst/>
          </a:prstGeom>
          <a:solidFill>
            <a:srgbClr val="F5F5F5"/>
          </a:solidFill>
          <a:ln w="9525">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19" y="1444752"/>
            <a:ext cx="2377439" cy="502920"/>
          </a:xfrm>
          <a:prstGeom prst="rect">
            <a:avLst/>
          </a:prstGeom>
          <a:noFill/>
        </p:spPr>
        <p:txBody>
          <a:bodyPr wrap="square">
            <a:spAutoFit/>
          </a:bodyPr>
          <a:lstStyle/>
          <a:p>
            <a:pPr algn="ctr">
              <a:lnSpc>
                <a:spcPts val="4160"/>
              </a:lnSpc>
              <a:spcAft>
                <a:spcPts val="0"/>
              </a:spcAft>
              <a:defRPr sz="3200" b="1">
                <a:solidFill>
                  <a:srgbClr val="E84D0E"/>
                </a:solidFill>
                <a:latin typeface="Arial"/>
              </a:defRPr>
            </a:pPr>
            <a:r>
              <a:t>3.2x</a:t>
            </a:r>
          </a:p>
        </p:txBody>
      </p:sp>
      <p:sp>
        <p:nvSpPr>
          <p:cNvPr id="6" name="TextBox 5"/>
          <p:cNvSpPr txBox="1"/>
          <p:nvPr/>
        </p:nvSpPr>
        <p:spPr>
          <a:xfrm>
            <a:off x="731519" y="1965960"/>
            <a:ext cx="2377439" cy="411480"/>
          </a:xfrm>
          <a:prstGeom prst="rect">
            <a:avLst/>
          </a:prstGeom>
          <a:noFill/>
        </p:spPr>
        <p:txBody>
          <a:bodyPr wrap="square">
            <a:spAutoFit/>
          </a:bodyPr>
          <a:lstStyle/>
          <a:p>
            <a:pPr algn="ctr">
              <a:lnSpc>
                <a:spcPts val="960"/>
              </a:lnSpc>
              <a:spcAft>
                <a:spcPts val="0"/>
              </a:spcAft>
              <a:defRPr sz="800" b="0">
                <a:solidFill>
                  <a:srgbClr val="666666"/>
                </a:solidFill>
                <a:latin typeface="Arial"/>
              </a:defRPr>
            </a:pPr>
            <a:r>
              <a:t>More Digital Patents</a:t>
            </a:r>
            <a:br/>
            <a:r>
              <a:t>per $1M Invested</a:t>
            </a:r>
          </a:p>
        </p:txBody>
      </p:sp>
      <p:sp>
        <p:nvSpPr>
          <p:cNvPr id="7" name="Rectangle 6"/>
          <p:cNvSpPr/>
          <p:nvPr/>
        </p:nvSpPr>
        <p:spPr>
          <a:xfrm>
            <a:off x="3429000" y="1371600"/>
            <a:ext cx="2560320" cy="1051560"/>
          </a:xfrm>
          <a:prstGeom prst="rect">
            <a:avLst/>
          </a:prstGeom>
          <a:solidFill>
            <a:srgbClr val="F5F5F5"/>
          </a:solidFill>
          <a:ln w="9525">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20440" y="1444752"/>
            <a:ext cx="2377439" cy="502920"/>
          </a:xfrm>
          <a:prstGeom prst="rect">
            <a:avLst/>
          </a:prstGeom>
          <a:noFill/>
        </p:spPr>
        <p:txBody>
          <a:bodyPr wrap="square">
            <a:spAutoFit/>
          </a:bodyPr>
          <a:lstStyle/>
          <a:p>
            <a:pPr algn="ctr">
              <a:lnSpc>
                <a:spcPts val="4160"/>
              </a:lnSpc>
              <a:spcAft>
                <a:spcPts val="0"/>
              </a:spcAft>
              <a:defRPr sz="3200" b="1">
                <a:solidFill>
                  <a:srgbClr val="E84D0E"/>
                </a:solidFill>
                <a:latin typeface="Arial"/>
              </a:defRPr>
            </a:pPr>
            <a:r>
              <a:t>55%</a:t>
            </a:r>
          </a:p>
        </p:txBody>
      </p:sp>
      <p:sp>
        <p:nvSpPr>
          <p:cNvPr id="9" name="TextBox 8"/>
          <p:cNvSpPr txBox="1"/>
          <p:nvPr/>
        </p:nvSpPr>
        <p:spPr>
          <a:xfrm>
            <a:off x="3520440" y="1965960"/>
            <a:ext cx="2377439" cy="411480"/>
          </a:xfrm>
          <a:prstGeom prst="rect">
            <a:avLst/>
          </a:prstGeom>
          <a:noFill/>
        </p:spPr>
        <p:txBody>
          <a:bodyPr wrap="square">
            <a:spAutoFit/>
          </a:bodyPr>
          <a:lstStyle/>
          <a:p>
            <a:pPr algn="ctr">
              <a:lnSpc>
                <a:spcPts val="960"/>
              </a:lnSpc>
              <a:spcAft>
                <a:spcPts val="0"/>
              </a:spcAft>
              <a:defRPr sz="800" b="0">
                <a:solidFill>
                  <a:srgbClr val="666666"/>
                </a:solidFill>
                <a:latin typeface="Arial"/>
              </a:defRPr>
            </a:pPr>
            <a:r>
              <a:t>Enterprise Tech From</a:t>
            </a:r>
            <a:br/>
            <a:r>
              <a:t>GCCs</a:t>
            </a:r>
          </a:p>
        </p:txBody>
      </p:sp>
      <p:sp>
        <p:nvSpPr>
          <p:cNvPr id="10" name="Rectangle 9"/>
          <p:cNvSpPr/>
          <p:nvPr/>
        </p:nvSpPr>
        <p:spPr>
          <a:xfrm>
            <a:off x="6217920" y="1371600"/>
            <a:ext cx="2560320" cy="1051560"/>
          </a:xfrm>
          <a:prstGeom prst="rect">
            <a:avLst/>
          </a:prstGeom>
          <a:solidFill>
            <a:srgbClr val="F5F5F5"/>
          </a:solidFill>
          <a:ln w="9525">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59" y="1444752"/>
            <a:ext cx="2377439" cy="502920"/>
          </a:xfrm>
          <a:prstGeom prst="rect">
            <a:avLst/>
          </a:prstGeom>
          <a:noFill/>
        </p:spPr>
        <p:txBody>
          <a:bodyPr wrap="square">
            <a:spAutoFit/>
          </a:bodyPr>
          <a:lstStyle/>
          <a:p>
            <a:pPr algn="ctr">
              <a:lnSpc>
                <a:spcPts val="4160"/>
              </a:lnSpc>
              <a:spcAft>
                <a:spcPts val="0"/>
              </a:spcAft>
              <a:defRPr sz="3200" b="1">
                <a:solidFill>
                  <a:srgbClr val="E84D0E"/>
                </a:solidFill>
                <a:latin typeface="Arial"/>
              </a:defRPr>
            </a:pPr>
            <a:r>
              <a:t>63%</a:t>
            </a:r>
          </a:p>
        </p:txBody>
      </p:sp>
      <p:sp>
        <p:nvSpPr>
          <p:cNvPr id="12" name="TextBox 11"/>
          <p:cNvSpPr txBox="1"/>
          <p:nvPr/>
        </p:nvSpPr>
        <p:spPr>
          <a:xfrm>
            <a:off x="6309359" y="1965960"/>
            <a:ext cx="2377439" cy="411480"/>
          </a:xfrm>
          <a:prstGeom prst="rect">
            <a:avLst/>
          </a:prstGeom>
          <a:noFill/>
        </p:spPr>
        <p:txBody>
          <a:bodyPr wrap="square">
            <a:spAutoFit/>
          </a:bodyPr>
          <a:lstStyle/>
          <a:p>
            <a:pPr algn="ctr">
              <a:lnSpc>
                <a:spcPts val="960"/>
              </a:lnSpc>
              <a:spcAft>
                <a:spcPts val="0"/>
              </a:spcAft>
              <a:defRPr sz="800" b="0">
                <a:solidFill>
                  <a:srgbClr val="666666"/>
                </a:solidFill>
                <a:latin typeface="Arial"/>
              </a:defRPr>
            </a:pPr>
            <a:r>
              <a:t>CXOs: GCCs Central</a:t>
            </a:r>
            <a:br/>
            <a:r>
              <a:t>to Innovation</a:t>
            </a:r>
          </a:p>
        </p:txBody>
      </p:sp>
      <p:sp>
        <p:nvSpPr>
          <p:cNvPr id="13" name="Rectangle 12"/>
          <p:cNvSpPr/>
          <p:nvPr/>
        </p:nvSpPr>
        <p:spPr>
          <a:xfrm>
            <a:off x="9006839" y="1371600"/>
            <a:ext cx="2560320" cy="1051560"/>
          </a:xfrm>
          <a:prstGeom prst="rect">
            <a:avLst/>
          </a:prstGeom>
          <a:solidFill>
            <a:srgbClr val="F5F5F5"/>
          </a:solidFill>
          <a:ln w="9525">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98279" y="1444752"/>
            <a:ext cx="2377439" cy="502920"/>
          </a:xfrm>
          <a:prstGeom prst="rect">
            <a:avLst/>
          </a:prstGeom>
          <a:noFill/>
        </p:spPr>
        <p:txBody>
          <a:bodyPr wrap="square">
            <a:spAutoFit/>
          </a:bodyPr>
          <a:lstStyle/>
          <a:p>
            <a:pPr algn="ctr">
              <a:lnSpc>
                <a:spcPts val="4160"/>
              </a:lnSpc>
              <a:spcAft>
                <a:spcPts val="0"/>
              </a:spcAft>
              <a:defRPr sz="3200" b="1">
                <a:solidFill>
                  <a:srgbClr val="E84D0E"/>
                </a:solidFill>
                <a:latin typeface="Arial"/>
              </a:defRPr>
            </a:pPr>
            <a:r>
              <a:t>80%</a:t>
            </a:r>
          </a:p>
        </p:txBody>
      </p:sp>
      <p:sp>
        <p:nvSpPr>
          <p:cNvPr id="15" name="TextBox 14"/>
          <p:cNvSpPr txBox="1"/>
          <p:nvPr/>
        </p:nvSpPr>
        <p:spPr>
          <a:xfrm>
            <a:off x="9098279" y="1965960"/>
            <a:ext cx="2377439" cy="411480"/>
          </a:xfrm>
          <a:prstGeom prst="rect">
            <a:avLst/>
          </a:prstGeom>
          <a:noFill/>
        </p:spPr>
        <p:txBody>
          <a:bodyPr wrap="square">
            <a:spAutoFit/>
          </a:bodyPr>
          <a:lstStyle/>
          <a:p>
            <a:pPr algn="ctr">
              <a:lnSpc>
                <a:spcPts val="960"/>
              </a:lnSpc>
              <a:spcAft>
                <a:spcPts val="0"/>
              </a:spcAft>
              <a:defRPr sz="800" b="0">
                <a:solidFill>
                  <a:srgbClr val="666666"/>
                </a:solidFill>
                <a:latin typeface="Arial"/>
              </a:defRPr>
            </a:pPr>
            <a:r>
              <a:t>New GCCs Prioritize</a:t>
            </a:r>
            <a:br/>
            <a:r>
              <a:t>AI/ML</a:t>
            </a:r>
          </a:p>
        </p:txBody>
      </p:sp>
      <p:sp>
        <p:nvSpPr>
          <p:cNvPr id="16" name="Rectangle 15"/>
          <p:cNvSpPr/>
          <p:nvPr/>
        </p:nvSpPr>
        <p:spPr>
          <a:xfrm>
            <a:off x="640080" y="2606040"/>
            <a:ext cx="1088136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 y="2743200"/>
            <a:ext cx="10881360" cy="320040"/>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lIns="137160" tIns="25400"/>
          <a:lstStyle/>
          <a:p>
            <a:pPr algn="ctr">
              <a:defRPr sz="1100" b="1">
                <a:solidFill>
                  <a:srgbClr val="FFFFFF"/>
                </a:solidFill>
                <a:latin typeface="Arial"/>
              </a:defRPr>
            </a:pPr>
            <a:r>
              <a:t>INNOVATION IN ACTION: FINANCIAL SERVICES GCCs</a:t>
            </a:r>
          </a:p>
        </p:txBody>
      </p:sp>
      <p:sp>
        <p:nvSpPr>
          <p:cNvPr id="18" name="Rectangle 17"/>
          <p:cNvSpPr/>
          <p:nvPr/>
        </p:nvSpPr>
        <p:spPr>
          <a:xfrm>
            <a:off x="640080" y="3154680"/>
            <a:ext cx="3474720" cy="1508760"/>
          </a:xfrm>
          <a:prstGeom prst="rect">
            <a:avLst/>
          </a:prstGeom>
          <a:solidFill>
            <a:srgbClr val="F5F5F5"/>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rIns="109728"/>
          <a:lstStyle/>
          <a:p>
            <a:pPr algn="ctr">
              <a:defRPr sz="1000" b="1">
                <a:solidFill>
                  <a:srgbClr val="E84D0E"/>
                </a:solidFill>
                <a:latin typeface="Arial"/>
              </a:defRPr>
            </a:pPr>
            <a:r>
              <a:t>GOLDMAN SACHS</a:t>
            </a:r>
          </a:p>
          <a:p>
            <a:pPr>
              <a:lnSpc>
                <a:spcPts val="1215"/>
              </a:lnSpc>
              <a:spcBef>
                <a:spcPts val="400"/>
              </a:spcBef>
              <a:defRPr sz="900">
                <a:solidFill>
                  <a:srgbClr val="4A4A4A"/>
                </a:solidFill>
                <a:latin typeface="Arial"/>
              </a:defRPr>
            </a:pPr>
            <a:r>
              <a:t>300 IT support (2004) → 9,000+ innovation professionals. AI lab, algo trading, cybersecurity. 'Most Admired GCC' 2025.</a:t>
            </a:r>
          </a:p>
        </p:txBody>
      </p:sp>
      <p:sp>
        <p:nvSpPr>
          <p:cNvPr id="19" name="Rectangle 18"/>
          <p:cNvSpPr/>
          <p:nvPr/>
        </p:nvSpPr>
        <p:spPr>
          <a:xfrm>
            <a:off x="4343400" y="3154680"/>
            <a:ext cx="3474720" cy="1508760"/>
          </a:xfrm>
          <a:prstGeom prst="rect">
            <a:avLst/>
          </a:prstGeom>
          <a:solidFill>
            <a:srgbClr val="F5F5F5"/>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rIns="109728"/>
          <a:lstStyle/>
          <a:p>
            <a:pPr algn="ctr">
              <a:defRPr sz="1000" b="1">
                <a:solidFill>
                  <a:srgbClr val="E84D0E"/>
                </a:solidFill>
                <a:latin typeface="Arial"/>
              </a:defRPr>
            </a:pPr>
            <a:r>
              <a:t>JP MORGAN</a:t>
            </a:r>
          </a:p>
          <a:p>
            <a:pPr>
              <a:lnSpc>
                <a:spcPts val="1215"/>
              </a:lnSpc>
              <a:spcBef>
                <a:spcPts val="400"/>
              </a:spcBef>
              <a:defRPr sz="900">
                <a:solidFill>
                  <a:srgbClr val="4A4A4A"/>
                </a:solidFill>
                <a:latin typeface="Arial"/>
              </a:defRPr>
            </a:pPr>
            <a:r>
              <a:t>50,000+ employees. $17-18B annual tech investment. 1,975 patents globally. 300+ AI use cases.</a:t>
            </a:r>
          </a:p>
        </p:txBody>
      </p:sp>
      <p:sp>
        <p:nvSpPr>
          <p:cNvPr id="20" name="Rectangle 19"/>
          <p:cNvSpPr/>
          <p:nvPr/>
        </p:nvSpPr>
        <p:spPr>
          <a:xfrm>
            <a:off x="8092440" y="3154680"/>
            <a:ext cx="3474720" cy="1508760"/>
          </a:xfrm>
          <a:prstGeom prst="rect">
            <a:avLst/>
          </a:prstGeom>
          <a:solidFill>
            <a:srgbClr val="F5F5F5"/>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rIns="109728"/>
          <a:lstStyle/>
          <a:p>
            <a:pPr algn="ctr">
              <a:defRPr sz="1000" b="1">
                <a:solidFill>
                  <a:srgbClr val="E84D0E"/>
                </a:solidFill>
                <a:latin typeface="Arial"/>
              </a:defRPr>
            </a:pPr>
            <a:r>
              <a:t>DEUTSCHE BANK</a:t>
            </a:r>
          </a:p>
          <a:p>
            <a:pPr>
              <a:lnSpc>
                <a:spcPts val="1215"/>
              </a:lnSpc>
              <a:spcBef>
                <a:spcPts val="400"/>
              </a:spcBef>
              <a:defRPr sz="900">
                <a:solidFill>
                  <a:srgbClr val="4A4A4A"/>
                </a:solidFill>
                <a:latin typeface="Arial"/>
              </a:defRPr>
            </a:pPr>
            <a:r>
              <a:t>18,500+ employees. 'Catalysts of transformation.' Integral to massive digital transformation program.</a:t>
            </a:r>
          </a:p>
        </p:txBody>
      </p:sp>
      <p:sp>
        <p:nvSpPr>
          <p:cNvPr id="21" name="Rectangle 20"/>
          <p:cNvSpPr/>
          <p:nvPr/>
        </p:nvSpPr>
        <p:spPr>
          <a:xfrm>
            <a:off x="640080" y="4846320"/>
            <a:ext cx="10881360" cy="594360"/>
          </a:xfrm>
          <a:prstGeom prst="rect">
            <a:avLst/>
          </a:prstGeom>
          <a:solidFill>
            <a:srgbClr val="E8F8EE"/>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rIns="109728"/>
          <a:lstStyle/>
          <a:p>
            <a:pPr algn="ctr">
              <a:defRPr sz="1000" b="1">
                <a:solidFill>
                  <a:srgbClr val="27AE60"/>
                </a:solidFill>
                <a:latin typeface="Arial"/>
              </a:defRPr>
            </a:pPr>
            <a:r>
              <a:t>↑  FINANCIAL IMPACT</a:t>
            </a:r>
          </a:p>
          <a:p>
            <a:pPr>
              <a:lnSpc>
                <a:spcPts val="1215"/>
              </a:lnSpc>
              <a:spcBef>
                <a:spcPts val="400"/>
              </a:spcBef>
              <a:defRPr sz="900">
                <a:solidFill>
                  <a:srgbClr val="4A4A4A"/>
                </a:solidFill>
                <a:latin typeface="Arial"/>
              </a:defRPr>
            </a:pPr>
            <a:r>
              <a:t>For $50M annual spend: 15-20% lower TCO after Year 3 = $7.5-10M savings. GCC AI investment growing at 52% CAGR.</a:t>
            </a:r>
          </a:p>
        </p:txBody>
      </p:sp>
      <p:sp>
        <p:nvSpPr>
          <p:cNvPr id="22" name="Rectangle 21"/>
          <p:cNvSpPr/>
          <p:nvPr/>
        </p:nvSpPr>
        <p:spPr>
          <a:xfrm>
            <a:off x="0" y="6080760"/>
            <a:ext cx="12191695" cy="36576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wrap="square" lIns="640080" tIns="63500"/>
          <a:lstStyle/>
          <a:p>
            <a:pPr algn="l">
              <a:defRPr sz="1000" b="1">
                <a:solidFill>
                  <a:srgbClr val="2D2D2D"/>
                </a:solidFill>
                <a:latin typeface="Arial"/>
              </a:defRPr>
            </a:pPr>
            <a:r>
              <a:t>SO WHAT: GCCs are where the future products of financial services firms are being built — not back offices</a:t>
            </a:r>
          </a:p>
        </p:txBody>
      </p:sp>
      <p:sp>
        <p:nvSpPr>
          <p:cNvPr id="23" name="TextBox 22"/>
          <p:cNvSpPr txBox="1"/>
          <p:nvPr/>
        </p:nvSpPr>
        <p:spPr>
          <a:xfrm>
            <a:off x="11247120" y="6537960"/>
            <a:ext cx="731520" cy="228600"/>
          </a:xfrm>
          <a:prstGeom prst="rect">
            <a:avLst/>
          </a:prstGeom>
          <a:noFill/>
        </p:spPr>
        <p:txBody>
          <a:bodyPr wrap="square">
            <a:spAutoFit/>
          </a:bodyPr>
          <a:lstStyle/>
          <a:p>
            <a:pPr algn="r">
              <a:lnSpc>
                <a:spcPts val="910"/>
              </a:lnSpc>
              <a:spcAft>
                <a:spcPts val="0"/>
              </a:spcAft>
              <a:defRPr sz="700" b="1">
                <a:solidFill>
                  <a:srgbClr val="666666"/>
                </a:solidFill>
                <a:latin typeface="Arial"/>
              </a:defRPr>
            </a:pPr>
            <a:r>
              <a:t>11</a:t>
            </a:r>
          </a:p>
        </p:txBody>
      </p:sp>
      <p:sp>
        <p:nvSpPr>
          <p:cNvPr id="24" name="TextBox 23"/>
          <p:cNvSpPr txBox="1"/>
          <p:nvPr/>
        </p:nvSpPr>
        <p:spPr>
          <a:xfrm>
            <a:off x="640080" y="6537960"/>
            <a:ext cx="10058400" cy="228600"/>
          </a:xfrm>
          <a:prstGeom prst="rect">
            <a:avLst/>
          </a:prstGeom>
          <a:noFill/>
        </p:spPr>
        <p:txBody>
          <a:bodyPr wrap="square">
            <a:spAutoFit/>
          </a:bodyPr>
          <a:lstStyle/>
          <a:p>
            <a:pPr algn="l">
              <a:lnSpc>
                <a:spcPts val="910"/>
              </a:lnSpc>
              <a:spcAft>
                <a:spcPts val="0"/>
              </a:spcAft>
              <a:defRPr sz="700" b="0">
                <a:solidFill>
                  <a:srgbClr val="666666"/>
                </a:solidFill>
                <a:latin typeface="Arial"/>
              </a:defRPr>
            </a:pPr>
            <a:r>
              <a:t>Sources: McKinsey, ANSR, NASSCOM Patent Pulse 2025, EY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137160"/>
            <a:ext cx="4572000" cy="228600"/>
          </a:xfrm>
          <a:prstGeom prst="rect">
            <a:avLst/>
          </a:prstGeom>
          <a:noFill/>
        </p:spPr>
        <p:txBody>
          <a:bodyPr wrap="square">
            <a:spAutoFit/>
          </a:bodyPr>
          <a:lstStyle/>
          <a:p>
            <a:pPr algn="l">
              <a:lnSpc>
                <a:spcPts val="1170"/>
              </a:lnSpc>
              <a:spcAft>
                <a:spcPts val="0"/>
              </a:spcAft>
              <a:defRPr sz="900" b="1">
                <a:solidFill>
                  <a:srgbClr val="E84D0E"/>
                </a:solidFill>
                <a:latin typeface="Arial"/>
              </a:defRPr>
            </a:pPr>
            <a:r>
              <a:t>RISK ANALYSIS</a:t>
            </a:r>
          </a:p>
        </p:txBody>
      </p:sp>
      <p:sp>
        <p:nvSpPr>
          <p:cNvPr id="3" name="TextBox 2"/>
          <p:cNvSpPr txBox="1"/>
          <p:nvPr/>
        </p:nvSpPr>
        <p:spPr>
          <a:xfrm>
            <a:off x="640080" y="320040"/>
            <a:ext cx="10881360" cy="822960"/>
          </a:xfrm>
          <a:prstGeom prst="rect">
            <a:avLst/>
          </a:prstGeom>
          <a:noFill/>
        </p:spPr>
        <p:txBody>
          <a:bodyPr wrap="square">
            <a:spAutoFit/>
          </a:bodyPr>
          <a:lstStyle/>
          <a:p>
            <a:pPr algn="l">
              <a:lnSpc>
                <a:spcPts val="3380"/>
              </a:lnSpc>
              <a:spcAft>
                <a:spcPts val="0"/>
              </a:spcAft>
              <a:defRPr sz="2600" b="1">
                <a:solidFill>
                  <a:srgbClr val="1A1A1A"/>
                </a:solidFill>
                <a:latin typeface="Arial"/>
              </a:defRPr>
            </a:pPr>
            <a:r>
              <a:t>Escalating Third-Party Risks in a Post-DORA World</a:t>
            </a:r>
          </a:p>
        </p:txBody>
      </p:sp>
      <p:sp>
        <p:nvSpPr>
          <p:cNvPr id="4" name="Rectangle 3"/>
          <p:cNvSpPr/>
          <p:nvPr/>
        </p:nvSpPr>
        <p:spPr>
          <a:xfrm>
            <a:off x="640080" y="1371600"/>
            <a:ext cx="2560320" cy="1051560"/>
          </a:xfrm>
          <a:prstGeom prst="rect">
            <a:avLst/>
          </a:prstGeom>
          <a:solidFill>
            <a:srgbClr val="F5F5F5"/>
          </a:solidFill>
          <a:ln w="9525">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19" y="1444752"/>
            <a:ext cx="2377439" cy="502920"/>
          </a:xfrm>
          <a:prstGeom prst="rect">
            <a:avLst/>
          </a:prstGeom>
          <a:noFill/>
        </p:spPr>
        <p:txBody>
          <a:bodyPr wrap="square">
            <a:spAutoFit/>
          </a:bodyPr>
          <a:lstStyle/>
          <a:p>
            <a:pPr algn="ctr">
              <a:lnSpc>
                <a:spcPts val="3640"/>
              </a:lnSpc>
              <a:spcAft>
                <a:spcPts val="0"/>
              </a:spcAft>
              <a:defRPr sz="2800" b="1">
                <a:solidFill>
                  <a:srgbClr val="C0392B"/>
                </a:solidFill>
                <a:latin typeface="Arial"/>
              </a:defRPr>
            </a:pPr>
            <a:r>
              <a:t>30%</a:t>
            </a:r>
          </a:p>
        </p:txBody>
      </p:sp>
      <p:sp>
        <p:nvSpPr>
          <p:cNvPr id="6" name="TextBox 5"/>
          <p:cNvSpPr txBox="1"/>
          <p:nvPr/>
        </p:nvSpPr>
        <p:spPr>
          <a:xfrm>
            <a:off x="731519" y="1965960"/>
            <a:ext cx="2377439" cy="411480"/>
          </a:xfrm>
          <a:prstGeom prst="rect">
            <a:avLst/>
          </a:prstGeom>
          <a:noFill/>
        </p:spPr>
        <p:txBody>
          <a:bodyPr wrap="square">
            <a:spAutoFit/>
          </a:bodyPr>
          <a:lstStyle/>
          <a:p>
            <a:pPr algn="ctr">
              <a:lnSpc>
                <a:spcPts val="960"/>
              </a:lnSpc>
              <a:spcAft>
                <a:spcPts val="0"/>
              </a:spcAft>
              <a:defRPr sz="800" b="0">
                <a:solidFill>
                  <a:srgbClr val="666666"/>
                </a:solidFill>
                <a:latin typeface="Arial"/>
              </a:defRPr>
            </a:pPr>
            <a:r>
              <a:t>Breaches From</a:t>
            </a:r>
            <a:br/>
            <a:r>
              <a:t>Third Parties</a:t>
            </a:r>
          </a:p>
        </p:txBody>
      </p:sp>
      <p:sp>
        <p:nvSpPr>
          <p:cNvPr id="7" name="Rectangle 6"/>
          <p:cNvSpPr/>
          <p:nvPr/>
        </p:nvSpPr>
        <p:spPr>
          <a:xfrm>
            <a:off x="3429000" y="1371600"/>
            <a:ext cx="2560320" cy="1051560"/>
          </a:xfrm>
          <a:prstGeom prst="rect">
            <a:avLst/>
          </a:prstGeom>
          <a:solidFill>
            <a:srgbClr val="F5F5F5"/>
          </a:solidFill>
          <a:ln w="9525">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20440" y="1444752"/>
            <a:ext cx="2377439" cy="502920"/>
          </a:xfrm>
          <a:prstGeom prst="rect">
            <a:avLst/>
          </a:prstGeom>
          <a:noFill/>
        </p:spPr>
        <p:txBody>
          <a:bodyPr wrap="square">
            <a:spAutoFit/>
          </a:bodyPr>
          <a:lstStyle/>
          <a:p>
            <a:pPr algn="ctr">
              <a:lnSpc>
                <a:spcPts val="3640"/>
              </a:lnSpc>
              <a:spcAft>
                <a:spcPts val="0"/>
              </a:spcAft>
              <a:defRPr sz="2800" b="1">
                <a:solidFill>
                  <a:srgbClr val="C0392B"/>
                </a:solidFill>
                <a:latin typeface="Arial"/>
              </a:defRPr>
            </a:pPr>
            <a:r>
              <a:t>$6.08M</a:t>
            </a:r>
          </a:p>
        </p:txBody>
      </p:sp>
      <p:sp>
        <p:nvSpPr>
          <p:cNvPr id="9" name="TextBox 8"/>
          <p:cNvSpPr txBox="1"/>
          <p:nvPr/>
        </p:nvSpPr>
        <p:spPr>
          <a:xfrm>
            <a:off x="3520440" y="1965960"/>
            <a:ext cx="2377439" cy="411480"/>
          </a:xfrm>
          <a:prstGeom prst="rect">
            <a:avLst/>
          </a:prstGeom>
          <a:noFill/>
        </p:spPr>
        <p:txBody>
          <a:bodyPr wrap="square">
            <a:spAutoFit/>
          </a:bodyPr>
          <a:lstStyle/>
          <a:p>
            <a:pPr algn="ctr">
              <a:lnSpc>
                <a:spcPts val="960"/>
              </a:lnSpc>
              <a:spcAft>
                <a:spcPts val="0"/>
              </a:spcAft>
              <a:defRPr sz="800" b="0">
                <a:solidFill>
                  <a:srgbClr val="666666"/>
                </a:solidFill>
                <a:latin typeface="Arial"/>
              </a:defRPr>
            </a:pPr>
            <a:r>
              <a:t>Avg Financial</a:t>
            </a:r>
            <a:br/>
            <a:r>
              <a:t>Breach Cost</a:t>
            </a:r>
          </a:p>
        </p:txBody>
      </p:sp>
      <p:sp>
        <p:nvSpPr>
          <p:cNvPr id="10" name="Rectangle 9"/>
          <p:cNvSpPr/>
          <p:nvPr/>
        </p:nvSpPr>
        <p:spPr>
          <a:xfrm>
            <a:off x="6217920" y="1371600"/>
            <a:ext cx="2560320" cy="1051560"/>
          </a:xfrm>
          <a:prstGeom prst="rect">
            <a:avLst/>
          </a:prstGeom>
          <a:solidFill>
            <a:srgbClr val="F5F5F5"/>
          </a:solidFill>
          <a:ln w="9525">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59" y="1444752"/>
            <a:ext cx="2377439" cy="502920"/>
          </a:xfrm>
          <a:prstGeom prst="rect">
            <a:avLst/>
          </a:prstGeom>
          <a:noFill/>
        </p:spPr>
        <p:txBody>
          <a:bodyPr wrap="square">
            <a:spAutoFit/>
          </a:bodyPr>
          <a:lstStyle/>
          <a:p>
            <a:pPr algn="ctr">
              <a:lnSpc>
                <a:spcPts val="3640"/>
              </a:lnSpc>
              <a:spcAft>
                <a:spcPts val="0"/>
              </a:spcAft>
              <a:defRPr sz="2800" b="1">
                <a:solidFill>
                  <a:srgbClr val="C0392B"/>
                </a:solidFill>
                <a:latin typeface="Arial"/>
              </a:defRPr>
            </a:pPr>
            <a:r>
              <a:t>$4.6B</a:t>
            </a:r>
          </a:p>
        </p:txBody>
      </p:sp>
      <p:sp>
        <p:nvSpPr>
          <p:cNvPr id="12" name="TextBox 11"/>
          <p:cNvSpPr txBox="1"/>
          <p:nvPr/>
        </p:nvSpPr>
        <p:spPr>
          <a:xfrm>
            <a:off x="6309359" y="1965960"/>
            <a:ext cx="2377439" cy="411480"/>
          </a:xfrm>
          <a:prstGeom prst="rect">
            <a:avLst/>
          </a:prstGeom>
          <a:noFill/>
        </p:spPr>
        <p:txBody>
          <a:bodyPr wrap="square">
            <a:spAutoFit/>
          </a:bodyPr>
          <a:lstStyle/>
          <a:p>
            <a:pPr algn="ctr">
              <a:lnSpc>
                <a:spcPts val="960"/>
              </a:lnSpc>
              <a:spcAft>
                <a:spcPts val="0"/>
              </a:spcAft>
              <a:defRPr sz="800" b="0">
                <a:solidFill>
                  <a:srgbClr val="666666"/>
                </a:solidFill>
                <a:latin typeface="Arial"/>
              </a:defRPr>
            </a:pPr>
            <a:r>
              <a:t>Global Penalties</a:t>
            </a:r>
            <a:br/>
            <a:r>
              <a:t>(522% YoY)</a:t>
            </a:r>
          </a:p>
        </p:txBody>
      </p:sp>
      <p:sp>
        <p:nvSpPr>
          <p:cNvPr id="13" name="Rectangle 12"/>
          <p:cNvSpPr/>
          <p:nvPr/>
        </p:nvSpPr>
        <p:spPr>
          <a:xfrm>
            <a:off x="9006839" y="1371600"/>
            <a:ext cx="2560320" cy="1051560"/>
          </a:xfrm>
          <a:prstGeom prst="rect">
            <a:avLst/>
          </a:prstGeom>
          <a:solidFill>
            <a:srgbClr val="F5F5F5"/>
          </a:solidFill>
          <a:ln w="9525">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98279" y="1444752"/>
            <a:ext cx="2377439" cy="502920"/>
          </a:xfrm>
          <a:prstGeom prst="rect">
            <a:avLst/>
          </a:prstGeom>
          <a:noFill/>
        </p:spPr>
        <p:txBody>
          <a:bodyPr wrap="square">
            <a:spAutoFit/>
          </a:bodyPr>
          <a:lstStyle/>
          <a:p>
            <a:pPr algn="ctr">
              <a:lnSpc>
                <a:spcPts val="3640"/>
              </a:lnSpc>
              <a:spcAft>
                <a:spcPts val="0"/>
              </a:spcAft>
              <a:defRPr sz="2800" b="1">
                <a:solidFill>
                  <a:srgbClr val="C0392B"/>
                </a:solidFill>
                <a:latin typeface="Arial"/>
              </a:defRPr>
            </a:pPr>
            <a:r>
              <a:t>$0.5-1B</a:t>
            </a:r>
          </a:p>
        </p:txBody>
      </p:sp>
      <p:sp>
        <p:nvSpPr>
          <p:cNvPr id="15" name="TextBox 14"/>
          <p:cNvSpPr txBox="1"/>
          <p:nvPr/>
        </p:nvSpPr>
        <p:spPr>
          <a:xfrm>
            <a:off x="9098279" y="1965960"/>
            <a:ext cx="2377439" cy="411480"/>
          </a:xfrm>
          <a:prstGeom prst="rect">
            <a:avLst/>
          </a:prstGeom>
          <a:noFill/>
        </p:spPr>
        <p:txBody>
          <a:bodyPr wrap="square">
            <a:spAutoFit/>
          </a:bodyPr>
          <a:lstStyle/>
          <a:p>
            <a:pPr algn="ctr">
              <a:lnSpc>
                <a:spcPts val="960"/>
              </a:lnSpc>
              <a:spcAft>
                <a:spcPts val="0"/>
              </a:spcAft>
              <a:defRPr sz="800" b="0">
                <a:solidFill>
                  <a:srgbClr val="666666"/>
                </a:solidFill>
                <a:latin typeface="Arial"/>
              </a:defRPr>
            </a:pPr>
            <a:r>
              <a:t>Outsourcing Failure</a:t>
            </a:r>
            <a:br/>
            <a:r>
              <a:t>Cost/Incident</a:t>
            </a:r>
          </a:p>
        </p:txBody>
      </p:sp>
      <p:sp>
        <p:nvSpPr>
          <p:cNvPr id="16" name="Rectangle 15"/>
          <p:cNvSpPr/>
          <p:nvPr/>
        </p:nvSpPr>
        <p:spPr>
          <a:xfrm>
            <a:off x="640080" y="2606040"/>
            <a:ext cx="1088136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 y="2743200"/>
            <a:ext cx="10881360" cy="320040"/>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lIns="137160" tIns="25400"/>
          <a:lstStyle/>
          <a:p>
            <a:pPr algn="ctr">
              <a:defRPr sz="1100" b="1">
                <a:solidFill>
                  <a:srgbClr val="FFFFFF"/>
                </a:solidFill>
                <a:latin typeface="Arial"/>
              </a:defRPr>
            </a:pPr>
            <a:r>
              <a:t>REGULATORY LANDSCAPE CLOSING THE OUTSOURCING WINDOW</a:t>
            </a:r>
          </a:p>
        </p:txBody>
      </p:sp>
      <p:graphicFrame>
        <p:nvGraphicFramePr>
          <p:cNvPr id="18" name="Table 17"/>
          <p:cNvGraphicFramePr>
            <a:graphicFrameLocks noGrp="1"/>
          </p:cNvGraphicFramePr>
          <p:nvPr/>
        </p:nvGraphicFramePr>
        <p:xfrm>
          <a:off x="640080" y="3154680"/>
          <a:ext cx="6949439" cy="2103120"/>
        </p:xfrm>
        <a:graphic>
          <a:graphicData uri="http://schemas.openxmlformats.org/drawingml/2006/table">
            <a:tbl>
              <a:tblPr firstRow="1" bandRow="1">
                <a:tableStyleId>{5C22544A-7EE6-4342-B048-85BDC9FD1C3A}</a:tableStyleId>
              </a:tblPr>
              <a:tblGrid>
                <a:gridCol w="1828800"/>
                <a:gridCol w="1371600"/>
                <a:gridCol w="3749039"/>
              </a:tblGrid>
              <a:tr h="350520">
                <a:tc>
                  <a:txBody>
                    <a:bodyPr/>
                    <a:lstStyle/>
                    <a:p>
                      <a:pPr>
                        <a:defRPr sz="900" b="1">
                          <a:solidFill>
                            <a:srgbClr val="FFFFFF"/>
                          </a:solidFill>
                          <a:latin typeface="Arial"/>
                        </a:defRPr>
                      </a:pPr>
                      <a:r>
                        <a:t>Regulation</a:t>
                      </a:r>
                    </a:p>
                  </a:txBody>
                  <a:tcPr marL="73152" marR="73152" marT="36576" marB="36576">
                    <a:solidFill>
                      <a:srgbClr val="2D2D2D"/>
                    </a:solidFill>
                  </a:tcPr>
                </a:tc>
                <a:tc>
                  <a:txBody>
                    <a:bodyPr/>
                    <a:lstStyle/>
                    <a:p>
                      <a:pPr>
                        <a:defRPr sz="900" b="1">
                          <a:solidFill>
                            <a:srgbClr val="FFFFFF"/>
                          </a:solidFill>
                          <a:latin typeface="Arial"/>
                        </a:defRPr>
                      </a:pPr>
                      <a:r>
                        <a:t>Effective</a:t>
                      </a:r>
                    </a:p>
                  </a:txBody>
                  <a:tcPr marL="73152" marR="73152" marT="36576" marB="36576">
                    <a:solidFill>
                      <a:srgbClr val="2D2D2D"/>
                    </a:solidFill>
                  </a:tcPr>
                </a:tc>
                <a:tc>
                  <a:txBody>
                    <a:bodyPr/>
                    <a:lstStyle/>
                    <a:p>
                      <a:pPr>
                        <a:defRPr sz="900" b="1">
                          <a:solidFill>
                            <a:srgbClr val="FFFFFF"/>
                          </a:solidFill>
                          <a:latin typeface="Arial"/>
                        </a:defRPr>
                      </a:pPr>
                      <a:r>
                        <a:t>Impact on Outsourcing</a:t>
                      </a:r>
                    </a:p>
                  </a:txBody>
                  <a:tcPr marL="73152" marR="73152" marT="36576" marB="36576">
                    <a:solidFill>
                      <a:srgbClr val="2D2D2D"/>
                    </a:solidFill>
                  </a:tcPr>
                </a:tc>
              </a:tr>
              <a:tr h="350520">
                <a:tc>
                  <a:txBody>
                    <a:bodyPr/>
                    <a:lstStyle/>
                    <a:p>
                      <a:pPr>
                        <a:defRPr sz="900">
                          <a:solidFill>
                            <a:srgbClr val="4A4A4A"/>
                          </a:solidFill>
                          <a:latin typeface="Arial"/>
                        </a:defRPr>
                      </a:pPr>
                      <a:r>
                        <a:t>EU DORA</a:t>
                      </a:r>
                    </a:p>
                  </a:txBody>
                  <a:tcPr marL="73152" marR="73152" marT="36576" marB="36576">
                    <a:solidFill>
                      <a:srgbClr val="FFFFFF"/>
                    </a:solidFill>
                  </a:tcPr>
                </a:tc>
                <a:tc>
                  <a:txBody>
                    <a:bodyPr/>
                    <a:lstStyle/>
                    <a:p>
                      <a:pPr>
                        <a:defRPr sz="900">
                          <a:solidFill>
                            <a:srgbClr val="4A4A4A"/>
                          </a:solidFill>
                          <a:latin typeface="Arial"/>
                        </a:defRPr>
                      </a:pPr>
                      <a:r>
                        <a:t>Jan 2025</a:t>
                      </a:r>
                    </a:p>
                  </a:txBody>
                  <a:tcPr marL="73152" marR="73152" marT="36576" marB="36576">
                    <a:solidFill>
                      <a:srgbClr val="FFFFFF"/>
                    </a:solidFill>
                  </a:tcPr>
                </a:tc>
                <a:tc>
                  <a:txBody>
                    <a:bodyPr/>
                    <a:lstStyle/>
                    <a:p>
                      <a:pPr>
                        <a:defRPr sz="900">
                          <a:solidFill>
                            <a:srgbClr val="4A4A4A"/>
                          </a:solidFill>
                          <a:latin typeface="Arial"/>
                        </a:defRPr>
                      </a:pPr>
                      <a:r>
                        <a:t>Directly targets outsourcing concentration risk</a:t>
                      </a:r>
                    </a:p>
                  </a:txBody>
                  <a:tcPr marL="73152" marR="73152" marT="36576" marB="36576">
                    <a:solidFill>
                      <a:srgbClr val="FFFFFF"/>
                    </a:solidFill>
                  </a:tcPr>
                </a:tc>
              </a:tr>
              <a:tr h="350520">
                <a:tc>
                  <a:txBody>
                    <a:bodyPr/>
                    <a:lstStyle/>
                    <a:p>
                      <a:pPr>
                        <a:defRPr sz="900">
                          <a:solidFill>
                            <a:srgbClr val="4A4A4A"/>
                          </a:solidFill>
                          <a:latin typeface="Arial"/>
                        </a:defRPr>
                      </a:pPr>
                      <a:r>
                        <a:t>RBI Master Direction</a:t>
                      </a:r>
                    </a:p>
                  </a:txBody>
                  <a:tcPr marL="73152" marR="73152" marT="36576" marB="36576">
                    <a:solidFill>
                      <a:srgbClr val="F5F5F5"/>
                    </a:solidFill>
                  </a:tcPr>
                </a:tc>
                <a:tc>
                  <a:txBody>
                    <a:bodyPr/>
                    <a:lstStyle/>
                    <a:p>
                      <a:pPr>
                        <a:defRPr sz="900">
                          <a:solidFill>
                            <a:srgbClr val="4A4A4A"/>
                          </a:solidFill>
                          <a:latin typeface="Arial"/>
                        </a:defRPr>
                      </a:pPr>
                      <a:r>
                        <a:t>2023</a:t>
                      </a:r>
                    </a:p>
                  </a:txBody>
                  <a:tcPr marL="73152" marR="73152" marT="36576" marB="36576">
                    <a:solidFill>
                      <a:srgbClr val="F5F5F5"/>
                    </a:solidFill>
                  </a:tcPr>
                </a:tc>
                <a:tc>
                  <a:txBody>
                    <a:bodyPr/>
                    <a:lstStyle/>
                    <a:p>
                      <a:pPr>
                        <a:defRPr sz="900">
                          <a:solidFill>
                            <a:srgbClr val="4A4A4A"/>
                          </a:solidFill>
                          <a:latin typeface="Arial"/>
                        </a:defRPr>
                      </a:pPr>
                      <a:r>
                        <a:t>Board-level oversight of material outsourcing</a:t>
                      </a:r>
                    </a:p>
                  </a:txBody>
                  <a:tcPr marL="73152" marR="73152" marT="36576" marB="36576">
                    <a:solidFill>
                      <a:srgbClr val="F5F5F5"/>
                    </a:solidFill>
                  </a:tcPr>
                </a:tc>
              </a:tr>
              <a:tr h="350520">
                <a:tc>
                  <a:txBody>
                    <a:bodyPr/>
                    <a:lstStyle/>
                    <a:p>
                      <a:pPr>
                        <a:defRPr sz="900">
                          <a:solidFill>
                            <a:srgbClr val="4A4A4A"/>
                          </a:solidFill>
                          <a:latin typeface="Arial"/>
                        </a:defRPr>
                      </a:pPr>
                      <a:r>
                        <a:t>PCI-DSS 4.0.1</a:t>
                      </a:r>
                    </a:p>
                  </a:txBody>
                  <a:tcPr marL="73152" marR="73152" marT="36576" marB="36576">
                    <a:solidFill>
                      <a:srgbClr val="FFFFFF"/>
                    </a:solidFill>
                  </a:tcPr>
                </a:tc>
                <a:tc>
                  <a:txBody>
                    <a:bodyPr/>
                    <a:lstStyle/>
                    <a:p>
                      <a:pPr>
                        <a:defRPr sz="900">
                          <a:solidFill>
                            <a:srgbClr val="4A4A4A"/>
                          </a:solidFill>
                          <a:latin typeface="Arial"/>
                        </a:defRPr>
                      </a:pPr>
                      <a:r>
                        <a:t>Mar 2025</a:t>
                      </a:r>
                    </a:p>
                  </a:txBody>
                  <a:tcPr marL="73152" marR="73152" marT="36576" marB="36576">
                    <a:solidFill>
                      <a:srgbClr val="FFFFFF"/>
                    </a:solidFill>
                  </a:tcPr>
                </a:tc>
                <a:tc>
                  <a:txBody>
                    <a:bodyPr/>
                    <a:lstStyle/>
                    <a:p>
                      <a:pPr>
                        <a:defRPr sz="900">
                          <a:solidFill>
                            <a:srgbClr val="4A4A4A"/>
                          </a:solidFill>
                          <a:latin typeface="Arial"/>
                        </a:defRPr>
                      </a:pPr>
                      <a:r>
                        <a:t>Captive perimeter reduces multi-tenant risk</a:t>
                      </a:r>
                    </a:p>
                  </a:txBody>
                  <a:tcPr marL="73152" marR="73152" marT="36576" marB="36576">
                    <a:solidFill>
                      <a:srgbClr val="FFFFFF"/>
                    </a:solidFill>
                  </a:tcPr>
                </a:tc>
              </a:tr>
              <a:tr h="350520">
                <a:tc>
                  <a:txBody>
                    <a:bodyPr/>
                    <a:lstStyle/>
                    <a:p>
                      <a:pPr>
                        <a:defRPr sz="900">
                          <a:solidFill>
                            <a:srgbClr val="4A4A4A"/>
                          </a:solidFill>
                          <a:latin typeface="Arial"/>
                        </a:defRPr>
                      </a:pPr>
                      <a:r>
                        <a:t>India DPDP Act</a:t>
                      </a:r>
                    </a:p>
                  </a:txBody>
                  <a:tcPr marL="73152" marR="73152" marT="36576" marB="36576">
                    <a:solidFill>
                      <a:srgbClr val="F5F5F5"/>
                    </a:solidFill>
                  </a:tcPr>
                </a:tc>
                <a:tc>
                  <a:txBody>
                    <a:bodyPr/>
                    <a:lstStyle/>
                    <a:p>
                      <a:pPr>
                        <a:defRPr sz="900">
                          <a:solidFill>
                            <a:srgbClr val="4A4A4A"/>
                          </a:solidFill>
                          <a:latin typeface="Arial"/>
                        </a:defRPr>
                      </a:pPr>
                      <a:r>
                        <a:t>2024</a:t>
                      </a:r>
                    </a:p>
                  </a:txBody>
                  <a:tcPr marL="73152" marR="73152" marT="36576" marB="36576">
                    <a:solidFill>
                      <a:srgbClr val="F5F5F5"/>
                    </a:solidFill>
                  </a:tcPr>
                </a:tc>
                <a:tc>
                  <a:txBody>
                    <a:bodyPr/>
                    <a:lstStyle/>
                    <a:p>
                      <a:pPr>
                        <a:defRPr sz="900">
                          <a:solidFill>
                            <a:srgbClr val="4A4A4A"/>
                          </a:solidFill>
                          <a:latin typeface="Arial"/>
                        </a:defRPr>
                      </a:pPr>
                      <a:r>
                        <a:t>'Outsourcing Exemption' structurally favors GCCs</a:t>
                      </a:r>
                    </a:p>
                  </a:txBody>
                  <a:tcPr marL="73152" marR="73152" marT="36576" marB="36576">
                    <a:solidFill>
                      <a:srgbClr val="F5F5F5"/>
                    </a:solidFill>
                  </a:tcPr>
                </a:tc>
              </a:tr>
              <a:tr h="350520">
                <a:tc>
                  <a:txBody>
                    <a:bodyPr/>
                    <a:lstStyle/>
                    <a:p>
                      <a:pPr>
                        <a:defRPr sz="900">
                          <a:solidFill>
                            <a:srgbClr val="4A4A4A"/>
                          </a:solidFill>
                          <a:latin typeface="Arial"/>
                        </a:defRPr>
                      </a:pPr>
                      <a:r>
                        <a:t>GDPR</a:t>
                      </a:r>
                    </a:p>
                  </a:txBody>
                  <a:tcPr marL="73152" marR="73152" marT="36576" marB="36576">
                    <a:solidFill>
                      <a:srgbClr val="FFFFFF"/>
                    </a:solidFill>
                  </a:tcPr>
                </a:tc>
                <a:tc>
                  <a:txBody>
                    <a:bodyPr/>
                    <a:lstStyle/>
                    <a:p>
                      <a:pPr>
                        <a:defRPr sz="900">
                          <a:solidFill>
                            <a:srgbClr val="4A4A4A"/>
                          </a:solidFill>
                          <a:latin typeface="Arial"/>
                        </a:defRPr>
                      </a:pPr>
                      <a:r>
                        <a:t>Ongoing</a:t>
                      </a:r>
                    </a:p>
                  </a:txBody>
                  <a:tcPr marL="73152" marR="73152" marT="36576" marB="36576">
                    <a:solidFill>
                      <a:srgbClr val="FFFFFF"/>
                    </a:solidFill>
                  </a:tcPr>
                </a:tc>
                <a:tc>
                  <a:txBody>
                    <a:bodyPr/>
                    <a:lstStyle/>
                    <a:p>
                      <a:pPr>
                        <a:defRPr sz="900">
                          <a:solidFill>
                            <a:srgbClr val="4A4A4A"/>
                          </a:solidFill>
                          <a:latin typeface="Arial"/>
                        </a:defRPr>
                      </a:pPr>
                      <a:r>
                        <a:t>Fines up to EUR 20M or 4% revenue</a:t>
                      </a:r>
                    </a:p>
                  </a:txBody>
                  <a:tcPr marL="73152" marR="73152" marT="36576" marB="36576">
                    <a:solidFill>
                      <a:srgbClr val="FFFFFF"/>
                    </a:solidFill>
                  </a:tcPr>
                </a:tc>
              </a:tr>
            </a:tbl>
          </a:graphicData>
        </a:graphic>
      </p:graphicFrame>
      <p:sp>
        <p:nvSpPr>
          <p:cNvPr id="19" name="Rectangle 18"/>
          <p:cNvSpPr/>
          <p:nvPr/>
        </p:nvSpPr>
        <p:spPr>
          <a:xfrm>
            <a:off x="7863840" y="3154680"/>
            <a:ext cx="3657600" cy="1828800"/>
          </a:xfrm>
          <a:prstGeom prst="rect">
            <a:avLst/>
          </a:prstGeom>
          <a:solidFill>
            <a:srgbClr val="FDEDED"/>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rIns="109728"/>
          <a:lstStyle/>
          <a:p>
            <a:pPr algn="ctr">
              <a:defRPr sz="1000" b="1">
                <a:solidFill>
                  <a:srgbClr val="C0392B"/>
                </a:solidFill>
                <a:latin typeface="Arial"/>
              </a:defRPr>
            </a:pPr>
            <a:r>
              <a:t>⚠  REAL-WORLD BREACHES</a:t>
            </a:r>
          </a:p>
          <a:p>
            <a:pPr>
              <a:lnSpc>
                <a:spcPts val="1215"/>
              </a:lnSpc>
              <a:spcBef>
                <a:spcPts val="400"/>
              </a:spcBef>
              <a:defRPr sz="900">
                <a:solidFill>
                  <a:srgbClr val="4A4A4A"/>
                </a:solidFill>
                <a:latin typeface="Arial"/>
              </a:defRPr>
            </a:pPr>
            <a:r>
              <a:t>SitusAMC (2024): JPM, Citi SSNs exposed via vendor</a:t>
            </a:r>
            <a:br/>
            <a:r>
              <a:t>MOVEit/CL0P (2023): 1,000 institutions affected</a:t>
            </a:r>
            <a:br/>
            <a:r>
              <a:t>Brain Cipher: 1TB stolen, 640K individuals</a:t>
            </a:r>
          </a:p>
        </p:txBody>
      </p:sp>
      <p:sp>
        <p:nvSpPr>
          <p:cNvPr id="20" name="Rectangle 19"/>
          <p:cNvSpPr/>
          <p:nvPr/>
        </p:nvSpPr>
        <p:spPr>
          <a:xfrm>
            <a:off x="0" y="6080760"/>
            <a:ext cx="12191695" cy="36576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wrap="square" lIns="640080" tIns="63500"/>
          <a:lstStyle/>
          <a:p>
            <a:pPr algn="l">
              <a:defRPr sz="1000" b="1">
                <a:solidFill>
                  <a:srgbClr val="2D2D2D"/>
                </a:solidFill>
                <a:latin typeface="Arial"/>
              </a:defRPr>
            </a:pPr>
            <a:r>
              <a:t>SO WHAT: Regulators are systematically closing the outsourcing window for critical financial services functions</a:t>
            </a:r>
          </a:p>
        </p:txBody>
      </p:sp>
      <p:sp>
        <p:nvSpPr>
          <p:cNvPr id="21" name="TextBox 20"/>
          <p:cNvSpPr txBox="1"/>
          <p:nvPr/>
        </p:nvSpPr>
        <p:spPr>
          <a:xfrm>
            <a:off x="11247120" y="6537960"/>
            <a:ext cx="731520" cy="228600"/>
          </a:xfrm>
          <a:prstGeom prst="rect">
            <a:avLst/>
          </a:prstGeom>
          <a:noFill/>
        </p:spPr>
        <p:txBody>
          <a:bodyPr wrap="square">
            <a:spAutoFit/>
          </a:bodyPr>
          <a:lstStyle/>
          <a:p>
            <a:pPr algn="r">
              <a:lnSpc>
                <a:spcPts val="910"/>
              </a:lnSpc>
              <a:spcAft>
                <a:spcPts val="0"/>
              </a:spcAft>
              <a:defRPr sz="700" b="1">
                <a:solidFill>
                  <a:srgbClr val="666666"/>
                </a:solidFill>
                <a:latin typeface="Arial"/>
              </a:defRPr>
            </a:pPr>
            <a:r>
              <a:t>12</a:t>
            </a:r>
          </a:p>
        </p:txBody>
      </p:sp>
      <p:sp>
        <p:nvSpPr>
          <p:cNvPr id="22" name="TextBox 21"/>
          <p:cNvSpPr txBox="1"/>
          <p:nvPr/>
        </p:nvSpPr>
        <p:spPr>
          <a:xfrm>
            <a:off x="640080" y="6537960"/>
            <a:ext cx="10058400" cy="228600"/>
          </a:xfrm>
          <a:prstGeom prst="rect">
            <a:avLst/>
          </a:prstGeom>
          <a:noFill/>
        </p:spPr>
        <p:txBody>
          <a:bodyPr wrap="square">
            <a:spAutoFit/>
          </a:bodyPr>
          <a:lstStyle/>
          <a:p>
            <a:pPr algn="l">
              <a:lnSpc>
                <a:spcPts val="910"/>
              </a:lnSpc>
              <a:spcAft>
                <a:spcPts val="0"/>
              </a:spcAft>
              <a:defRPr sz="700" b="0">
                <a:solidFill>
                  <a:srgbClr val="666666"/>
                </a:solidFill>
                <a:latin typeface="Arial"/>
              </a:defRPr>
            </a:pPr>
            <a:r>
              <a:t>Sources: FINMA, IBM 2025, CSO Online, Securiti, EU</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137160"/>
            <a:ext cx="4572000" cy="228600"/>
          </a:xfrm>
          <a:prstGeom prst="rect">
            <a:avLst/>
          </a:prstGeom>
          <a:noFill/>
        </p:spPr>
        <p:txBody>
          <a:bodyPr wrap="square">
            <a:spAutoFit/>
          </a:bodyPr>
          <a:lstStyle/>
          <a:p>
            <a:pPr algn="l">
              <a:lnSpc>
                <a:spcPts val="1170"/>
              </a:lnSpc>
              <a:spcAft>
                <a:spcPts val="0"/>
              </a:spcAft>
              <a:defRPr sz="900" b="1">
                <a:solidFill>
                  <a:srgbClr val="E84D0E"/>
                </a:solidFill>
                <a:latin typeface="Arial"/>
              </a:defRPr>
            </a:pPr>
            <a:r>
              <a:t>RISK MANAGEMENT</a:t>
            </a:r>
          </a:p>
        </p:txBody>
      </p:sp>
      <p:sp>
        <p:nvSpPr>
          <p:cNvPr id="3" name="TextBox 2"/>
          <p:cNvSpPr txBox="1"/>
          <p:nvPr/>
        </p:nvSpPr>
        <p:spPr>
          <a:xfrm>
            <a:off x="640080" y="320040"/>
            <a:ext cx="10881360" cy="822960"/>
          </a:xfrm>
          <a:prstGeom prst="rect">
            <a:avLst/>
          </a:prstGeom>
          <a:noFill/>
        </p:spPr>
        <p:txBody>
          <a:bodyPr wrap="square">
            <a:spAutoFit/>
          </a:bodyPr>
          <a:lstStyle/>
          <a:p>
            <a:pPr algn="l">
              <a:lnSpc>
                <a:spcPts val="3380"/>
              </a:lnSpc>
              <a:spcAft>
                <a:spcPts val="0"/>
              </a:spcAft>
              <a:defRPr sz="2600" b="1">
                <a:solidFill>
                  <a:srgbClr val="1A1A1A"/>
                </a:solidFill>
                <a:latin typeface="Arial"/>
              </a:defRPr>
            </a:pPr>
            <a:r>
              <a:t>Top 10 GCC Risks with Proven Mitigation Strategies</a:t>
            </a:r>
          </a:p>
        </p:txBody>
      </p:sp>
      <p:graphicFrame>
        <p:nvGraphicFramePr>
          <p:cNvPr id="4" name="Table 3"/>
          <p:cNvGraphicFramePr>
            <a:graphicFrameLocks noGrp="1"/>
          </p:cNvGraphicFramePr>
          <p:nvPr/>
        </p:nvGraphicFramePr>
        <p:xfrm>
          <a:off x="640080" y="1371600"/>
          <a:ext cx="10881360" cy="4297680"/>
        </p:xfrm>
        <a:graphic>
          <a:graphicData uri="http://schemas.openxmlformats.org/drawingml/2006/table">
            <a:tbl>
              <a:tblPr firstRow="1" bandRow="1">
                <a:tableStyleId>{5C22544A-7EE6-4342-B048-85BDC9FD1C3A}</a:tableStyleId>
              </a:tblPr>
              <a:tblGrid>
                <a:gridCol w="457200"/>
                <a:gridCol w="2286000"/>
                <a:gridCol w="1097280"/>
                <a:gridCol w="7040880"/>
              </a:tblGrid>
              <a:tr h="390698">
                <a:tc>
                  <a:txBody>
                    <a:bodyPr/>
                    <a:lstStyle/>
                    <a:p>
                      <a:pPr>
                        <a:defRPr sz="900" b="1">
                          <a:solidFill>
                            <a:srgbClr val="FFFFFF"/>
                          </a:solidFill>
                          <a:latin typeface="Arial"/>
                        </a:defRPr>
                      </a:pPr>
                      <a:r>
                        <a:t>#</a:t>
                      </a:r>
                    </a:p>
                  </a:txBody>
                  <a:tcPr marL="73152" marR="73152" marT="36576" marB="36576">
                    <a:solidFill>
                      <a:srgbClr val="2D2D2D"/>
                    </a:solidFill>
                  </a:tcPr>
                </a:tc>
                <a:tc>
                  <a:txBody>
                    <a:bodyPr/>
                    <a:lstStyle/>
                    <a:p>
                      <a:pPr>
                        <a:defRPr sz="900" b="1">
                          <a:solidFill>
                            <a:srgbClr val="FFFFFF"/>
                          </a:solidFill>
                          <a:latin typeface="Arial"/>
                        </a:defRPr>
                      </a:pPr>
                      <a:r>
                        <a:t>Risk</a:t>
                      </a:r>
                    </a:p>
                  </a:txBody>
                  <a:tcPr marL="73152" marR="73152" marT="36576" marB="36576">
                    <a:solidFill>
                      <a:srgbClr val="2D2D2D"/>
                    </a:solidFill>
                  </a:tcPr>
                </a:tc>
                <a:tc>
                  <a:txBody>
                    <a:bodyPr/>
                    <a:lstStyle/>
                    <a:p>
                      <a:pPr>
                        <a:defRPr sz="900" b="1">
                          <a:solidFill>
                            <a:srgbClr val="FFFFFF"/>
                          </a:solidFill>
                          <a:latin typeface="Arial"/>
                        </a:defRPr>
                      </a:pPr>
                      <a:r>
                        <a:t>Severity</a:t>
                      </a:r>
                    </a:p>
                  </a:txBody>
                  <a:tcPr marL="73152" marR="73152" marT="36576" marB="36576">
                    <a:solidFill>
                      <a:srgbClr val="2D2D2D"/>
                    </a:solidFill>
                  </a:tcPr>
                </a:tc>
                <a:tc>
                  <a:txBody>
                    <a:bodyPr/>
                    <a:lstStyle/>
                    <a:p>
                      <a:pPr>
                        <a:defRPr sz="900" b="1">
                          <a:solidFill>
                            <a:srgbClr val="FFFFFF"/>
                          </a:solidFill>
                          <a:latin typeface="Arial"/>
                        </a:defRPr>
                      </a:pPr>
                      <a:r>
                        <a:t>Mitigation Strategy</a:t>
                      </a:r>
                    </a:p>
                  </a:txBody>
                  <a:tcPr marL="73152" marR="73152" marT="36576" marB="36576">
                    <a:solidFill>
                      <a:srgbClr val="2D2D2D"/>
                    </a:solidFill>
                  </a:tcPr>
                </a:tc>
              </a:tr>
              <a:tr h="390698">
                <a:tc>
                  <a:txBody>
                    <a:bodyPr/>
                    <a:lstStyle/>
                    <a:p>
                      <a:pPr>
                        <a:defRPr sz="900">
                          <a:solidFill>
                            <a:srgbClr val="4A4A4A"/>
                          </a:solidFill>
                          <a:latin typeface="Arial"/>
                        </a:defRPr>
                      </a:pPr>
                      <a:r>
                        <a:t>1</a:t>
                      </a:r>
                    </a:p>
                  </a:txBody>
                  <a:tcPr marL="73152" marR="73152" marT="36576" marB="36576">
                    <a:solidFill>
                      <a:srgbClr val="FFFFFF"/>
                    </a:solidFill>
                  </a:tcPr>
                </a:tc>
                <a:tc>
                  <a:txBody>
                    <a:bodyPr/>
                    <a:lstStyle/>
                    <a:p>
                      <a:pPr>
                        <a:defRPr sz="900">
                          <a:solidFill>
                            <a:srgbClr val="4A4A4A"/>
                          </a:solidFill>
                          <a:latin typeface="Arial"/>
                        </a:defRPr>
                      </a:pPr>
                      <a:r>
                        <a:t>Talent Attrition</a:t>
                      </a:r>
                    </a:p>
                  </a:txBody>
                  <a:tcPr marL="73152" marR="73152" marT="36576" marB="36576">
                    <a:solidFill>
                      <a:srgbClr val="FFFFFF"/>
                    </a:solidFill>
                  </a:tcPr>
                </a:tc>
                <a:tc>
                  <a:txBody>
                    <a:bodyPr/>
                    <a:lstStyle/>
                    <a:p>
                      <a:pPr>
                        <a:defRPr sz="900">
                          <a:solidFill>
                            <a:srgbClr val="4A4A4A"/>
                          </a:solidFill>
                          <a:latin typeface="Arial"/>
                        </a:defRPr>
                      </a:pPr>
                      <a:r>
                        <a:t>HIGH</a:t>
                      </a:r>
                    </a:p>
                  </a:txBody>
                  <a:tcPr marL="73152" marR="73152" marT="36576" marB="36576">
                    <a:solidFill>
                      <a:srgbClr val="FFFFFF"/>
                    </a:solidFill>
                  </a:tcPr>
                </a:tc>
                <a:tc>
                  <a:txBody>
                    <a:bodyPr/>
                    <a:lstStyle/>
                    <a:p>
                      <a:pPr>
                        <a:defRPr sz="900">
                          <a:solidFill>
                            <a:srgbClr val="4A4A4A"/>
                          </a:solidFill>
                          <a:latin typeface="Arial"/>
                        </a:defRPr>
                      </a:pPr>
                      <a:r>
                        <a:t>Multi-city model + ESOPs/RSUs + differentiated EVP</a:t>
                      </a:r>
                    </a:p>
                  </a:txBody>
                  <a:tcPr marL="73152" marR="73152" marT="36576" marB="36576">
                    <a:solidFill>
                      <a:srgbClr val="FFFFFF"/>
                    </a:solidFill>
                  </a:tcPr>
                </a:tc>
              </a:tr>
              <a:tr h="390698">
                <a:tc>
                  <a:txBody>
                    <a:bodyPr/>
                    <a:lstStyle/>
                    <a:p>
                      <a:pPr>
                        <a:defRPr sz="900">
                          <a:solidFill>
                            <a:srgbClr val="4A4A4A"/>
                          </a:solidFill>
                          <a:latin typeface="Arial"/>
                        </a:defRPr>
                      </a:pPr>
                      <a:r>
                        <a:t>2</a:t>
                      </a:r>
                    </a:p>
                  </a:txBody>
                  <a:tcPr marL="73152" marR="73152" marT="36576" marB="36576">
                    <a:solidFill>
                      <a:srgbClr val="F5F5F5"/>
                    </a:solidFill>
                  </a:tcPr>
                </a:tc>
                <a:tc>
                  <a:txBody>
                    <a:bodyPr/>
                    <a:lstStyle/>
                    <a:p>
                      <a:pPr>
                        <a:defRPr sz="900">
                          <a:solidFill>
                            <a:srgbClr val="4A4A4A"/>
                          </a:solidFill>
                          <a:latin typeface="Arial"/>
                        </a:defRPr>
                      </a:pPr>
                      <a:r>
                        <a:t>GCC-to-GCC Poaching</a:t>
                      </a:r>
                    </a:p>
                  </a:txBody>
                  <a:tcPr marL="73152" marR="73152" marT="36576" marB="36576">
                    <a:solidFill>
                      <a:srgbClr val="F5F5F5"/>
                    </a:solidFill>
                  </a:tcPr>
                </a:tc>
                <a:tc>
                  <a:txBody>
                    <a:bodyPr/>
                    <a:lstStyle/>
                    <a:p>
                      <a:pPr>
                        <a:defRPr sz="900">
                          <a:solidFill>
                            <a:srgbClr val="4A4A4A"/>
                          </a:solidFill>
                          <a:latin typeface="Arial"/>
                        </a:defRPr>
                      </a:pPr>
                      <a:r>
                        <a:t>HIGH</a:t>
                      </a:r>
                    </a:p>
                  </a:txBody>
                  <a:tcPr marL="73152" marR="73152" marT="36576" marB="36576">
                    <a:solidFill>
                      <a:srgbClr val="F5F5F5"/>
                    </a:solidFill>
                  </a:tcPr>
                </a:tc>
                <a:tc>
                  <a:txBody>
                    <a:bodyPr/>
                    <a:lstStyle/>
                    <a:p>
                      <a:pPr>
                        <a:defRPr sz="900">
                          <a:solidFill>
                            <a:srgbClr val="4A4A4A"/>
                          </a:solidFill>
                          <a:latin typeface="Arial"/>
                        </a:defRPr>
                      </a:pPr>
                      <a:r>
                        <a:t>Unique EVP positioning; 'founding member' advantage</a:t>
                      </a:r>
                    </a:p>
                  </a:txBody>
                  <a:tcPr marL="73152" marR="73152" marT="36576" marB="36576">
                    <a:solidFill>
                      <a:srgbClr val="F5F5F5"/>
                    </a:solidFill>
                  </a:tcPr>
                </a:tc>
              </a:tr>
              <a:tr h="390698">
                <a:tc>
                  <a:txBody>
                    <a:bodyPr/>
                    <a:lstStyle/>
                    <a:p>
                      <a:pPr>
                        <a:defRPr sz="900">
                          <a:solidFill>
                            <a:srgbClr val="4A4A4A"/>
                          </a:solidFill>
                          <a:latin typeface="Arial"/>
                        </a:defRPr>
                      </a:pPr>
                      <a:r>
                        <a:t>3</a:t>
                      </a:r>
                    </a:p>
                  </a:txBody>
                  <a:tcPr marL="73152" marR="73152" marT="36576" marB="36576">
                    <a:solidFill>
                      <a:srgbClr val="FFFFFF"/>
                    </a:solidFill>
                  </a:tcPr>
                </a:tc>
                <a:tc>
                  <a:txBody>
                    <a:bodyPr/>
                    <a:lstStyle/>
                    <a:p>
                      <a:pPr>
                        <a:defRPr sz="900">
                          <a:solidFill>
                            <a:srgbClr val="4A4A4A"/>
                          </a:solidFill>
                          <a:latin typeface="Arial"/>
                        </a:defRPr>
                      </a:pPr>
                      <a:r>
                        <a:t>Regulatory Change</a:t>
                      </a:r>
                    </a:p>
                  </a:txBody>
                  <a:tcPr marL="73152" marR="73152" marT="36576" marB="36576">
                    <a:solidFill>
                      <a:srgbClr val="FFFFFF"/>
                    </a:solidFill>
                  </a:tcPr>
                </a:tc>
                <a:tc>
                  <a:txBody>
                    <a:bodyPr/>
                    <a:lstStyle/>
                    <a:p>
                      <a:pPr>
                        <a:defRPr sz="900">
                          <a:solidFill>
                            <a:srgbClr val="4A4A4A"/>
                          </a:solidFill>
                          <a:latin typeface="Arial"/>
                        </a:defRPr>
                      </a:pPr>
                      <a:r>
                        <a:t>MEDIUM</a:t>
                      </a:r>
                    </a:p>
                  </a:txBody>
                  <a:tcPr marL="73152" marR="73152" marT="36576" marB="36576">
                    <a:solidFill>
                      <a:srgbClr val="FFFFFF"/>
                    </a:solidFill>
                  </a:tcPr>
                </a:tc>
                <a:tc>
                  <a:txBody>
                    <a:bodyPr/>
                    <a:lstStyle/>
                    <a:p>
                      <a:pPr>
                        <a:defRPr sz="900">
                          <a:solidFill>
                            <a:srgbClr val="4A4A4A"/>
                          </a:solidFill>
                          <a:latin typeface="Arial"/>
                        </a:defRPr>
                      </a:pPr>
                      <a:r>
                        <a:t>GCC classified as in-house under RBI (not outsourced)</a:t>
                      </a:r>
                    </a:p>
                  </a:txBody>
                  <a:tcPr marL="73152" marR="73152" marT="36576" marB="36576">
                    <a:solidFill>
                      <a:srgbClr val="FFFFFF"/>
                    </a:solidFill>
                  </a:tcPr>
                </a:tc>
              </a:tr>
              <a:tr h="390698">
                <a:tc>
                  <a:txBody>
                    <a:bodyPr/>
                    <a:lstStyle/>
                    <a:p>
                      <a:pPr>
                        <a:defRPr sz="900">
                          <a:solidFill>
                            <a:srgbClr val="4A4A4A"/>
                          </a:solidFill>
                          <a:latin typeface="Arial"/>
                        </a:defRPr>
                      </a:pPr>
                      <a:r>
                        <a:t>4</a:t>
                      </a:r>
                    </a:p>
                  </a:txBody>
                  <a:tcPr marL="73152" marR="73152" marT="36576" marB="36576">
                    <a:solidFill>
                      <a:srgbClr val="F5F5F5"/>
                    </a:solidFill>
                  </a:tcPr>
                </a:tc>
                <a:tc>
                  <a:txBody>
                    <a:bodyPr/>
                    <a:lstStyle/>
                    <a:p>
                      <a:pPr>
                        <a:defRPr sz="900">
                          <a:solidFill>
                            <a:srgbClr val="4A4A4A"/>
                          </a:solidFill>
                          <a:latin typeface="Arial"/>
                        </a:defRPr>
                      </a:pPr>
                      <a:r>
                        <a:t>Data Breach</a:t>
                      </a:r>
                    </a:p>
                  </a:txBody>
                  <a:tcPr marL="73152" marR="73152" marT="36576" marB="36576">
                    <a:solidFill>
                      <a:srgbClr val="F5F5F5"/>
                    </a:solidFill>
                  </a:tcPr>
                </a:tc>
                <a:tc>
                  <a:txBody>
                    <a:bodyPr/>
                    <a:lstStyle/>
                    <a:p>
                      <a:pPr>
                        <a:defRPr sz="900">
                          <a:solidFill>
                            <a:srgbClr val="4A4A4A"/>
                          </a:solidFill>
                          <a:latin typeface="Arial"/>
                        </a:defRPr>
                      </a:pPr>
                      <a:r>
                        <a:t>HIGH</a:t>
                      </a:r>
                    </a:p>
                  </a:txBody>
                  <a:tcPr marL="73152" marR="73152" marT="36576" marB="36576">
                    <a:solidFill>
                      <a:srgbClr val="F5F5F5"/>
                    </a:solidFill>
                  </a:tcPr>
                </a:tc>
                <a:tc>
                  <a:txBody>
                    <a:bodyPr/>
                    <a:lstStyle/>
                    <a:p>
                      <a:pPr>
                        <a:defRPr sz="900">
                          <a:solidFill>
                            <a:srgbClr val="4A4A4A"/>
                          </a:solidFill>
                          <a:latin typeface="Arial"/>
                        </a:defRPr>
                      </a:pPr>
                      <a:r>
                        <a:t>Captive perimeter; no multi-tenant risk; SOC 2 controls</a:t>
                      </a:r>
                    </a:p>
                  </a:txBody>
                  <a:tcPr marL="73152" marR="73152" marT="36576" marB="36576">
                    <a:solidFill>
                      <a:srgbClr val="F5F5F5"/>
                    </a:solidFill>
                  </a:tcPr>
                </a:tc>
              </a:tr>
              <a:tr h="390698">
                <a:tc>
                  <a:txBody>
                    <a:bodyPr/>
                    <a:lstStyle/>
                    <a:p>
                      <a:pPr>
                        <a:defRPr sz="900">
                          <a:solidFill>
                            <a:srgbClr val="4A4A4A"/>
                          </a:solidFill>
                          <a:latin typeface="Arial"/>
                        </a:defRPr>
                      </a:pPr>
                      <a:r>
                        <a:t>5</a:t>
                      </a:r>
                    </a:p>
                  </a:txBody>
                  <a:tcPr marL="73152" marR="73152" marT="36576" marB="36576">
                    <a:solidFill>
                      <a:srgbClr val="FFFFFF"/>
                    </a:solidFill>
                  </a:tcPr>
                </a:tc>
                <a:tc>
                  <a:txBody>
                    <a:bodyPr/>
                    <a:lstStyle/>
                    <a:p>
                      <a:pPr>
                        <a:defRPr sz="900">
                          <a:solidFill>
                            <a:srgbClr val="4A4A4A"/>
                          </a:solidFill>
                          <a:latin typeface="Arial"/>
                        </a:defRPr>
                      </a:pPr>
                      <a:r>
                        <a:t>Cost Overrun</a:t>
                      </a:r>
                    </a:p>
                  </a:txBody>
                  <a:tcPr marL="73152" marR="73152" marT="36576" marB="36576">
                    <a:solidFill>
                      <a:srgbClr val="FFFFFF"/>
                    </a:solidFill>
                  </a:tcPr>
                </a:tc>
                <a:tc>
                  <a:txBody>
                    <a:bodyPr/>
                    <a:lstStyle/>
                    <a:p>
                      <a:pPr>
                        <a:defRPr sz="900">
                          <a:solidFill>
                            <a:srgbClr val="4A4A4A"/>
                          </a:solidFill>
                          <a:latin typeface="Arial"/>
                        </a:defRPr>
                      </a:pPr>
                      <a:r>
                        <a:t>MEDIUM</a:t>
                      </a:r>
                    </a:p>
                  </a:txBody>
                  <a:tcPr marL="73152" marR="73152" marT="36576" marB="36576">
                    <a:solidFill>
                      <a:srgbClr val="FFFFFF"/>
                    </a:solidFill>
                  </a:tcPr>
                </a:tc>
                <a:tc>
                  <a:txBody>
                    <a:bodyPr/>
                    <a:lstStyle/>
                    <a:p>
                      <a:pPr>
                        <a:defRPr sz="900">
                          <a:solidFill>
                            <a:srgbClr val="4A4A4A"/>
                          </a:solidFill>
                          <a:latin typeface="Arial"/>
                        </a:defRPr>
                      </a:pPr>
                      <a:r>
                        <a:t>BOT model for initial phase; phased scaling</a:t>
                      </a:r>
                    </a:p>
                  </a:txBody>
                  <a:tcPr marL="73152" marR="73152" marT="36576" marB="36576">
                    <a:solidFill>
                      <a:srgbClr val="FFFFFF"/>
                    </a:solidFill>
                  </a:tcPr>
                </a:tc>
              </a:tr>
              <a:tr h="390698">
                <a:tc>
                  <a:txBody>
                    <a:bodyPr/>
                    <a:lstStyle/>
                    <a:p>
                      <a:pPr>
                        <a:defRPr sz="900">
                          <a:solidFill>
                            <a:srgbClr val="4A4A4A"/>
                          </a:solidFill>
                          <a:latin typeface="Arial"/>
                        </a:defRPr>
                      </a:pPr>
                      <a:r>
                        <a:t>6</a:t>
                      </a:r>
                    </a:p>
                  </a:txBody>
                  <a:tcPr marL="73152" marR="73152" marT="36576" marB="36576">
                    <a:solidFill>
                      <a:srgbClr val="F5F5F5"/>
                    </a:solidFill>
                  </a:tcPr>
                </a:tc>
                <a:tc>
                  <a:txBody>
                    <a:bodyPr/>
                    <a:lstStyle/>
                    <a:p>
                      <a:pPr>
                        <a:defRPr sz="900">
                          <a:solidFill>
                            <a:srgbClr val="4A4A4A"/>
                          </a:solidFill>
                          <a:latin typeface="Arial"/>
                        </a:defRPr>
                      </a:pPr>
                      <a:r>
                        <a:t>Knowledge Transfer</a:t>
                      </a:r>
                    </a:p>
                  </a:txBody>
                  <a:tcPr marL="73152" marR="73152" marT="36576" marB="36576">
                    <a:solidFill>
                      <a:srgbClr val="F5F5F5"/>
                    </a:solidFill>
                  </a:tcPr>
                </a:tc>
                <a:tc>
                  <a:txBody>
                    <a:bodyPr/>
                    <a:lstStyle/>
                    <a:p>
                      <a:pPr>
                        <a:defRPr sz="900">
                          <a:solidFill>
                            <a:srgbClr val="4A4A4A"/>
                          </a:solidFill>
                          <a:latin typeface="Arial"/>
                        </a:defRPr>
                      </a:pPr>
                      <a:r>
                        <a:t>MEDIUM</a:t>
                      </a:r>
                    </a:p>
                  </a:txBody>
                  <a:tcPr marL="73152" marR="73152" marT="36576" marB="36576">
                    <a:solidFill>
                      <a:srgbClr val="F5F5F5"/>
                    </a:solidFill>
                  </a:tcPr>
                </a:tc>
                <a:tc>
                  <a:txBody>
                    <a:bodyPr/>
                    <a:lstStyle/>
                    <a:p>
                      <a:pPr>
                        <a:defRPr sz="900">
                          <a:solidFill>
                            <a:srgbClr val="4A4A4A"/>
                          </a:solidFill>
                          <a:latin typeface="Arial"/>
                        </a:defRPr>
                      </a:pPr>
                      <a:r>
                        <a:t>90-day structured cycles; overlap periods</a:t>
                      </a:r>
                    </a:p>
                  </a:txBody>
                  <a:tcPr marL="73152" marR="73152" marT="36576" marB="36576">
                    <a:solidFill>
                      <a:srgbClr val="F5F5F5"/>
                    </a:solidFill>
                  </a:tcPr>
                </a:tc>
              </a:tr>
              <a:tr h="390698">
                <a:tc>
                  <a:txBody>
                    <a:bodyPr/>
                    <a:lstStyle/>
                    <a:p>
                      <a:pPr>
                        <a:defRPr sz="900">
                          <a:solidFill>
                            <a:srgbClr val="4A4A4A"/>
                          </a:solidFill>
                          <a:latin typeface="Arial"/>
                        </a:defRPr>
                      </a:pPr>
                      <a:r>
                        <a:t>7</a:t>
                      </a:r>
                    </a:p>
                  </a:txBody>
                  <a:tcPr marL="73152" marR="73152" marT="36576" marB="36576">
                    <a:solidFill>
                      <a:srgbClr val="FFFFFF"/>
                    </a:solidFill>
                  </a:tcPr>
                </a:tc>
                <a:tc>
                  <a:txBody>
                    <a:bodyPr/>
                    <a:lstStyle/>
                    <a:p>
                      <a:pPr>
                        <a:defRPr sz="900">
                          <a:solidFill>
                            <a:srgbClr val="4A4A4A"/>
                          </a:solidFill>
                          <a:latin typeface="Arial"/>
                        </a:defRPr>
                      </a:pPr>
                      <a:r>
                        <a:t>Geopolitical Disruption</a:t>
                      </a:r>
                    </a:p>
                  </a:txBody>
                  <a:tcPr marL="73152" marR="73152" marT="36576" marB="36576">
                    <a:solidFill>
                      <a:srgbClr val="FFFFFF"/>
                    </a:solidFill>
                  </a:tcPr>
                </a:tc>
                <a:tc>
                  <a:txBody>
                    <a:bodyPr/>
                    <a:lstStyle/>
                    <a:p>
                      <a:pPr>
                        <a:defRPr sz="900">
                          <a:solidFill>
                            <a:srgbClr val="4A4A4A"/>
                          </a:solidFill>
                          <a:latin typeface="Arial"/>
                        </a:defRPr>
                      </a:pPr>
                      <a:r>
                        <a:t>LOW</a:t>
                      </a:r>
                    </a:p>
                  </a:txBody>
                  <a:tcPr marL="73152" marR="73152" marT="36576" marB="36576">
                    <a:solidFill>
                      <a:srgbClr val="FFFFFF"/>
                    </a:solidFill>
                  </a:tcPr>
                </a:tc>
                <a:tc>
                  <a:txBody>
                    <a:bodyPr/>
                    <a:lstStyle/>
                    <a:p>
                      <a:pPr>
                        <a:defRPr sz="900">
                          <a:solidFill>
                            <a:srgbClr val="4A4A4A"/>
                          </a:solidFill>
                          <a:latin typeface="Arial"/>
                        </a:defRPr>
                      </a:pPr>
                      <a:r>
                        <a:t>India's non-aligned posture + multi-city BCP</a:t>
                      </a:r>
                    </a:p>
                  </a:txBody>
                  <a:tcPr marL="73152" marR="73152" marT="36576" marB="36576">
                    <a:solidFill>
                      <a:srgbClr val="FFFFFF"/>
                    </a:solidFill>
                  </a:tcPr>
                </a:tc>
              </a:tr>
              <a:tr h="390698">
                <a:tc>
                  <a:txBody>
                    <a:bodyPr/>
                    <a:lstStyle/>
                    <a:p>
                      <a:pPr>
                        <a:defRPr sz="900">
                          <a:solidFill>
                            <a:srgbClr val="4A4A4A"/>
                          </a:solidFill>
                          <a:latin typeface="Arial"/>
                        </a:defRPr>
                      </a:pPr>
                      <a:r>
                        <a:t>8</a:t>
                      </a:r>
                    </a:p>
                  </a:txBody>
                  <a:tcPr marL="73152" marR="73152" marT="36576" marB="36576">
                    <a:solidFill>
                      <a:srgbClr val="F5F5F5"/>
                    </a:solidFill>
                  </a:tcPr>
                </a:tc>
                <a:tc>
                  <a:txBody>
                    <a:bodyPr/>
                    <a:lstStyle/>
                    <a:p>
                      <a:pPr>
                        <a:defRPr sz="900">
                          <a:solidFill>
                            <a:srgbClr val="4A4A4A"/>
                          </a:solidFill>
                          <a:latin typeface="Arial"/>
                        </a:defRPr>
                      </a:pPr>
                      <a:r>
                        <a:t>Real Estate Inflation</a:t>
                      </a:r>
                    </a:p>
                  </a:txBody>
                  <a:tcPr marL="73152" marR="73152" marT="36576" marB="36576">
                    <a:solidFill>
                      <a:srgbClr val="F5F5F5"/>
                    </a:solidFill>
                  </a:tcPr>
                </a:tc>
                <a:tc>
                  <a:txBody>
                    <a:bodyPr/>
                    <a:lstStyle/>
                    <a:p>
                      <a:pPr>
                        <a:defRPr sz="900">
                          <a:solidFill>
                            <a:srgbClr val="4A4A4A"/>
                          </a:solidFill>
                          <a:latin typeface="Arial"/>
                        </a:defRPr>
                      </a:pPr>
                      <a:r>
                        <a:t>MEDIUM</a:t>
                      </a:r>
                    </a:p>
                  </a:txBody>
                  <a:tcPr marL="73152" marR="73152" marT="36576" marB="36576">
                    <a:solidFill>
                      <a:srgbClr val="F5F5F5"/>
                    </a:solidFill>
                  </a:tcPr>
                </a:tc>
                <a:tc>
                  <a:txBody>
                    <a:bodyPr/>
                    <a:lstStyle/>
                    <a:p>
                      <a:pPr>
                        <a:defRPr sz="900">
                          <a:solidFill>
                            <a:srgbClr val="4A4A4A"/>
                          </a:solidFill>
                          <a:latin typeface="Arial"/>
                        </a:defRPr>
                      </a:pPr>
                      <a:r>
                        <a:t>Tier-2 satellites (30-40% savings); flex spaces</a:t>
                      </a:r>
                    </a:p>
                  </a:txBody>
                  <a:tcPr marL="73152" marR="73152" marT="36576" marB="36576">
                    <a:solidFill>
                      <a:srgbClr val="F5F5F5"/>
                    </a:solidFill>
                  </a:tcPr>
                </a:tc>
              </a:tr>
              <a:tr h="390698">
                <a:tc>
                  <a:txBody>
                    <a:bodyPr/>
                    <a:lstStyle/>
                    <a:p>
                      <a:pPr>
                        <a:defRPr sz="900">
                          <a:solidFill>
                            <a:srgbClr val="4A4A4A"/>
                          </a:solidFill>
                          <a:latin typeface="Arial"/>
                        </a:defRPr>
                      </a:pPr>
                      <a:r>
                        <a:t>9</a:t>
                      </a:r>
                    </a:p>
                  </a:txBody>
                  <a:tcPr marL="73152" marR="73152" marT="36576" marB="36576">
                    <a:solidFill>
                      <a:srgbClr val="FFFFFF"/>
                    </a:solidFill>
                  </a:tcPr>
                </a:tc>
                <a:tc>
                  <a:txBody>
                    <a:bodyPr/>
                    <a:lstStyle/>
                    <a:p>
                      <a:pPr>
                        <a:defRPr sz="900">
                          <a:solidFill>
                            <a:srgbClr val="4A4A4A"/>
                          </a:solidFill>
                          <a:latin typeface="Arial"/>
                        </a:defRPr>
                      </a:pPr>
                      <a:r>
                        <a:t>Salary Inflation (10.4%)</a:t>
                      </a:r>
                    </a:p>
                  </a:txBody>
                  <a:tcPr marL="73152" marR="73152" marT="36576" marB="36576">
                    <a:solidFill>
                      <a:srgbClr val="FFFFFF"/>
                    </a:solidFill>
                  </a:tcPr>
                </a:tc>
                <a:tc>
                  <a:txBody>
                    <a:bodyPr/>
                    <a:lstStyle/>
                    <a:p>
                      <a:pPr>
                        <a:defRPr sz="900">
                          <a:solidFill>
                            <a:srgbClr val="4A4A4A"/>
                          </a:solidFill>
                          <a:latin typeface="Arial"/>
                        </a:defRPr>
                      </a:pPr>
                      <a:r>
                        <a:t>HIGH</a:t>
                      </a:r>
                    </a:p>
                  </a:txBody>
                  <a:tcPr marL="73152" marR="73152" marT="36576" marB="36576">
                    <a:solidFill>
                      <a:srgbClr val="FFFFFF"/>
                    </a:solidFill>
                  </a:tcPr>
                </a:tc>
                <a:tc>
                  <a:txBody>
                    <a:bodyPr/>
                    <a:lstStyle/>
                    <a:p>
                      <a:pPr>
                        <a:defRPr sz="900">
                          <a:solidFill>
                            <a:srgbClr val="4A4A4A"/>
                          </a:solidFill>
                          <a:latin typeface="Arial"/>
                        </a:defRPr>
                      </a:pPr>
                      <a:r>
                        <a:t>Long-term incentives; variable pay optimization</a:t>
                      </a:r>
                    </a:p>
                  </a:txBody>
                  <a:tcPr marL="73152" marR="73152" marT="36576" marB="36576">
                    <a:solidFill>
                      <a:srgbClr val="FFFFFF"/>
                    </a:solidFill>
                  </a:tcPr>
                </a:tc>
              </a:tr>
              <a:tr h="390700">
                <a:tc>
                  <a:txBody>
                    <a:bodyPr/>
                    <a:lstStyle/>
                    <a:p>
                      <a:pPr>
                        <a:defRPr sz="900">
                          <a:solidFill>
                            <a:srgbClr val="4A4A4A"/>
                          </a:solidFill>
                          <a:latin typeface="Arial"/>
                        </a:defRPr>
                      </a:pPr>
                      <a:r>
                        <a:t>10</a:t>
                      </a:r>
                    </a:p>
                  </a:txBody>
                  <a:tcPr marL="73152" marR="73152" marT="36576" marB="36576">
                    <a:solidFill>
                      <a:srgbClr val="F5F5F5"/>
                    </a:solidFill>
                  </a:tcPr>
                </a:tc>
                <a:tc>
                  <a:txBody>
                    <a:bodyPr/>
                    <a:lstStyle/>
                    <a:p>
                      <a:pPr>
                        <a:defRPr sz="900">
                          <a:solidFill>
                            <a:srgbClr val="4A4A4A"/>
                          </a:solidFill>
                          <a:latin typeface="Arial"/>
                        </a:defRPr>
                      </a:pPr>
                      <a:r>
                        <a:t>Execution Delay</a:t>
                      </a:r>
                    </a:p>
                  </a:txBody>
                  <a:tcPr marL="73152" marR="73152" marT="36576" marB="36576">
                    <a:solidFill>
                      <a:srgbClr val="F5F5F5"/>
                    </a:solidFill>
                  </a:tcPr>
                </a:tc>
                <a:tc>
                  <a:txBody>
                    <a:bodyPr/>
                    <a:lstStyle/>
                    <a:p>
                      <a:pPr>
                        <a:defRPr sz="900">
                          <a:solidFill>
                            <a:srgbClr val="4A4A4A"/>
                          </a:solidFill>
                          <a:latin typeface="Arial"/>
                        </a:defRPr>
                      </a:pPr>
                      <a:r>
                        <a:t>MEDIUM</a:t>
                      </a:r>
                    </a:p>
                  </a:txBody>
                  <a:tcPr marL="73152" marR="73152" marT="36576" marB="36576">
                    <a:solidFill>
                      <a:srgbClr val="F5F5F5"/>
                    </a:solidFill>
                  </a:tcPr>
                </a:tc>
                <a:tc>
                  <a:txBody>
                    <a:bodyPr/>
                    <a:lstStyle/>
                    <a:p>
                      <a:pPr>
                        <a:defRPr sz="900">
                          <a:solidFill>
                            <a:srgbClr val="4A4A4A"/>
                          </a:solidFill>
                          <a:latin typeface="Arial"/>
                        </a:defRPr>
                      </a:pPr>
                      <a:r>
                        <a:t>BOT partner model: operational in 4-6 months</a:t>
                      </a:r>
                    </a:p>
                  </a:txBody>
                  <a:tcPr marL="73152" marR="73152" marT="36576" marB="36576">
                    <a:solidFill>
                      <a:srgbClr val="F5F5F5"/>
                    </a:solidFill>
                  </a:tcPr>
                </a:tc>
              </a:tr>
            </a:tbl>
          </a:graphicData>
        </a:graphic>
      </p:graphicFrame>
      <p:sp>
        <p:nvSpPr>
          <p:cNvPr id="5" name="Rectangle 4"/>
          <p:cNvSpPr/>
          <p:nvPr/>
        </p:nvSpPr>
        <p:spPr>
          <a:xfrm>
            <a:off x="0" y="6080760"/>
            <a:ext cx="12191695" cy="36576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wrap="square" lIns="640080" tIns="63500"/>
          <a:lstStyle/>
          <a:p>
            <a:pPr algn="l">
              <a:defRPr sz="1000" b="1">
                <a:solidFill>
                  <a:srgbClr val="2D2D2D"/>
                </a:solidFill>
                <a:latin typeface="Arial"/>
              </a:defRPr>
            </a:pPr>
            <a:r>
              <a:t>SO WHAT: Every risk on this register has a proven mitigation — inaction risk now exceeds GCC setup risk</a:t>
            </a:r>
          </a:p>
        </p:txBody>
      </p:sp>
      <p:sp>
        <p:nvSpPr>
          <p:cNvPr id="6" name="TextBox 5"/>
          <p:cNvSpPr txBox="1"/>
          <p:nvPr/>
        </p:nvSpPr>
        <p:spPr>
          <a:xfrm>
            <a:off x="11247120" y="6537960"/>
            <a:ext cx="731520" cy="228600"/>
          </a:xfrm>
          <a:prstGeom prst="rect">
            <a:avLst/>
          </a:prstGeom>
          <a:noFill/>
        </p:spPr>
        <p:txBody>
          <a:bodyPr wrap="square">
            <a:spAutoFit/>
          </a:bodyPr>
          <a:lstStyle/>
          <a:p>
            <a:pPr algn="r">
              <a:lnSpc>
                <a:spcPts val="910"/>
              </a:lnSpc>
              <a:spcAft>
                <a:spcPts val="0"/>
              </a:spcAft>
              <a:defRPr sz="700" b="1">
                <a:solidFill>
                  <a:srgbClr val="666666"/>
                </a:solidFill>
                <a:latin typeface="Arial"/>
              </a:defRPr>
            </a:pPr>
            <a:r>
              <a:t>13</a:t>
            </a:r>
          </a:p>
        </p:txBody>
      </p:sp>
      <p:sp>
        <p:nvSpPr>
          <p:cNvPr id="7" name="TextBox 6"/>
          <p:cNvSpPr txBox="1"/>
          <p:nvPr/>
        </p:nvSpPr>
        <p:spPr>
          <a:xfrm>
            <a:off x="640080" y="6537960"/>
            <a:ext cx="10058400" cy="228600"/>
          </a:xfrm>
          <a:prstGeom prst="rect">
            <a:avLst/>
          </a:prstGeom>
          <a:noFill/>
        </p:spPr>
        <p:txBody>
          <a:bodyPr wrap="square">
            <a:spAutoFit/>
          </a:bodyPr>
          <a:lstStyle/>
          <a:p>
            <a:pPr algn="l">
              <a:lnSpc>
                <a:spcPts val="910"/>
              </a:lnSpc>
              <a:spcAft>
                <a:spcPts val="0"/>
              </a:spcAft>
              <a:defRPr sz="700" b="0">
                <a:solidFill>
                  <a:srgbClr val="666666"/>
                </a:solidFill>
                <a:latin typeface="Arial"/>
              </a:defRPr>
            </a:pPr>
            <a:r>
              <a:t>Sources: Zinnov, ANSR, Everest Group, FINMA, RBI</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137160"/>
            <a:ext cx="4572000" cy="228600"/>
          </a:xfrm>
          <a:prstGeom prst="rect">
            <a:avLst/>
          </a:prstGeom>
          <a:noFill/>
        </p:spPr>
        <p:txBody>
          <a:bodyPr wrap="square">
            <a:spAutoFit/>
          </a:bodyPr>
          <a:lstStyle/>
          <a:p>
            <a:pPr algn="l">
              <a:lnSpc>
                <a:spcPts val="1170"/>
              </a:lnSpc>
              <a:spcAft>
                <a:spcPts val="0"/>
              </a:spcAft>
              <a:defRPr sz="900" b="1">
                <a:solidFill>
                  <a:srgbClr val="E84D0E"/>
                </a:solidFill>
                <a:latin typeface="Arial"/>
              </a:defRPr>
            </a:pPr>
            <a:r>
              <a:t>RECOMMENDED MODEL</a:t>
            </a:r>
          </a:p>
        </p:txBody>
      </p:sp>
      <p:sp>
        <p:nvSpPr>
          <p:cNvPr id="3" name="TextBox 2"/>
          <p:cNvSpPr txBox="1"/>
          <p:nvPr/>
        </p:nvSpPr>
        <p:spPr>
          <a:xfrm>
            <a:off x="640080" y="320040"/>
            <a:ext cx="10881360" cy="822960"/>
          </a:xfrm>
          <a:prstGeom prst="rect">
            <a:avLst/>
          </a:prstGeom>
          <a:noFill/>
        </p:spPr>
        <p:txBody>
          <a:bodyPr wrap="square">
            <a:spAutoFit/>
          </a:bodyPr>
          <a:lstStyle/>
          <a:p>
            <a:pPr algn="l">
              <a:lnSpc>
                <a:spcPts val="3380"/>
              </a:lnSpc>
              <a:spcAft>
                <a:spcPts val="0"/>
              </a:spcAft>
              <a:defRPr sz="2600" b="1">
                <a:solidFill>
                  <a:srgbClr val="1A1A1A"/>
                </a:solidFill>
                <a:latin typeface="Arial"/>
              </a:defRPr>
            </a:pPr>
            <a:r>
              <a:t>Hybrid GCC: Captive Core with BOT Entry and Selective Outsourcing</a:t>
            </a:r>
          </a:p>
        </p:txBody>
      </p:sp>
      <p:sp>
        <p:nvSpPr>
          <p:cNvPr id="4" name="Chevron 3"/>
          <p:cNvSpPr/>
          <p:nvPr/>
        </p:nvSpPr>
        <p:spPr>
          <a:xfrm>
            <a:off x="640080" y="1371600"/>
            <a:ext cx="2665476" cy="548640"/>
          </a:xfrm>
          <a:prstGeom prst="chevron">
            <a:avLst/>
          </a:prstGeom>
          <a:solidFill>
            <a:srgbClr val="E84D0E"/>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0" tIns="25400"/>
          <a:lstStyle/>
          <a:p>
            <a:pPr algn="ctr">
              <a:defRPr sz="900" b="1">
                <a:solidFill>
                  <a:srgbClr val="FFFFFF"/>
                </a:solidFill>
                <a:latin typeface="Arial"/>
              </a:defRPr>
            </a:pPr>
            <a:r>
              <a:t>PHASE 1: BOT</a:t>
            </a:r>
          </a:p>
        </p:txBody>
      </p:sp>
      <p:sp>
        <p:nvSpPr>
          <p:cNvPr id="5" name="Chevron 4"/>
          <p:cNvSpPr/>
          <p:nvPr/>
        </p:nvSpPr>
        <p:spPr>
          <a:xfrm>
            <a:off x="3378708" y="1371600"/>
            <a:ext cx="2665476" cy="548640"/>
          </a:xfrm>
          <a:prstGeom prst="chevron">
            <a:avLst/>
          </a:prstGeom>
          <a:solidFill>
            <a:srgbClr val="D65914"/>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0" tIns="25400"/>
          <a:lstStyle/>
          <a:p>
            <a:pPr algn="ctr">
              <a:defRPr sz="900" b="1">
                <a:solidFill>
                  <a:srgbClr val="FFFFFF"/>
                </a:solidFill>
                <a:latin typeface="Arial"/>
              </a:defRPr>
            </a:pPr>
            <a:r>
              <a:t>PHASE 2: CONVERT</a:t>
            </a:r>
          </a:p>
        </p:txBody>
      </p:sp>
      <p:sp>
        <p:nvSpPr>
          <p:cNvPr id="6" name="Chevron 5"/>
          <p:cNvSpPr/>
          <p:nvPr/>
        </p:nvSpPr>
        <p:spPr>
          <a:xfrm>
            <a:off x="6117336" y="1371600"/>
            <a:ext cx="2665476" cy="548640"/>
          </a:xfrm>
          <a:prstGeom prst="chevron">
            <a:avLst/>
          </a:prstGeom>
          <a:solidFill>
            <a:srgbClr val="C4651A"/>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0" tIns="25400"/>
          <a:lstStyle/>
          <a:p>
            <a:pPr algn="ctr">
              <a:defRPr sz="900" b="1">
                <a:solidFill>
                  <a:srgbClr val="FFFFFF"/>
                </a:solidFill>
                <a:latin typeface="Arial"/>
              </a:defRPr>
            </a:pPr>
            <a:r>
              <a:t>PHASE 3: SCALE</a:t>
            </a:r>
          </a:p>
        </p:txBody>
      </p:sp>
      <p:sp>
        <p:nvSpPr>
          <p:cNvPr id="7" name="Chevron 6"/>
          <p:cNvSpPr/>
          <p:nvPr/>
        </p:nvSpPr>
        <p:spPr>
          <a:xfrm>
            <a:off x="8855963" y="1371600"/>
            <a:ext cx="2665476" cy="548640"/>
          </a:xfrm>
          <a:prstGeom prst="chevron">
            <a:avLst/>
          </a:prstGeom>
          <a:solidFill>
            <a:srgbClr val="B27120"/>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0" tIns="25400"/>
          <a:lstStyle/>
          <a:p>
            <a:pPr algn="ctr">
              <a:defRPr sz="900" b="1">
                <a:solidFill>
                  <a:srgbClr val="FFFFFF"/>
                </a:solidFill>
                <a:latin typeface="Arial"/>
              </a:defRPr>
            </a:pPr>
            <a:r>
              <a:t>PHASE 4: OPTIMIZE</a:t>
            </a:r>
          </a:p>
        </p:txBody>
      </p:sp>
      <p:sp>
        <p:nvSpPr>
          <p:cNvPr id="8" name="TextBox 7"/>
          <p:cNvSpPr txBox="1"/>
          <p:nvPr/>
        </p:nvSpPr>
        <p:spPr>
          <a:xfrm>
            <a:off x="640080" y="1965960"/>
            <a:ext cx="2665476" cy="594360"/>
          </a:xfrm>
          <a:prstGeom prst="rect">
            <a:avLst/>
          </a:prstGeom>
          <a:noFill/>
        </p:spPr>
        <p:txBody>
          <a:bodyPr wrap="square">
            <a:spAutoFit/>
          </a:bodyPr>
          <a:lstStyle/>
          <a:p>
            <a:pPr algn="ctr">
              <a:lnSpc>
                <a:spcPts val="1000"/>
              </a:lnSpc>
              <a:spcAft>
                <a:spcPts val="0"/>
              </a:spcAft>
              <a:defRPr sz="800" b="0">
                <a:solidFill>
                  <a:srgbClr val="666666"/>
                </a:solidFill>
                <a:latin typeface="Arial"/>
              </a:defRPr>
            </a:pPr>
            <a:r>
              <a:t>4-6 months</a:t>
            </a:r>
            <a:br/>
            <a:r>
              <a:t>Setup via partner</a:t>
            </a:r>
          </a:p>
        </p:txBody>
      </p:sp>
      <p:sp>
        <p:nvSpPr>
          <p:cNvPr id="9" name="TextBox 8"/>
          <p:cNvSpPr txBox="1"/>
          <p:nvPr/>
        </p:nvSpPr>
        <p:spPr>
          <a:xfrm>
            <a:off x="3378708" y="1965960"/>
            <a:ext cx="2665476" cy="594360"/>
          </a:xfrm>
          <a:prstGeom prst="rect">
            <a:avLst/>
          </a:prstGeom>
          <a:noFill/>
        </p:spPr>
        <p:txBody>
          <a:bodyPr wrap="square">
            <a:spAutoFit/>
          </a:bodyPr>
          <a:lstStyle/>
          <a:p>
            <a:pPr algn="ctr">
              <a:lnSpc>
                <a:spcPts val="1000"/>
              </a:lnSpc>
              <a:spcAft>
                <a:spcPts val="0"/>
              </a:spcAft>
              <a:defRPr sz="800" b="0">
                <a:solidFill>
                  <a:srgbClr val="666666"/>
                </a:solidFill>
                <a:latin typeface="Arial"/>
              </a:defRPr>
            </a:pPr>
            <a:r>
              <a:t>Month 18</a:t>
            </a:r>
            <a:br/>
            <a:r>
              <a:t>Captive conversion</a:t>
            </a:r>
          </a:p>
        </p:txBody>
      </p:sp>
      <p:sp>
        <p:nvSpPr>
          <p:cNvPr id="10" name="TextBox 9"/>
          <p:cNvSpPr txBox="1"/>
          <p:nvPr/>
        </p:nvSpPr>
        <p:spPr>
          <a:xfrm>
            <a:off x="6117336" y="1965960"/>
            <a:ext cx="2665476" cy="594360"/>
          </a:xfrm>
          <a:prstGeom prst="rect">
            <a:avLst/>
          </a:prstGeom>
          <a:noFill/>
        </p:spPr>
        <p:txBody>
          <a:bodyPr wrap="square">
            <a:spAutoFit/>
          </a:bodyPr>
          <a:lstStyle/>
          <a:p>
            <a:pPr algn="ctr">
              <a:lnSpc>
                <a:spcPts val="1000"/>
              </a:lnSpc>
              <a:spcAft>
                <a:spcPts val="0"/>
              </a:spcAft>
              <a:defRPr sz="800" b="0">
                <a:solidFill>
                  <a:srgbClr val="666666"/>
                </a:solidFill>
                <a:latin typeface="Arial"/>
              </a:defRPr>
            </a:pPr>
            <a:r>
              <a:t>Month 8-14</a:t>
            </a:r>
            <a:br/>
            <a:r>
              <a:t>Second city, 300 FTE</a:t>
            </a:r>
          </a:p>
        </p:txBody>
      </p:sp>
      <p:sp>
        <p:nvSpPr>
          <p:cNvPr id="11" name="TextBox 10"/>
          <p:cNvSpPr txBox="1"/>
          <p:nvPr/>
        </p:nvSpPr>
        <p:spPr>
          <a:xfrm>
            <a:off x="8855963" y="1965960"/>
            <a:ext cx="2665476" cy="594360"/>
          </a:xfrm>
          <a:prstGeom prst="rect">
            <a:avLst/>
          </a:prstGeom>
          <a:noFill/>
        </p:spPr>
        <p:txBody>
          <a:bodyPr wrap="square">
            <a:spAutoFit/>
          </a:bodyPr>
          <a:lstStyle/>
          <a:p>
            <a:pPr algn="ctr">
              <a:lnSpc>
                <a:spcPts val="1000"/>
              </a:lnSpc>
              <a:spcAft>
                <a:spcPts val="0"/>
              </a:spcAft>
              <a:defRPr sz="800" b="0">
                <a:solidFill>
                  <a:srgbClr val="666666"/>
                </a:solidFill>
                <a:latin typeface="Arial"/>
              </a:defRPr>
            </a:pPr>
            <a:r>
              <a:t>Month 14-18</a:t>
            </a:r>
            <a:br/>
            <a:r>
              <a:t>500 FTE, breakeven</a:t>
            </a:r>
          </a:p>
        </p:txBody>
      </p:sp>
      <p:sp>
        <p:nvSpPr>
          <p:cNvPr id="12" name="Rectangle 11"/>
          <p:cNvSpPr/>
          <p:nvPr/>
        </p:nvSpPr>
        <p:spPr>
          <a:xfrm>
            <a:off x="640080" y="2560320"/>
            <a:ext cx="1088136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 y="2651760"/>
            <a:ext cx="10881360" cy="320040"/>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lIns="137160" tIns="25400"/>
          <a:lstStyle/>
          <a:p>
            <a:pPr algn="ctr">
              <a:defRPr sz="1100" b="1">
                <a:solidFill>
                  <a:srgbClr val="FFFFFF"/>
                </a:solidFill>
                <a:latin typeface="Arial"/>
              </a:defRPr>
            </a:pPr>
            <a:r>
              <a:t>WHAT STAYS CAPTIVE vs WHAT TO OUTSOURCE</a:t>
            </a:r>
          </a:p>
        </p:txBody>
      </p:sp>
      <p:sp>
        <p:nvSpPr>
          <p:cNvPr id="14" name="Rectangle 13"/>
          <p:cNvSpPr/>
          <p:nvPr/>
        </p:nvSpPr>
        <p:spPr>
          <a:xfrm>
            <a:off x="640080" y="3063240"/>
            <a:ext cx="5212080" cy="1920240"/>
          </a:xfrm>
          <a:prstGeom prst="rect">
            <a:avLst/>
          </a:prstGeom>
          <a:solidFill>
            <a:srgbClr val="E8F8EE"/>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rIns="109728"/>
          <a:lstStyle/>
          <a:p>
            <a:pPr algn="ctr">
              <a:defRPr sz="1000" b="1">
                <a:solidFill>
                  <a:srgbClr val="27AE60"/>
                </a:solidFill>
                <a:latin typeface="Arial"/>
              </a:defRPr>
            </a:pPr>
            <a:r>
              <a:t>✓  GCC-OWNED CORE (70-80% FTE)</a:t>
            </a:r>
          </a:p>
          <a:p>
            <a:pPr>
              <a:lnSpc>
                <a:spcPts val="1215"/>
              </a:lnSpc>
              <a:spcBef>
                <a:spcPts val="400"/>
              </a:spcBef>
              <a:defRPr sz="900">
                <a:solidFill>
                  <a:srgbClr val="4A4A4A"/>
                </a:solidFill>
                <a:latin typeface="Arial"/>
              </a:defRPr>
            </a:pPr>
            <a:r>
              <a:t>• Risk, Compliance &amp; Cybersecurity</a:t>
            </a:r>
            <a:br/>
            <a:r>
              <a:t>• Innovation &amp; AI/ML Labs</a:t>
            </a:r>
            <a:br/>
            <a:r>
              <a:t>• Core IP &amp; Product Development</a:t>
            </a:r>
            <a:br/>
            <a:r>
              <a:t>• Regulatory Reporting (DORA, RBI)</a:t>
            </a:r>
            <a:br/>
            <a:r>
              <a:t>• Data Analytics &amp; Decision Science</a:t>
            </a:r>
          </a:p>
        </p:txBody>
      </p:sp>
      <p:sp>
        <p:nvSpPr>
          <p:cNvPr id="15" name="Rectangle 14"/>
          <p:cNvSpPr/>
          <p:nvPr/>
        </p:nvSpPr>
        <p:spPr>
          <a:xfrm>
            <a:off x="6035040" y="3063240"/>
            <a:ext cx="5394960" cy="1920240"/>
          </a:xfrm>
          <a:prstGeom prst="rect">
            <a:avLst/>
          </a:prstGeom>
          <a:solidFill>
            <a:srgbClr val="F5F5F5"/>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rIns="109728"/>
          <a:lstStyle/>
          <a:p>
            <a:pPr algn="ctr">
              <a:defRPr sz="1000" b="1">
                <a:solidFill>
                  <a:srgbClr val="E84D0E"/>
                </a:solidFill>
                <a:latin typeface="Arial"/>
              </a:defRPr>
            </a:pPr>
            <a:r>
              <a:t>→  SELECTIVE OUTSOURCING (20-30% FTE)</a:t>
            </a:r>
          </a:p>
          <a:p>
            <a:pPr>
              <a:lnSpc>
                <a:spcPts val="1215"/>
              </a:lnSpc>
              <a:spcBef>
                <a:spcPts val="400"/>
              </a:spcBef>
              <a:defRPr sz="900">
                <a:solidFill>
                  <a:srgbClr val="4A4A4A"/>
                </a:solidFill>
                <a:latin typeface="Arial"/>
              </a:defRPr>
            </a:pPr>
            <a:r>
              <a:t>• Burst/Peak Capacity (seasonal)</a:t>
            </a:r>
            <a:br/>
            <a:r>
              <a:t>• Non-core BPO &amp; Back-office</a:t>
            </a:r>
            <a:br/>
            <a:r>
              <a:t>• Niche Skills (short-duration)</a:t>
            </a:r>
            <a:br/>
            <a:r>
              <a:t>• Infrastructure Management</a:t>
            </a:r>
            <a:br/>
            <a:r>
              <a:t>• Training &amp; L&amp;D Delivery</a:t>
            </a:r>
          </a:p>
        </p:txBody>
      </p:sp>
      <p:sp>
        <p:nvSpPr>
          <p:cNvPr id="16" name="Rectangle 15"/>
          <p:cNvSpPr/>
          <p:nvPr/>
        </p:nvSpPr>
        <p:spPr>
          <a:xfrm>
            <a:off x="640080" y="5120640"/>
            <a:ext cx="1088136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 y="5212080"/>
            <a:ext cx="3657600" cy="1051560"/>
          </a:xfrm>
          <a:prstGeom prst="rect">
            <a:avLst/>
          </a:prstGeom>
          <a:solidFill>
            <a:srgbClr val="F5F5F5"/>
          </a:solidFill>
          <a:ln w="9525">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19" y="5285232"/>
            <a:ext cx="3474720" cy="502920"/>
          </a:xfrm>
          <a:prstGeom prst="rect">
            <a:avLst/>
          </a:prstGeom>
          <a:noFill/>
        </p:spPr>
        <p:txBody>
          <a:bodyPr wrap="square">
            <a:spAutoFit/>
          </a:bodyPr>
          <a:lstStyle/>
          <a:p>
            <a:pPr algn="ctr">
              <a:lnSpc>
                <a:spcPts val="2860"/>
              </a:lnSpc>
              <a:spcAft>
                <a:spcPts val="0"/>
              </a:spcAft>
              <a:defRPr sz="2200" b="1">
                <a:solidFill>
                  <a:srgbClr val="E84D0E"/>
                </a:solidFill>
                <a:latin typeface="Arial"/>
              </a:defRPr>
            </a:pPr>
            <a:r>
              <a:t>&lt;10% → 40%</a:t>
            </a:r>
          </a:p>
        </p:txBody>
      </p:sp>
      <p:sp>
        <p:nvSpPr>
          <p:cNvPr id="19" name="TextBox 18"/>
          <p:cNvSpPr txBox="1"/>
          <p:nvPr/>
        </p:nvSpPr>
        <p:spPr>
          <a:xfrm>
            <a:off x="731519" y="5806440"/>
            <a:ext cx="3474720" cy="411480"/>
          </a:xfrm>
          <a:prstGeom prst="rect">
            <a:avLst/>
          </a:prstGeom>
          <a:noFill/>
        </p:spPr>
        <p:txBody>
          <a:bodyPr wrap="square">
            <a:spAutoFit/>
          </a:bodyPr>
          <a:lstStyle/>
          <a:p>
            <a:pPr algn="ctr">
              <a:lnSpc>
                <a:spcPts val="960"/>
              </a:lnSpc>
              <a:spcAft>
                <a:spcPts val="0"/>
              </a:spcAft>
              <a:defRPr sz="800" b="0">
                <a:solidFill>
                  <a:srgbClr val="666666"/>
                </a:solidFill>
                <a:latin typeface="Arial"/>
              </a:defRPr>
            </a:pPr>
            <a:r>
              <a:t>BOT Adoption Surge</a:t>
            </a:r>
          </a:p>
        </p:txBody>
      </p:sp>
      <p:sp>
        <p:nvSpPr>
          <p:cNvPr id="20" name="Rectangle 19"/>
          <p:cNvSpPr/>
          <p:nvPr/>
        </p:nvSpPr>
        <p:spPr>
          <a:xfrm>
            <a:off x="4572000" y="5212080"/>
            <a:ext cx="3657600" cy="1051560"/>
          </a:xfrm>
          <a:prstGeom prst="rect">
            <a:avLst/>
          </a:prstGeom>
          <a:solidFill>
            <a:srgbClr val="F5F5F5"/>
          </a:solidFill>
          <a:ln w="9525">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63440" y="5285232"/>
            <a:ext cx="3474720" cy="502920"/>
          </a:xfrm>
          <a:prstGeom prst="rect">
            <a:avLst/>
          </a:prstGeom>
          <a:noFill/>
        </p:spPr>
        <p:txBody>
          <a:bodyPr wrap="square">
            <a:spAutoFit/>
          </a:bodyPr>
          <a:lstStyle/>
          <a:p>
            <a:pPr algn="ctr">
              <a:lnSpc>
                <a:spcPts val="2860"/>
              </a:lnSpc>
              <a:spcAft>
                <a:spcPts val="0"/>
              </a:spcAft>
              <a:defRPr sz="2200" b="1">
                <a:solidFill>
                  <a:srgbClr val="E84D0E"/>
                </a:solidFill>
                <a:latin typeface="Arial"/>
              </a:defRPr>
            </a:pPr>
            <a:r>
              <a:t>2x</a:t>
            </a:r>
          </a:p>
        </p:txBody>
      </p:sp>
      <p:sp>
        <p:nvSpPr>
          <p:cNvPr id="22" name="TextBox 21"/>
          <p:cNvSpPr txBox="1"/>
          <p:nvPr/>
        </p:nvSpPr>
        <p:spPr>
          <a:xfrm>
            <a:off x="4663440" y="5806440"/>
            <a:ext cx="3474720" cy="411480"/>
          </a:xfrm>
          <a:prstGeom prst="rect">
            <a:avLst/>
          </a:prstGeom>
          <a:noFill/>
        </p:spPr>
        <p:txBody>
          <a:bodyPr wrap="square">
            <a:spAutoFit/>
          </a:bodyPr>
          <a:lstStyle/>
          <a:p>
            <a:pPr algn="ctr">
              <a:lnSpc>
                <a:spcPts val="960"/>
              </a:lnSpc>
              <a:spcAft>
                <a:spcPts val="0"/>
              </a:spcAft>
              <a:defRPr sz="800" b="0">
                <a:solidFill>
                  <a:srgbClr val="666666"/>
                </a:solidFill>
                <a:latin typeface="Arial"/>
              </a:defRPr>
            </a:pPr>
            <a:r>
              <a:t>Mega GCCs outsource 2x more</a:t>
            </a:r>
            <a:br/>
            <a:r>
              <a:t>(hybrid proven at scale)</a:t>
            </a:r>
          </a:p>
        </p:txBody>
      </p:sp>
      <p:sp>
        <p:nvSpPr>
          <p:cNvPr id="23" name="Rectangle 22"/>
          <p:cNvSpPr/>
          <p:nvPr/>
        </p:nvSpPr>
        <p:spPr>
          <a:xfrm>
            <a:off x="0" y="6080760"/>
            <a:ext cx="12191695" cy="36576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wrap="square" lIns="640080" tIns="63500"/>
          <a:lstStyle/>
          <a:p>
            <a:pPr algn="l">
              <a:defRPr sz="1000" b="1">
                <a:solidFill>
                  <a:srgbClr val="2D2D2D"/>
                </a:solidFill>
                <a:latin typeface="Arial"/>
              </a:defRPr>
            </a:pPr>
            <a:r>
              <a:t>SO WHAT: Start with BOT to de-risk, transition to captive within 18 months, keep selective outsourcing for non-core</a:t>
            </a:r>
          </a:p>
        </p:txBody>
      </p:sp>
      <p:sp>
        <p:nvSpPr>
          <p:cNvPr id="24" name="TextBox 23"/>
          <p:cNvSpPr txBox="1"/>
          <p:nvPr/>
        </p:nvSpPr>
        <p:spPr>
          <a:xfrm>
            <a:off x="11247120" y="6537960"/>
            <a:ext cx="731520" cy="228600"/>
          </a:xfrm>
          <a:prstGeom prst="rect">
            <a:avLst/>
          </a:prstGeom>
          <a:noFill/>
        </p:spPr>
        <p:txBody>
          <a:bodyPr wrap="square">
            <a:spAutoFit/>
          </a:bodyPr>
          <a:lstStyle/>
          <a:p>
            <a:pPr algn="r">
              <a:lnSpc>
                <a:spcPts val="910"/>
              </a:lnSpc>
              <a:spcAft>
                <a:spcPts val="0"/>
              </a:spcAft>
              <a:defRPr sz="700" b="1">
                <a:solidFill>
                  <a:srgbClr val="666666"/>
                </a:solidFill>
                <a:latin typeface="Arial"/>
              </a:defRPr>
            </a:pPr>
            <a:r>
              <a:t>14</a:t>
            </a:r>
          </a:p>
        </p:txBody>
      </p:sp>
      <p:sp>
        <p:nvSpPr>
          <p:cNvPr id="25" name="TextBox 24"/>
          <p:cNvSpPr txBox="1"/>
          <p:nvPr/>
        </p:nvSpPr>
        <p:spPr>
          <a:xfrm>
            <a:off x="640080" y="6537960"/>
            <a:ext cx="10058400" cy="228600"/>
          </a:xfrm>
          <a:prstGeom prst="rect">
            <a:avLst/>
          </a:prstGeom>
          <a:noFill/>
        </p:spPr>
        <p:txBody>
          <a:bodyPr wrap="square">
            <a:spAutoFit/>
          </a:bodyPr>
          <a:lstStyle/>
          <a:p>
            <a:pPr algn="l">
              <a:lnSpc>
                <a:spcPts val="910"/>
              </a:lnSpc>
              <a:spcAft>
                <a:spcPts val="0"/>
              </a:spcAft>
              <a:defRPr sz="700" b="0">
                <a:solidFill>
                  <a:srgbClr val="666666"/>
                </a:solidFill>
                <a:latin typeface="Arial"/>
              </a:defRPr>
            </a:pPr>
            <a:r>
              <a:t>Sources: Everest Group, Zinnov, Tholons, ANSR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137160"/>
            <a:ext cx="4572000" cy="228600"/>
          </a:xfrm>
          <a:prstGeom prst="rect">
            <a:avLst/>
          </a:prstGeom>
          <a:noFill/>
        </p:spPr>
        <p:txBody>
          <a:bodyPr wrap="square">
            <a:spAutoFit/>
          </a:bodyPr>
          <a:lstStyle/>
          <a:p>
            <a:pPr algn="l">
              <a:lnSpc>
                <a:spcPts val="1170"/>
              </a:lnSpc>
              <a:spcAft>
                <a:spcPts val="0"/>
              </a:spcAft>
              <a:defRPr sz="900" b="1">
                <a:solidFill>
                  <a:srgbClr val="E84D0E"/>
                </a:solidFill>
                <a:latin typeface="Arial"/>
              </a:defRPr>
            </a:pPr>
            <a:r>
              <a:t>TALENT STRATEGY</a:t>
            </a:r>
          </a:p>
        </p:txBody>
      </p:sp>
      <p:sp>
        <p:nvSpPr>
          <p:cNvPr id="3" name="TextBox 2"/>
          <p:cNvSpPr txBox="1"/>
          <p:nvPr/>
        </p:nvSpPr>
        <p:spPr>
          <a:xfrm>
            <a:off x="640080" y="320040"/>
            <a:ext cx="10881360" cy="822960"/>
          </a:xfrm>
          <a:prstGeom prst="rect">
            <a:avLst/>
          </a:prstGeom>
          <a:noFill/>
        </p:spPr>
        <p:txBody>
          <a:bodyPr wrap="square">
            <a:spAutoFit/>
          </a:bodyPr>
          <a:lstStyle/>
          <a:p>
            <a:pPr algn="l">
              <a:lnSpc>
                <a:spcPts val="3380"/>
              </a:lnSpc>
              <a:spcAft>
                <a:spcPts val="0"/>
              </a:spcAft>
              <a:defRPr sz="2600" b="1">
                <a:solidFill>
                  <a:srgbClr val="1A1A1A"/>
                </a:solidFill>
                <a:latin typeface="Arial"/>
              </a:defRPr>
            </a:pPr>
            <a:r>
              <a:t>Why Financial Services GCCs Cannot Out-Hire Their Way to Growth</a:t>
            </a:r>
          </a:p>
        </p:txBody>
      </p:sp>
      <p:sp>
        <p:nvSpPr>
          <p:cNvPr id="4" name="Rectangle 3"/>
          <p:cNvSpPr/>
          <p:nvPr/>
        </p:nvSpPr>
        <p:spPr>
          <a:xfrm>
            <a:off x="640080" y="1371600"/>
            <a:ext cx="2560320" cy="1051560"/>
          </a:xfrm>
          <a:prstGeom prst="rect">
            <a:avLst/>
          </a:prstGeom>
          <a:solidFill>
            <a:srgbClr val="F5F5F5"/>
          </a:solidFill>
          <a:ln w="9525">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19" y="1444752"/>
            <a:ext cx="2377439" cy="502920"/>
          </a:xfrm>
          <a:prstGeom prst="rect">
            <a:avLst/>
          </a:prstGeom>
          <a:noFill/>
        </p:spPr>
        <p:txBody>
          <a:bodyPr wrap="square">
            <a:spAutoFit/>
          </a:bodyPr>
          <a:lstStyle/>
          <a:p>
            <a:pPr algn="ctr">
              <a:lnSpc>
                <a:spcPts val="4160"/>
              </a:lnSpc>
              <a:spcAft>
                <a:spcPts val="0"/>
              </a:spcAft>
              <a:defRPr sz="3200" b="1">
                <a:solidFill>
                  <a:srgbClr val="C0392B"/>
                </a:solidFill>
                <a:latin typeface="Arial"/>
              </a:defRPr>
            </a:pPr>
            <a:r>
              <a:t>60%</a:t>
            </a:r>
          </a:p>
        </p:txBody>
      </p:sp>
      <p:sp>
        <p:nvSpPr>
          <p:cNvPr id="6" name="TextBox 5"/>
          <p:cNvSpPr txBox="1"/>
          <p:nvPr/>
        </p:nvSpPr>
        <p:spPr>
          <a:xfrm>
            <a:off x="731519" y="1965960"/>
            <a:ext cx="2377439" cy="411480"/>
          </a:xfrm>
          <a:prstGeom prst="rect">
            <a:avLst/>
          </a:prstGeom>
          <a:noFill/>
        </p:spPr>
        <p:txBody>
          <a:bodyPr wrap="square">
            <a:spAutoFit/>
          </a:bodyPr>
          <a:lstStyle/>
          <a:p>
            <a:pPr algn="ctr">
              <a:lnSpc>
                <a:spcPts val="960"/>
              </a:lnSpc>
              <a:spcAft>
                <a:spcPts val="0"/>
              </a:spcAft>
              <a:defRPr sz="800" b="0">
                <a:solidFill>
                  <a:srgbClr val="666666"/>
                </a:solidFill>
                <a:latin typeface="Arial"/>
              </a:defRPr>
            </a:pPr>
            <a:r>
              <a:t>GCC Hiring From</a:t>
            </a:r>
            <a:br/>
            <a:r>
              <a:t>Other GCCs</a:t>
            </a:r>
          </a:p>
        </p:txBody>
      </p:sp>
      <p:sp>
        <p:nvSpPr>
          <p:cNvPr id="7" name="Rectangle 6"/>
          <p:cNvSpPr/>
          <p:nvPr/>
        </p:nvSpPr>
        <p:spPr>
          <a:xfrm>
            <a:off x="3429000" y="1371600"/>
            <a:ext cx="2560320" cy="1051560"/>
          </a:xfrm>
          <a:prstGeom prst="rect">
            <a:avLst/>
          </a:prstGeom>
          <a:solidFill>
            <a:srgbClr val="F5F5F5"/>
          </a:solidFill>
          <a:ln w="9525">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20440" y="1444752"/>
            <a:ext cx="2377439" cy="502920"/>
          </a:xfrm>
          <a:prstGeom prst="rect">
            <a:avLst/>
          </a:prstGeom>
          <a:noFill/>
        </p:spPr>
        <p:txBody>
          <a:bodyPr wrap="square">
            <a:spAutoFit/>
          </a:bodyPr>
          <a:lstStyle/>
          <a:p>
            <a:pPr algn="ctr">
              <a:lnSpc>
                <a:spcPts val="4160"/>
              </a:lnSpc>
              <a:spcAft>
                <a:spcPts val="0"/>
              </a:spcAft>
              <a:defRPr sz="3200" b="1">
                <a:solidFill>
                  <a:srgbClr val="C0392B"/>
                </a:solidFill>
                <a:latin typeface="Arial"/>
              </a:defRPr>
            </a:pPr>
            <a:r>
              <a:t>49%</a:t>
            </a:r>
          </a:p>
        </p:txBody>
      </p:sp>
      <p:sp>
        <p:nvSpPr>
          <p:cNvPr id="9" name="TextBox 8"/>
          <p:cNvSpPr txBox="1"/>
          <p:nvPr/>
        </p:nvSpPr>
        <p:spPr>
          <a:xfrm>
            <a:off x="3520440" y="1965960"/>
            <a:ext cx="2377439" cy="411480"/>
          </a:xfrm>
          <a:prstGeom prst="rect">
            <a:avLst/>
          </a:prstGeom>
          <a:noFill/>
        </p:spPr>
        <p:txBody>
          <a:bodyPr wrap="square">
            <a:spAutoFit/>
          </a:bodyPr>
          <a:lstStyle/>
          <a:p>
            <a:pPr algn="ctr">
              <a:lnSpc>
                <a:spcPts val="960"/>
              </a:lnSpc>
              <a:spcAft>
                <a:spcPts val="0"/>
              </a:spcAft>
              <a:defRPr sz="800" b="0">
                <a:solidFill>
                  <a:srgbClr val="666666"/>
                </a:solidFill>
                <a:latin typeface="Arial"/>
              </a:defRPr>
            </a:pPr>
            <a:r>
              <a:t>AI/ML Demand</a:t>
            </a:r>
            <a:br/>
            <a:r>
              <a:t>Met by Supply</a:t>
            </a:r>
          </a:p>
        </p:txBody>
      </p:sp>
      <p:sp>
        <p:nvSpPr>
          <p:cNvPr id="10" name="Rectangle 9"/>
          <p:cNvSpPr/>
          <p:nvPr/>
        </p:nvSpPr>
        <p:spPr>
          <a:xfrm>
            <a:off x="6217920" y="1371600"/>
            <a:ext cx="2560320" cy="1051560"/>
          </a:xfrm>
          <a:prstGeom prst="rect">
            <a:avLst/>
          </a:prstGeom>
          <a:solidFill>
            <a:srgbClr val="F5F5F5"/>
          </a:solidFill>
          <a:ln w="9525">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59" y="1444752"/>
            <a:ext cx="2377439" cy="502920"/>
          </a:xfrm>
          <a:prstGeom prst="rect">
            <a:avLst/>
          </a:prstGeom>
          <a:noFill/>
        </p:spPr>
        <p:txBody>
          <a:bodyPr wrap="square">
            <a:spAutoFit/>
          </a:bodyPr>
          <a:lstStyle/>
          <a:p>
            <a:pPr algn="ctr">
              <a:lnSpc>
                <a:spcPts val="4160"/>
              </a:lnSpc>
              <a:spcAft>
                <a:spcPts val="0"/>
              </a:spcAft>
              <a:defRPr sz="3200" b="1">
                <a:solidFill>
                  <a:srgbClr val="C0392B"/>
                </a:solidFill>
                <a:latin typeface="Arial"/>
              </a:defRPr>
            </a:pPr>
            <a:r>
              <a:t>75%</a:t>
            </a:r>
          </a:p>
        </p:txBody>
      </p:sp>
      <p:sp>
        <p:nvSpPr>
          <p:cNvPr id="12" name="TextBox 11"/>
          <p:cNvSpPr txBox="1"/>
          <p:nvPr/>
        </p:nvSpPr>
        <p:spPr>
          <a:xfrm>
            <a:off x="6309359" y="1965960"/>
            <a:ext cx="2377439" cy="411480"/>
          </a:xfrm>
          <a:prstGeom prst="rect">
            <a:avLst/>
          </a:prstGeom>
          <a:noFill/>
        </p:spPr>
        <p:txBody>
          <a:bodyPr wrap="square">
            <a:spAutoFit/>
          </a:bodyPr>
          <a:lstStyle/>
          <a:p>
            <a:pPr algn="ctr">
              <a:lnSpc>
                <a:spcPts val="960"/>
              </a:lnSpc>
              <a:spcAft>
                <a:spcPts val="0"/>
              </a:spcAft>
              <a:defRPr sz="800" b="0">
                <a:solidFill>
                  <a:srgbClr val="666666"/>
                </a:solidFill>
                <a:latin typeface="Arial"/>
              </a:defRPr>
            </a:pPr>
            <a:r>
              <a:t>Gen Z Plan to Leave</a:t>
            </a:r>
            <a:br/>
            <a:r>
              <a:t>Within 2 Years</a:t>
            </a:r>
          </a:p>
        </p:txBody>
      </p:sp>
      <p:sp>
        <p:nvSpPr>
          <p:cNvPr id="13" name="Rectangle 12"/>
          <p:cNvSpPr/>
          <p:nvPr/>
        </p:nvSpPr>
        <p:spPr>
          <a:xfrm>
            <a:off x="9006839" y="1371600"/>
            <a:ext cx="2560320" cy="1051560"/>
          </a:xfrm>
          <a:prstGeom prst="rect">
            <a:avLst/>
          </a:prstGeom>
          <a:solidFill>
            <a:srgbClr val="F5F5F5"/>
          </a:solidFill>
          <a:ln w="9525">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98279" y="1444752"/>
            <a:ext cx="2377439" cy="502920"/>
          </a:xfrm>
          <a:prstGeom prst="rect">
            <a:avLst/>
          </a:prstGeom>
          <a:noFill/>
        </p:spPr>
        <p:txBody>
          <a:bodyPr wrap="square">
            <a:spAutoFit/>
          </a:bodyPr>
          <a:lstStyle/>
          <a:p>
            <a:pPr algn="ctr">
              <a:lnSpc>
                <a:spcPts val="4160"/>
              </a:lnSpc>
              <a:spcAft>
                <a:spcPts val="0"/>
              </a:spcAft>
              <a:defRPr sz="3200" b="1">
                <a:solidFill>
                  <a:srgbClr val="C0392B"/>
                </a:solidFill>
                <a:latin typeface="Arial"/>
              </a:defRPr>
            </a:pPr>
            <a:r>
              <a:t>10.4%</a:t>
            </a:r>
          </a:p>
        </p:txBody>
      </p:sp>
      <p:sp>
        <p:nvSpPr>
          <p:cNvPr id="15" name="TextBox 14"/>
          <p:cNvSpPr txBox="1"/>
          <p:nvPr/>
        </p:nvSpPr>
        <p:spPr>
          <a:xfrm>
            <a:off x="9098279" y="1965960"/>
            <a:ext cx="2377439" cy="411480"/>
          </a:xfrm>
          <a:prstGeom prst="rect">
            <a:avLst/>
          </a:prstGeom>
          <a:noFill/>
        </p:spPr>
        <p:txBody>
          <a:bodyPr wrap="square">
            <a:spAutoFit/>
          </a:bodyPr>
          <a:lstStyle/>
          <a:p>
            <a:pPr algn="ctr">
              <a:lnSpc>
                <a:spcPts val="960"/>
              </a:lnSpc>
              <a:spcAft>
                <a:spcPts val="0"/>
              </a:spcAft>
              <a:defRPr sz="800" b="0">
                <a:solidFill>
                  <a:srgbClr val="666666"/>
                </a:solidFill>
                <a:latin typeface="Arial"/>
              </a:defRPr>
            </a:pPr>
            <a:r>
              <a:t>Projected Salary</a:t>
            </a:r>
            <a:br/>
            <a:r>
              <a:t>Increment 2026</a:t>
            </a:r>
          </a:p>
        </p:txBody>
      </p:sp>
      <p:sp>
        <p:nvSpPr>
          <p:cNvPr id="16" name="Rectangle 15"/>
          <p:cNvSpPr/>
          <p:nvPr/>
        </p:nvSpPr>
        <p:spPr>
          <a:xfrm>
            <a:off x="640080" y="2606040"/>
            <a:ext cx="1088136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 y="2743200"/>
            <a:ext cx="10881360" cy="320040"/>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lIns="137160" tIns="25400"/>
          <a:lstStyle/>
          <a:p>
            <a:pPr algn="ctr">
              <a:defRPr sz="1100" b="1">
                <a:solidFill>
                  <a:srgbClr val="FFFFFF"/>
                </a:solidFill>
                <a:latin typeface="Arial"/>
              </a:defRPr>
            </a:pPr>
            <a:r>
              <a:t>THE CIRCULAR HIRING TRAP</a:t>
            </a:r>
          </a:p>
        </p:txBody>
      </p:sp>
      <p:sp>
        <p:nvSpPr>
          <p:cNvPr id="18" name="TextBox 17"/>
          <p:cNvSpPr txBox="1"/>
          <p:nvPr/>
        </p:nvSpPr>
        <p:spPr>
          <a:xfrm>
            <a:off x="731519" y="3154680"/>
            <a:ext cx="6675120" cy="2286000"/>
          </a:xfrm>
          <a:prstGeom prst="rect">
            <a:avLst/>
          </a:prstGeom>
          <a:noFill/>
        </p:spPr>
        <p:txBody>
          <a:bodyPr wrap="square">
            <a:spAutoFit/>
          </a:bodyPr>
          <a:lstStyle/>
          <a:p>
            <a:pPr>
              <a:lnSpc>
                <a:spcPts val="1450"/>
              </a:lnSpc>
              <a:spcAft>
                <a:spcPts val="600"/>
              </a:spcAft>
              <a:defRPr sz="1000">
                <a:solidFill>
                  <a:srgbClr val="4A4A4A"/>
                </a:solidFill>
                <a:latin typeface="Arial"/>
              </a:defRPr>
            </a:pPr>
            <a:r>
              <a:t>• 60% of GCC hiring comes from other GCCs — circular competition, not talent creation</a:t>
            </a:r>
          </a:p>
          <a:p>
            <a:pPr>
              <a:lnSpc>
                <a:spcPts val="1450"/>
              </a:lnSpc>
              <a:spcAft>
                <a:spcPts val="600"/>
              </a:spcAft>
              <a:defRPr sz="1000">
                <a:solidFill>
                  <a:srgbClr val="4A4A4A"/>
                </a:solidFill>
                <a:latin typeface="Arial"/>
              </a:defRPr>
            </a:pPr>
            <a:r>
              <a:t>• AI/ML supply meets only 49% of demand; 1M+ shortage by 2027</a:t>
            </a:r>
          </a:p>
          <a:p>
            <a:pPr>
              <a:lnSpc>
                <a:spcPts val="1450"/>
              </a:lnSpc>
              <a:spcAft>
                <a:spcPts val="600"/>
              </a:spcAft>
              <a:defRPr sz="1000">
                <a:solidFill>
                  <a:srgbClr val="4A4A4A"/>
                </a:solidFill>
                <a:latin typeface="Arial"/>
              </a:defRPr>
            </a:pPr>
            <a:r>
              <a:t>• Cybersecurity: 80K experts vs 1M demand in India; 3.5M unfilled globally</a:t>
            </a:r>
          </a:p>
          <a:p>
            <a:pPr>
              <a:lnSpc>
                <a:spcPts val="1450"/>
              </a:lnSpc>
              <a:spcAft>
                <a:spcPts val="600"/>
              </a:spcAft>
              <a:defRPr sz="1000">
                <a:solidFill>
                  <a:srgbClr val="4A4A4A"/>
                </a:solidFill>
                <a:latin typeface="Arial"/>
              </a:defRPr>
            </a:pPr>
            <a:r>
              <a:t>• 75% of Indian Gen Z intend to leave within 2 years</a:t>
            </a:r>
          </a:p>
          <a:p>
            <a:pPr>
              <a:lnSpc>
                <a:spcPts val="1450"/>
              </a:lnSpc>
              <a:spcAft>
                <a:spcPts val="600"/>
              </a:spcAft>
              <a:defRPr sz="1000">
                <a:solidFill>
                  <a:srgbClr val="4A4A4A"/>
                </a:solidFill>
                <a:latin typeface="Arial"/>
              </a:defRPr>
            </a:pPr>
            <a:r>
              <a:t>• ~40% of 2025 hiring is replacement hiring — not growth</a:t>
            </a:r>
          </a:p>
        </p:txBody>
      </p:sp>
      <p:sp>
        <p:nvSpPr>
          <p:cNvPr id="19" name="Rectangle 18"/>
          <p:cNvSpPr/>
          <p:nvPr/>
        </p:nvSpPr>
        <p:spPr>
          <a:xfrm>
            <a:off x="7772400" y="3154680"/>
            <a:ext cx="3749039" cy="1143000"/>
          </a:xfrm>
          <a:prstGeom prst="rect">
            <a:avLst/>
          </a:prstGeom>
          <a:solidFill>
            <a:srgbClr val="FDEDED"/>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rIns="109728"/>
          <a:lstStyle/>
          <a:p>
            <a:pPr algn="ctr">
              <a:defRPr sz="1000" b="1">
                <a:solidFill>
                  <a:srgbClr val="C0392B"/>
                </a:solidFill>
                <a:latin typeface="Arial"/>
              </a:defRPr>
            </a:pPr>
            <a:r>
              <a:t>⚠  ANNUAL COST OF ATTRITION</a:t>
            </a:r>
          </a:p>
          <a:p>
            <a:pPr>
              <a:lnSpc>
                <a:spcPts val="1215"/>
              </a:lnSpc>
              <a:spcBef>
                <a:spcPts val="400"/>
              </a:spcBef>
              <a:defRPr sz="900">
                <a:solidFill>
                  <a:srgbClr val="4A4A4A"/>
                </a:solidFill>
                <a:latin typeface="Arial"/>
              </a:defRPr>
            </a:pPr>
            <a:r>
              <a:t>15% attrition on 1,000 FTE at $15-20K replacement cost = $2.25-3M annually. A compounding tax on growth.</a:t>
            </a:r>
          </a:p>
        </p:txBody>
      </p:sp>
      <p:sp>
        <p:nvSpPr>
          <p:cNvPr id="20" name="Rectangle 19"/>
          <p:cNvSpPr/>
          <p:nvPr/>
        </p:nvSpPr>
        <p:spPr>
          <a:xfrm>
            <a:off x="7772400" y="4434840"/>
            <a:ext cx="3749039" cy="914400"/>
          </a:xfrm>
          <a:prstGeom prst="rect">
            <a:avLst/>
          </a:prstGeom>
          <a:solidFill>
            <a:srgbClr val="F5F5F5"/>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rIns="109728"/>
          <a:lstStyle/>
          <a:p>
            <a:pPr algn="ctr">
              <a:defRPr sz="1000" b="1">
                <a:solidFill>
                  <a:srgbClr val="E84D0E"/>
                </a:solidFill>
                <a:latin typeface="Arial"/>
              </a:defRPr>
            </a:pPr>
            <a:r>
              <a:t>HARDEST TO HIRE</a:t>
            </a:r>
          </a:p>
          <a:p>
            <a:pPr>
              <a:lnSpc>
                <a:spcPts val="1215"/>
              </a:lnSpc>
              <a:spcBef>
                <a:spcPts val="400"/>
              </a:spcBef>
              <a:defRPr sz="900">
                <a:solidFill>
                  <a:srgbClr val="4A4A4A"/>
                </a:solidFill>
                <a:latin typeface="Arial"/>
              </a:defRPr>
            </a:pPr>
            <a:r>
              <a:t>AI/ML (49% supply) | Cybersecurity (80K vs 1M)</a:t>
            </a:r>
            <a:br/>
            <a:r>
              <a:t>GenAI/LLMOps (10-40% premium) | Quant/Risk</a:t>
            </a:r>
          </a:p>
        </p:txBody>
      </p:sp>
      <p:sp>
        <p:nvSpPr>
          <p:cNvPr id="21" name="Rectangle 20"/>
          <p:cNvSpPr/>
          <p:nvPr/>
        </p:nvSpPr>
        <p:spPr>
          <a:xfrm>
            <a:off x="0" y="6080760"/>
            <a:ext cx="12191695" cy="36576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wrap="square" lIns="640080" tIns="63500"/>
          <a:lstStyle/>
          <a:p>
            <a:pPr algn="l">
              <a:defRPr sz="1000" b="1">
                <a:solidFill>
                  <a:srgbClr val="2D2D2D"/>
                </a:solidFill>
                <a:latin typeface="Arial"/>
              </a:defRPr>
            </a:pPr>
            <a:r>
              <a:t>SO WHAT: At 10%+ salary inflation and 60% circular hiring, only a differentiated EVP breaks the cycle</a:t>
            </a:r>
          </a:p>
        </p:txBody>
      </p:sp>
      <p:sp>
        <p:nvSpPr>
          <p:cNvPr id="22" name="TextBox 21"/>
          <p:cNvSpPr txBox="1"/>
          <p:nvPr/>
        </p:nvSpPr>
        <p:spPr>
          <a:xfrm>
            <a:off x="11247120" y="6537960"/>
            <a:ext cx="731520" cy="228600"/>
          </a:xfrm>
          <a:prstGeom prst="rect">
            <a:avLst/>
          </a:prstGeom>
          <a:noFill/>
        </p:spPr>
        <p:txBody>
          <a:bodyPr wrap="square">
            <a:spAutoFit/>
          </a:bodyPr>
          <a:lstStyle/>
          <a:p>
            <a:pPr algn="r">
              <a:lnSpc>
                <a:spcPts val="910"/>
              </a:lnSpc>
              <a:spcAft>
                <a:spcPts val="0"/>
              </a:spcAft>
              <a:defRPr sz="700" b="1">
                <a:solidFill>
                  <a:srgbClr val="666666"/>
                </a:solidFill>
                <a:latin typeface="Arial"/>
              </a:defRPr>
            </a:pPr>
            <a:r>
              <a:t>15</a:t>
            </a:r>
          </a:p>
        </p:txBody>
      </p:sp>
      <p:sp>
        <p:nvSpPr>
          <p:cNvPr id="23" name="TextBox 22"/>
          <p:cNvSpPr txBox="1"/>
          <p:nvPr/>
        </p:nvSpPr>
        <p:spPr>
          <a:xfrm>
            <a:off x="640080" y="6537960"/>
            <a:ext cx="10058400" cy="228600"/>
          </a:xfrm>
          <a:prstGeom prst="rect">
            <a:avLst/>
          </a:prstGeom>
          <a:noFill/>
        </p:spPr>
        <p:txBody>
          <a:bodyPr wrap="square">
            <a:spAutoFit/>
          </a:bodyPr>
          <a:lstStyle/>
          <a:p>
            <a:pPr algn="l">
              <a:lnSpc>
                <a:spcPts val="910"/>
              </a:lnSpc>
              <a:spcAft>
                <a:spcPts val="0"/>
              </a:spcAft>
              <a:defRPr sz="700" b="0">
                <a:solidFill>
                  <a:srgbClr val="666666"/>
                </a:solidFill>
                <a:latin typeface="Arial"/>
              </a:defRPr>
            </a:pPr>
            <a:r>
              <a:t>Sources: Zinnov SIAH 2025, Deloitte, Aon, SPAG FINN Partners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137160"/>
            <a:ext cx="4572000" cy="228600"/>
          </a:xfrm>
          <a:prstGeom prst="rect">
            <a:avLst/>
          </a:prstGeom>
          <a:noFill/>
        </p:spPr>
        <p:txBody>
          <a:bodyPr wrap="square">
            <a:spAutoFit/>
          </a:bodyPr>
          <a:lstStyle/>
          <a:p>
            <a:pPr algn="l">
              <a:lnSpc>
                <a:spcPts val="1170"/>
              </a:lnSpc>
              <a:spcAft>
                <a:spcPts val="0"/>
              </a:spcAft>
              <a:defRPr sz="900" b="1">
                <a:solidFill>
                  <a:srgbClr val="E84D0E"/>
                </a:solidFill>
                <a:latin typeface="Arial"/>
              </a:defRPr>
            </a:pPr>
            <a:r>
              <a:t>EVP FRAMEWORK</a:t>
            </a:r>
          </a:p>
        </p:txBody>
      </p:sp>
      <p:sp>
        <p:nvSpPr>
          <p:cNvPr id="3" name="TextBox 2"/>
          <p:cNvSpPr txBox="1"/>
          <p:nvPr/>
        </p:nvSpPr>
        <p:spPr>
          <a:xfrm>
            <a:off x="640080" y="320040"/>
            <a:ext cx="10881360" cy="822960"/>
          </a:xfrm>
          <a:prstGeom prst="rect">
            <a:avLst/>
          </a:prstGeom>
          <a:noFill/>
        </p:spPr>
        <p:txBody>
          <a:bodyPr wrap="square">
            <a:spAutoFit/>
          </a:bodyPr>
          <a:lstStyle/>
          <a:p>
            <a:pPr algn="l">
              <a:lnSpc>
                <a:spcPts val="3380"/>
              </a:lnSpc>
              <a:spcAft>
                <a:spcPts val="0"/>
              </a:spcAft>
              <a:defRPr sz="2600" b="1">
                <a:solidFill>
                  <a:srgbClr val="1A1A1A"/>
                </a:solidFill>
                <a:latin typeface="Arial"/>
              </a:defRPr>
            </a:pPr>
            <a:r>
              <a:t>Five EVP Pillars Calibrated for Financial Services Talent</a:t>
            </a:r>
          </a:p>
        </p:txBody>
      </p:sp>
      <p:sp>
        <p:nvSpPr>
          <p:cNvPr id="4" name="Oval 3"/>
          <p:cNvSpPr/>
          <p:nvPr/>
        </p:nvSpPr>
        <p:spPr>
          <a:xfrm>
            <a:off x="1417319" y="1325880"/>
            <a:ext cx="438912" cy="438912"/>
          </a:xfrm>
          <a:prstGeom prst="ellipse">
            <a:avLst/>
          </a:prstGeom>
          <a:solidFill>
            <a:srgbClr val="E84D0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a:lstStyle/>
          <a:p>
            <a:pPr algn="ctr">
              <a:defRPr sz="1400" b="1">
                <a:solidFill>
                  <a:srgbClr val="FFFFFF"/>
                </a:solidFill>
                <a:latin typeface="Arial"/>
              </a:defRPr>
            </a:pPr>
            <a:r>
              <a:t>1</a:t>
            </a:r>
          </a:p>
        </p:txBody>
      </p:sp>
      <p:sp>
        <p:nvSpPr>
          <p:cNvPr id="5" name="Rectangle 4"/>
          <p:cNvSpPr/>
          <p:nvPr/>
        </p:nvSpPr>
        <p:spPr>
          <a:xfrm>
            <a:off x="640080" y="1828800"/>
            <a:ext cx="2011680" cy="1920240"/>
          </a:xfrm>
          <a:prstGeom prst="rect">
            <a:avLst/>
          </a:prstGeom>
          <a:solidFill>
            <a:srgbClr val="F5F5F5"/>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rIns="109728"/>
          <a:lstStyle/>
          <a:p>
            <a:pPr algn="ctr">
              <a:defRPr sz="1000" b="1">
                <a:solidFill>
                  <a:srgbClr val="E84D0E"/>
                </a:solidFill>
                <a:latin typeface="Arial"/>
              </a:defRPr>
            </a:pPr>
            <a:r>
              <a:t>COMPENSATION</a:t>
            </a:r>
            <a:br/>
            <a:r>
              <a:t>&amp; BENEFITS</a:t>
            </a:r>
          </a:p>
          <a:p>
            <a:pPr>
              <a:lnSpc>
                <a:spcPts val="1080"/>
              </a:lnSpc>
              <a:spcBef>
                <a:spcPts val="400"/>
              </a:spcBef>
              <a:defRPr sz="800">
                <a:solidFill>
                  <a:srgbClr val="4A4A4A"/>
                </a:solidFill>
                <a:latin typeface="Arial"/>
              </a:defRPr>
            </a:pPr>
            <a:r>
              <a:t>ESOPs/RSUs (71% of GCCs)</a:t>
            </a:r>
            <a:br/>
            <a:r>
              <a:t>Variable pay 16.1%</a:t>
            </a:r>
            <a:br/>
            <a:r>
              <a:t>Long-term incentives</a:t>
            </a:r>
            <a:br/>
            <a:r>
              <a:t>15-22% premium over IT</a:t>
            </a:r>
          </a:p>
        </p:txBody>
      </p:sp>
      <p:sp>
        <p:nvSpPr>
          <p:cNvPr id="6" name="Oval 5"/>
          <p:cNvSpPr/>
          <p:nvPr/>
        </p:nvSpPr>
        <p:spPr>
          <a:xfrm>
            <a:off x="3538728" y="1325880"/>
            <a:ext cx="438912" cy="438912"/>
          </a:xfrm>
          <a:prstGeom prst="ellipse">
            <a:avLst/>
          </a:prstGeom>
          <a:solidFill>
            <a:srgbClr val="E84D0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a:lstStyle/>
          <a:p>
            <a:pPr algn="ctr">
              <a:defRPr sz="1400" b="1">
                <a:solidFill>
                  <a:srgbClr val="FFFFFF"/>
                </a:solidFill>
                <a:latin typeface="Arial"/>
              </a:defRPr>
            </a:pPr>
            <a:r>
              <a:t>2</a:t>
            </a:r>
          </a:p>
        </p:txBody>
      </p:sp>
      <p:sp>
        <p:nvSpPr>
          <p:cNvPr id="7" name="Rectangle 6"/>
          <p:cNvSpPr/>
          <p:nvPr/>
        </p:nvSpPr>
        <p:spPr>
          <a:xfrm>
            <a:off x="2761488" y="1828800"/>
            <a:ext cx="2011680" cy="1920240"/>
          </a:xfrm>
          <a:prstGeom prst="rect">
            <a:avLst/>
          </a:prstGeom>
          <a:solidFill>
            <a:srgbClr val="F5F5F5"/>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rIns="109728"/>
          <a:lstStyle/>
          <a:p>
            <a:pPr algn="ctr">
              <a:defRPr sz="1000" b="1">
                <a:solidFill>
                  <a:srgbClr val="E84D0E"/>
                </a:solidFill>
                <a:latin typeface="Arial"/>
              </a:defRPr>
            </a:pPr>
            <a:r>
              <a:t>CAREER</a:t>
            </a:r>
            <a:br/>
            <a:r>
              <a:t>DEVELOPMENT</a:t>
            </a:r>
          </a:p>
          <a:p>
            <a:pPr>
              <a:lnSpc>
                <a:spcPts val="1080"/>
              </a:lnSpc>
              <a:spcBef>
                <a:spcPts val="400"/>
              </a:spcBef>
              <a:defRPr sz="800">
                <a:solidFill>
                  <a:srgbClr val="4A4A4A"/>
                </a:solidFill>
                <a:latin typeface="Arial"/>
              </a:defRPr>
            </a:pPr>
            <a:r>
              <a:t>London/NYC/Singapore</a:t>
            </a:r>
            <a:br/>
            <a:r>
              <a:t>rotations</a:t>
            </a:r>
            <a:br/>
            <a:r>
              <a:t>AI academies</a:t>
            </a:r>
            <a:br/>
            <a:r>
              <a:t>Up to INR 2-3L budgets</a:t>
            </a:r>
          </a:p>
        </p:txBody>
      </p:sp>
      <p:sp>
        <p:nvSpPr>
          <p:cNvPr id="8" name="Oval 7"/>
          <p:cNvSpPr/>
          <p:nvPr/>
        </p:nvSpPr>
        <p:spPr>
          <a:xfrm>
            <a:off x="5660136" y="1325880"/>
            <a:ext cx="438912" cy="438912"/>
          </a:xfrm>
          <a:prstGeom prst="ellipse">
            <a:avLst/>
          </a:prstGeom>
          <a:solidFill>
            <a:srgbClr val="E84D0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a:lstStyle/>
          <a:p>
            <a:pPr algn="ctr">
              <a:defRPr sz="1400" b="1">
                <a:solidFill>
                  <a:srgbClr val="FFFFFF"/>
                </a:solidFill>
                <a:latin typeface="Arial"/>
              </a:defRPr>
            </a:pPr>
            <a:r>
              <a:t>3</a:t>
            </a:r>
          </a:p>
        </p:txBody>
      </p:sp>
      <p:sp>
        <p:nvSpPr>
          <p:cNvPr id="9" name="Rectangle 8"/>
          <p:cNvSpPr/>
          <p:nvPr/>
        </p:nvSpPr>
        <p:spPr>
          <a:xfrm>
            <a:off x="4882896" y="1828800"/>
            <a:ext cx="2011680" cy="1920240"/>
          </a:xfrm>
          <a:prstGeom prst="rect">
            <a:avLst/>
          </a:prstGeom>
          <a:solidFill>
            <a:srgbClr val="F5F5F5"/>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rIns="109728"/>
          <a:lstStyle/>
          <a:p>
            <a:pPr algn="ctr">
              <a:defRPr sz="1000" b="1">
                <a:solidFill>
                  <a:srgbClr val="E84D0E"/>
                </a:solidFill>
                <a:latin typeface="Arial"/>
              </a:defRPr>
            </a:pPr>
            <a:r>
              <a:t>WORK</a:t>
            </a:r>
            <a:br/>
            <a:r>
              <a:t>ENVIRONMENT</a:t>
            </a:r>
          </a:p>
          <a:p>
            <a:pPr>
              <a:lnSpc>
                <a:spcPts val="1080"/>
              </a:lnSpc>
              <a:spcBef>
                <a:spcPts val="400"/>
              </a:spcBef>
              <a:defRPr sz="800">
                <a:solidFill>
                  <a:srgbClr val="4A4A4A"/>
                </a:solidFill>
                <a:latin typeface="Arial"/>
              </a:defRPr>
            </a:pPr>
            <a:r>
              <a:t>Innovation culture (61%)</a:t>
            </a:r>
            <a:br/>
            <a:r>
              <a:t>Leadership access (65%)</a:t>
            </a:r>
            <a:br/>
            <a:r>
              <a:t>DEI commitment</a:t>
            </a:r>
            <a:br/>
            <a:r>
              <a:t>Psychological safety</a:t>
            </a:r>
          </a:p>
        </p:txBody>
      </p:sp>
      <p:sp>
        <p:nvSpPr>
          <p:cNvPr id="10" name="Oval 9"/>
          <p:cNvSpPr/>
          <p:nvPr/>
        </p:nvSpPr>
        <p:spPr>
          <a:xfrm>
            <a:off x="7781544" y="1325880"/>
            <a:ext cx="438912" cy="438912"/>
          </a:xfrm>
          <a:prstGeom prst="ellipse">
            <a:avLst/>
          </a:prstGeom>
          <a:solidFill>
            <a:srgbClr val="E84D0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a:lstStyle/>
          <a:p>
            <a:pPr algn="ctr">
              <a:defRPr sz="1400" b="1">
                <a:solidFill>
                  <a:srgbClr val="FFFFFF"/>
                </a:solidFill>
                <a:latin typeface="Arial"/>
              </a:defRPr>
            </a:pPr>
            <a:r>
              <a:t>4</a:t>
            </a:r>
          </a:p>
        </p:txBody>
      </p:sp>
      <p:sp>
        <p:nvSpPr>
          <p:cNvPr id="11" name="Rectangle 10"/>
          <p:cNvSpPr/>
          <p:nvPr/>
        </p:nvSpPr>
        <p:spPr>
          <a:xfrm>
            <a:off x="7004304" y="1828800"/>
            <a:ext cx="2011680" cy="1920240"/>
          </a:xfrm>
          <a:prstGeom prst="rect">
            <a:avLst/>
          </a:prstGeom>
          <a:solidFill>
            <a:srgbClr val="F5F5F5"/>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rIns="109728"/>
          <a:lstStyle/>
          <a:p>
            <a:pPr algn="ctr">
              <a:defRPr sz="1000" b="1">
                <a:solidFill>
                  <a:srgbClr val="E84D0E"/>
                </a:solidFill>
                <a:latin typeface="Arial"/>
              </a:defRPr>
            </a:pPr>
            <a:r>
              <a:t>WORK-LIFE</a:t>
            </a:r>
            <a:br/>
            <a:r>
              <a:t>BALANCE</a:t>
            </a:r>
          </a:p>
          <a:p>
            <a:pPr>
              <a:lnSpc>
                <a:spcPts val="1080"/>
              </a:lnSpc>
              <a:spcBef>
                <a:spcPts val="400"/>
              </a:spcBef>
              <a:defRPr sz="800">
                <a:solidFill>
                  <a:srgbClr val="4A4A4A"/>
                </a:solidFill>
                <a:latin typeface="Arial"/>
              </a:defRPr>
            </a:pPr>
            <a:r>
              <a:t>Hybrid (95% of GCCs)</a:t>
            </a:r>
            <a:br/>
            <a:r>
              <a:t>Anchor days model</a:t>
            </a:r>
            <a:br/>
            <a:r>
              <a:t>Wellness programs</a:t>
            </a:r>
            <a:br/>
            <a:r>
              <a:t>Mental health support</a:t>
            </a:r>
          </a:p>
        </p:txBody>
      </p:sp>
      <p:sp>
        <p:nvSpPr>
          <p:cNvPr id="12" name="Oval 11"/>
          <p:cNvSpPr/>
          <p:nvPr/>
        </p:nvSpPr>
        <p:spPr>
          <a:xfrm>
            <a:off x="9902952" y="1325880"/>
            <a:ext cx="438912" cy="438912"/>
          </a:xfrm>
          <a:prstGeom prst="ellipse">
            <a:avLst/>
          </a:prstGeom>
          <a:solidFill>
            <a:srgbClr val="E84D0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a:lstStyle/>
          <a:p>
            <a:pPr algn="ctr">
              <a:defRPr sz="1400" b="1">
                <a:solidFill>
                  <a:srgbClr val="FFFFFF"/>
                </a:solidFill>
                <a:latin typeface="Arial"/>
              </a:defRPr>
            </a:pPr>
            <a:r>
              <a:t>5</a:t>
            </a:r>
          </a:p>
        </p:txBody>
      </p:sp>
      <p:sp>
        <p:nvSpPr>
          <p:cNvPr id="13" name="Rectangle 12"/>
          <p:cNvSpPr/>
          <p:nvPr/>
        </p:nvSpPr>
        <p:spPr>
          <a:xfrm>
            <a:off x="9125712" y="1828800"/>
            <a:ext cx="2011680" cy="1920240"/>
          </a:xfrm>
          <a:prstGeom prst="rect">
            <a:avLst/>
          </a:prstGeom>
          <a:solidFill>
            <a:srgbClr val="F5F5F5"/>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rIns="109728"/>
          <a:lstStyle/>
          <a:p>
            <a:pPr algn="ctr">
              <a:defRPr sz="1000" b="1">
                <a:solidFill>
                  <a:srgbClr val="E84D0E"/>
                </a:solidFill>
                <a:latin typeface="Arial"/>
              </a:defRPr>
            </a:pPr>
            <a:r>
              <a:t>PURPOSE &amp;</a:t>
            </a:r>
            <a:br/>
            <a:r>
              <a:t>REPUTATION</a:t>
            </a:r>
          </a:p>
          <a:p>
            <a:pPr>
              <a:lnSpc>
                <a:spcPts val="1080"/>
              </a:lnSpc>
              <a:spcBef>
                <a:spcPts val="400"/>
              </a:spcBef>
              <a:defRPr sz="800">
                <a:solidFill>
                  <a:srgbClr val="4A4A4A"/>
                </a:solidFill>
                <a:latin typeface="Arial"/>
              </a:defRPr>
            </a:pPr>
            <a:r>
              <a:t>Financial inclusion</a:t>
            </a:r>
            <a:br/>
            <a:r>
              <a:t>ESG commitment</a:t>
            </a:r>
            <a:br/>
            <a:r>
              <a:t>Community impact</a:t>
            </a:r>
            <a:br/>
            <a:r>
              <a:t>Goldman: 220 projects/yr</a:t>
            </a:r>
          </a:p>
        </p:txBody>
      </p:sp>
      <p:sp>
        <p:nvSpPr>
          <p:cNvPr id="14" name="Rectangle 13"/>
          <p:cNvSpPr/>
          <p:nvPr/>
        </p:nvSpPr>
        <p:spPr>
          <a:xfrm>
            <a:off x="640080" y="3931920"/>
            <a:ext cx="1088136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4023360"/>
            <a:ext cx="10881360" cy="320040"/>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lIns="137160" tIns="25400"/>
          <a:lstStyle/>
          <a:p>
            <a:pPr algn="ctr">
              <a:defRPr sz="1100" b="1">
                <a:solidFill>
                  <a:srgbClr val="FFFFFF"/>
                </a:solidFill>
                <a:latin typeface="Arial"/>
              </a:defRPr>
            </a:pPr>
            <a:r>
              <a:t>GARTNER 'HUMAN DEAL' FRAMEWORK</a:t>
            </a:r>
          </a:p>
        </p:txBody>
      </p:sp>
      <p:graphicFrame>
        <p:nvGraphicFramePr>
          <p:cNvPr id="16" name="Table 15"/>
          <p:cNvGraphicFramePr>
            <a:graphicFrameLocks noGrp="1"/>
          </p:cNvGraphicFramePr>
          <p:nvPr/>
        </p:nvGraphicFramePr>
        <p:xfrm>
          <a:off x="640080" y="4434840"/>
          <a:ext cx="10881360" cy="1371600"/>
        </p:xfrm>
        <a:graphic>
          <a:graphicData uri="http://schemas.openxmlformats.org/drawingml/2006/table">
            <a:tbl>
              <a:tblPr firstRow="1" bandRow="1">
                <a:tableStyleId>{5C22544A-7EE6-4342-B048-85BDC9FD1C3A}</a:tableStyleId>
              </a:tblPr>
              <a:tblGrid>
                <a:gridCol w="2286000"/>
                <a:gridCol w="2743200"/>
                <a:gridCol w="5852160"/>
              </a:tblGrid>
              <a:tr h="228600">
                <a:tc>
                  <a:txBody>
                    <a:bodyPr/>
                    <a:lstStyle/>
                    <a:p>
                      <a:pPr>
                        <a:defRPr sz="900" b="1">
                          <a:solidFill>
                            <a:srgbClr val="FFFFFF"/>
                          </a:solidFill>
                          <a:latin typeface="Arial"/>
                        </a:defRPr>
                      </a:pPr>
                      <a:r>
                        <a:t>Component</a:t>
                      </a:r>
                    </a:p>
                  </a:txBody>
                  <a:tcPr marL="73152" marR="73152" marT="36576" marB="36576">
                    <a:solidFill>
                      <a:srgbClr val="2D2D2D"/>
                    </a:solidFill>
                  </a:tcPr>
                </a:tc>
                <a:tc>
                  <a:txBody>
                    <a:bodyPr/>
                    <a:lstStyle/>
                    <a:p>
                      <a:pPr>
                        <a:defRPr sz="900" b="1">
                          <a:solidFill>
                            <a:srgbClr val="FFFFFF"/>
                          </a:solidFill>
                          <a:latin typeface="Arial"/>
                        </a:defRPr>
                      </a:pPr>
                      <a:r>
                        <a:t>Description</a:t>
                      </a:r>
                    </a:p>
                  </a:txBody>
                  <a:tcPr marL="73152" marR="73152" marT="36576" marB="36576">
                    <a:solidFill>
                      <a:srgbClr val="2D2D2D"/>
                    </a:solidFill>
                  </a:tcPr>
                </a:tc>
                <a:tc>
                  <a:txBody>
                    <a:bodyPr/>
                    <a:lstStyle/>
                    <a:p>
                      <a:pPr>
                        <a:defRPr sz="900" b="1">
                          <a:solidFill>
                            <a:srgbClr val="FFFFFF"/>
                          </a:solidFill>
                          <a:latin typeface="Arial"/>
                        </a:defRPr>
                      </a:pPr>
                      <a:r>
                        <a:t>GCC Application</a:t>
                      </a:r>
                    </a:p>
                  </a:txBody>
                  <a:tcPr marL="73152" marR="73152" marT="36576" marB="36576">
                    <a:solidFill>
                      <a:srgbClr val="2D2D2D"/>
                    </a:solidFill>
                  </a:tcPr>
                </a:tc>
              </a:tr>
              <a:tr h="228600">
                <a:tc>
                  <a:txBody>
                    <a:bodyPr/>
                    <a:lstStyle/>
                    <a:p>
                      <a:pPr>
                        <a:defRPr sz="900">
                          <a:solidFill>
                            <a:srgbClr val="4A4A4A"/>
                          </a:solidFill>
                          <a:latin typeface="Arial"/>
                        </a:defRPr>
                      </a:pPr>
                      <a:r>
                        <a:t>Shared Purpose</a:t>
                      </a:r>
                    </a:p>
                  </a:txBody>
                  <a:tcPr marL="73152" marR="73152" marT="36576" marB="36576">
                    <a:solidFill>
                      <a:srgbClr val="FFFFFF"/>
                    </a:solidFill>
                  </a:tcPr>
                </a:tc>
                <a:tc>
                  <a:txBody>
                    <a:bodyPr/>
                    <a:lstStyle/>
                    <a:p>
                      <a:pPr>
                        <a:defRPr sz="900">
                          <a:solidFill>
                            <a:srgbClr val="4A4A4A"/>
                          </a:solidFill>
                          <a:latin typeface="Arial"/>
                        </a:defRPr>
                      </a:pPr>
                      <a:r>
                        <a:t>Champion societal issues</a:t>
                      </a:r>
                    </a:p>
                  </a:txBody>
                  <a:tcPr marL="73152" marR="73152" marT="36576" marB="36576">
                    <a:solidFill>
                      <a:srgbClr val="FFFFFF"/>
                    </a:solidFill>
                  </a:tcPr>
                </a:tc>
                <a:tc>
                  <a:txBody>
                    <a:bodyPr/>
                    <a:lstStyle/>
                    <a:p>
                      <a:pPr>
                        <a:defRPr sz="900">
                          <a:solidFill>
                            <a:srgbClr val="4A4A4A"/>
                          </a:solidFill>
                          <a:latin typeface="Arial"/>
                        </a:defRPr>
                      </a:pPr>
                      <a:r>
                        <a:t>Financial inclusion, ESG, community impact</a:t>
                      </a:r>
                    </a:p>
                  </a:txBody>
                  <a:tcPr marL="73152" marR="73152" marT="36576" marB="36576">
                    <a:solidFill>
                      <a:srgbClr val="FFFFFF"/>
                    </a:solidFill>
                  </a:tcPr>
                </a:tc>
              </a:tr>
              <a:tr h="228600">
                <a:tc>
                  <a:txBody>
                    <a:bodyPr/>
                    <a:lstStyle/>
                    <a:p>
                      <a:pPr>
                        <a:defRPr sz="900">
                          <a:solidFill>
                            <a:srgbClr val="4A4A4A"/>
                          </a:solidFill>
                          <a:latin typeface="Arial"/>
                        </a:defRPr>
                      </a:pPr>
                      <a:r>
                        <a:t>Deeper Connections</a:t>
                      </a:r>
                    </a:p>
                  </a:txBody>
                  <a:tcPr marL="73152" marR="73152" marT="36576" marB="36576">
                    <a:solidFill>
                      <a:srgbClr val="F5F5F5"/>
                    </a:solidFill>
                  </a:tcPr>
                </a:tc>
                <a:tc>
                  <a:txBody>
                    <a:bodyPr/>
                    <a:lstStyle/>
                    <a:p>
                      <a:pPr>
                        <a:defRPr sz="900">
                          <a:solidFill>
                            <a:srgbClr val="4A4A4A"/>
                          </a:solidFill>
                          <a:latin typeface="Arial"/>
                        </a:defRPr>
                      </a:pPr>
                      <a:r>
                        <a:t>Community bonds</a:t>
                      </a:r>
                    </a:p>
                  </a:txBody>
                  <a:tcPr marL="73152" marR="73152" marT="36576" marB="36576">
                    <a:solidFill>
                      <a:srgbClr val="F5F5F5"/>
                    </a:solidFill>
                  </a:tcPr>
                </a:tc>
                <a:tc>
                  <a:txBody>
                    <a:bodyPr/>
                    <a:lstStyle/>
                    <a:p>
                      <a:pPr>
                        <a:defRPr sz="900">
                          <a:solidFill>
                            <a:srgbClr val="4A4A4A"/>
                          </a:solidFill>
                          <a:latin typeface="Arial"/>
                        </a:defRPr>
                      </a:pPr>
                      <a:r>
                        <a:t>Volunteering, cross-geo programs</a:t>
                      </a:r>
                    </a:p>
                  </a:txBody>
                  <a:tcPr marL="73152" marR="73152" marT="36576" marB="36576">
                    <a:solidFill>
                      <a:srgbClr val="F5F5F5"/>
                    </a:solidFill>
                  </a:tcPr>
                </a:tc>
              </a:tr>
              <a:tr h="228600">
                <a:tc>
                  <a:txBody>
                    <a:bodyPr/>
                    <a:lstStyle/>
                    <a:p>
                      <a:pPr>
                        <a:defRPr sz="900">
                          <a:solidFill>
                            <a:srgbClr val="4A4A4A"/>
                          </a:solidFill>
                          <a:latin typeface="Arial"/>
                        </a:defRPr>
                      </a:pPr>
                      <a:r>
                        <a:t>Holistic Well-Being</a:t>
                      </a:r>
                    </a:p>
                  </a:txBody>
                  <a:tcPr marL="73152" marR="73152" marT="36576" marB="36576">
                    <a:solidFill>
                      <a:srgbClr val="FFFFFF"/>
                    </a:solidFill>
                  </a:tcPr>
                </a:tc>
                <a:tc>
                  <a:txBody>
                    <a:bodyPr/>
                    <a:lstStyle/>
                    <a:p>
                      <a:pPr>
                        <a:defRPr sz="900">
                          <a:solidFill>
                            <a:srgbClr val="4A4A4A"/>
                          </a:solidFill>
                          <a:latin typeface="Arial"/>
                        </a:defRPr>
                      </a:pPr>
                      <a:r>
                        <a:t>Comprehensive wellness</a:t>
                      </a:r>
                    </a:p>
                  </a:txBody>
                  <a:tcPr marL="73152" marR="73152" marT="36576" marB="36576">
                    <a:solidFill>
                      <a:srgbClr val="FFFFFF"/>
                    </a:solidFill>
                  </a:tcPr>
                </a:tc>
                <a:tc>
                  <a:txBody>
                    <a:bodyPr/>
                    <a:lstStyle/>
                    <a:p>
                      <a:pPr>
                        <a:defRPr sz="900">
                          <a:solidFill>
                            <a:srgbClr val="4A4A4A"/>
                          </a:solidFill>
                          <a:latin typeface="Arial"/>
                        </a:defRPr>
                      </a:pPr>
                      <a:r>
                        <a:t>Mental health, wellness zones</a:t>
                      </a:r>
                    </a:p>
                  </a:txBody>
                  <a:tcPr marL="73152" marR="73152" marT="36576" marB="36576">
                    <a:solidFill>
                      <a:srgbClr val="FFFFFF"/>
                    </a:solidFill>
                  </a:tcPr>
                </a:tc>
              </a:tr>
              <a:tr h="228600">
                <a:tc>
                  <a:txBody>
                    <a:bodyPr/>
                    <a:lstStyle/>
                    <a:p>
                      <a:pPr>
                        <a:defRPr sz="900">
                          <a:solidFill>
                            <a:srgbClr val="4A4A4A"/>
                          </a:solidFill>
                          <a:latin typeface="Arial"/>
                        </a:defRPr>
                      </a:pPr>
                      <a:r>
                        <a:t>Radical Flexibility</a:t>
                      </a:r>
                    </a:p>
                  </a:txBody>
                  <a:tcPr marL="73152" marR="73152" marT="36576" marB="36576">
                    <a:solidFill>
                      <a:srgbClr val="F5F5F5"/>
                    </a:solidFill>
                  </a:tcPr>
                </a:tc>
                <a:tc>
                  <a:txBody>
                    <a:bodyPr/>
                    <a:lstStyle/>
                    <a:p>
                      <a:pPr>
                        <a:defRPr sz="900">
                          <a:solidFill>
                            <a:srgbClr val="4A4A4A"/>
                          </a:solidFill>
                          <a:latin typeface="Arial"/>
                        </a:defRPr>
                      </a:pPr>
                      <a:r>
                        <a:t>Team-set boundaries</a:t>
                      </a:r>
                    </a:p>
                  </a:txBody>
                  <a:tcPr marL="73152" marR="73152" marT="36576" marB="36576">
                    <a:solidFill>
                      <a:srgbClr val="F5F5F5"/>
                    </a:solidFill>
                  </a:tcPr>
                </a:tc>
                <a:tc>
                  <a:txBody>
                    <a:bodyPr/>
                    <a:lstStyle/>
                    <a:p>
                      <a:pPr>
                        <a:defRPr sz="900">
                          <a:solidFill>
                            <a:srgbClr val="4A4A4A"/>
                          </a:solidFill>
                          <a:latin typeface="Arial"/>
                        </a:defRPr>
                      </a:pPr>
                      <a:r>
                        <a:t>Hybrid 2.0, anchor days, remote-first</a:t>
                      </a:r>
                    </a:p>
                  </a:txBody>
                  <a:tcPr marL="73152" marR="73152" marT="36576" marB="36576">
                    <a:solidFill>
                      <a:srgbClr val="F5F5F5"/>
                    </a:solidFill>
                  </a:tcPr>
                </a:tc>
              </a:tr>
              <a:tr h="228600">
                <a:tc>
                  <a:txBody>
                    <a:bodyPr/>
                    <a:lstStyle/>
                    <a:p>
                      <a:pPr>
                        <a:defRPr sz="900">
                          <a:solidFill>
                            <a:srgbClr val="4A4A4A"/>
                          </a:solidFill>
                          <a:latin typeface="Arial"/>
                        </a:defRPr>
                      </a:pPr>
                      <a:r>
                        <a:t>Personal Growth</a:t>
                      </a:r>
                    </a:p>
                  </a:txBody>
                  <a:tcPr marL="73152" marR="73152" marT="36576" marB="36576">
                    <a:solidFill>
                      <a:srgbClr val="FFFFFF"/>
                    </a:solidFill>
                  </a:tcPr>
                </a:tc>
                <a:tc>
                  <a:txBody>
                    <a:bodyPr/>
                    <a:lstStyle/>
                    <a:p>
                      <a:pPr>
                        <a:defRPr sz="900">
                          <a:solidFill>
                            <a:srgbClr val="4A4A4A"/>
                          </a:solidFill>
                          <a:latin typeface="Arial"/>
                        </a:defRPr>
                      </a:pPr>
                      <a:r>
                        <a:t>Personalized development</a:t>
                      </a:r>
                    </a:p>
                  </a:txBody>
                  <a:tcPr marL="73152" marR="73152" marT="36576" marB="36576">
                    <a:solidFill>
                      <a:srgbClr val="FFFFFF"/>
                    </a:solidFill>
                  </a:tcPr>
                </a:tc>
                <a:tc>
                  <a:txBody>
                    <a:bodyPr/>
                    <a:lstStyle/>
                    <a:p>
                      <a:pPr>
                        <a:defRPr sz="900">
                          <a:solidFill>
                            <a:srgbClr val="4A4A4A"/>
                          </a:solidFill>
                          <a:latin typeface="Arial"/>
                        </a:defRPr>
                      </a:pPr>
                      <a:r>
                        <a:t>Global rotations, certifications, AI labs</a:t>
                      </a:r>
                    </a:p>
                  </a:txBody>
                  <a:tcPr marL="73152" marR="73152" marT="36576" marB="36576">
                    <a:solidFill>
                      <a:srgbClr val="FFFFFF"/>
                    </a:solidFill>
                  </a:tcPr>
                </a:tc>
              </a:tr>
            </a:tbl>
          </a:graphicData>
        </a:graphic>
      </p:graphicFrame>
      <p:sp>
        <p:nvSpPr>
          <p:cNvPr id="17" name="Rectangle 16"/>
          <p:cNvSpPr/>
          <p:nvPr/>
        </p:nvSpPr>
        <p:spPr>
          <a:xfrm>
            <a:off x="0" y="6080760"/>
            <a:ext cx="12191695" cy="36576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wrap="square" lIns="640080" tIns="63500"/>
          <a:lstStyle/>
          <a:p>
            <a:pPr algn="l">
              <a:defRPr sz="1000" b="1">
                <a:solidFill>
                  <a:srgbClr val="2D2D2D"/>
                </a:solidFill>
                <a:latin typeface="Arial"/>
              </a:defRPr>
            </a:pPr>
            <a:r>
              <a:t>SO WHAT: A BFSI EVP must answer — will this GCC accelerate my career as fast as Goldman or JP Morgan would?</a:t>
            </a:r>
          </a:p>
        </p:txBody>
      </p:sp>
      <p:sp>
        <p:nvSpPr>
          <p:cNvPr id="18" name="TextBox 17"/>
          <p:cNvSpPr txBox="1"/>
          <p:nvPr/>
        </p:nvSpPr>
        <p:spPr>
          <a:xfrm>
            <a:off x="11247120" y="6537960"/>
            <a:ext cx="731520" cy="228600"/>
          </a:xfrm>
          <a:prstGeom prst="rect">
            <a:avLst/>
          </a:prstGeom>
          <a:noFill/>
        </p:spPr>
        <p:txBody>
          <a:bodyPr wrap="square">
            <a:spAutoFit/>
          </a:bodyPr>
          <a:lstStyle/>
          <a:p>
            <a:pPr algn="r">
              <a:lnSpc>
                <a:spcPts val="910"/>
              </a:lnSpc>
              <a:spcAft>
                <a:spcPts val="0"/>
              </a:spcAft>
              <a:defRPr sz="700" b="1">
                <a:solidFill>
                  <a:srgbClr val="666666"/>
                </a:solidFill>
                <a:latin typeface="Arial"/>
              </a:defRPr>
            </a:pPr>
            <a:r>
              <a:t>16</a:t>
            </a:r>
          </a:p>
        </p:txBody>
      </p:sp>
      <p:sp>
        <p:nvSpPr>
          <p:cNvPr id="19" name="TextBox 18"/>
          <p:cNvSpPr txBox="1"/>
          <p:nvPr/>
        </p:nvSpPr>
        <p:spPr>
          <a:xfrm>
            <a:off x="640080" y="6537960"/>
            <a:ext cx="10058400" cy="228600"/>
          </a:xfrm>
          <a:prstGeom prst="rect">
            <a:avLst/>
          </a:prstGeom>
          <a:noFill/>
        </p:spPr>
        <p:txBody>
          <a:bodyPr wrap="square">
            <a:spAutoFit/>
          </a:bodyPr>
          <a:lstStyle/>
          <a:p>
            <a:pPr algn="l">
              <a:lnSpc>
                <a:spcPts val="910"/>
              </a:lnSpc>
              <a:spcAft>
                <a:spcPts val="0"/>
              </a:spcAft>
              <a:defRPr sz="700" b="0">
                <a:solidFill>
                  <a:srgbClr val="666666"/>
                </a:solidFill>
                <a:latin typeface="Arial"/>
              </a:defRPr>
            </a:pPr>
            <a:r>
              <a:t>Sources: Gartner, AIHR, EY, ANSR, Zinnov</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137160"/>
            <a:ext cx="4572000" cy="228600"/>
          </a:xfrm>
          <a:prstGeom prst="rect">
            <a:avLst/>
          </a:prstGeom>
          <a:noFill/>
        </p:spPr>
        <p:txBody>
          <a:bodyPr wrap="square">
            <a:spAutoFit/>
          </a:bodyPr>
          <a:lstStyle/>
          <a:p>
            <a:pPr algn="l">
              <a:lnSpc>
                <a:spcPts val="1170"/>
              </a:lnSpc>
              <a:spcAft>
                <a:spcPts val="0"/>
              </a:spcAft>
              <a:defRPr sz="900" b="1">
                <a:solidFill>
                  <a:srgbClr val="E84D0E"/>
                </a:solidFill>
                <a:latin typeface="Arial"/>
              </a:defRPr>
            </a:pPr>
            <a:r>
              <a:t>EMPLOYER BRANDING</a:t>
            </a:r>
          </a:p>
        </p:txBody>
      </p:sp>
      <p:sp>
        <p:nvSpPr>
          <p:cNvPr id="3" name="TextBox 2"/>
          <p:cNvSpPr txBox="1"/>
          <p:nvPr/>
        </p:nvSpPr>
        <p:spPr>
          <a:xfrm>
            <a:off x="640080" y="320040"/>
            <a:ext cx="10881360" cy="822960"/>
          </a:xfrm>
          <a:prstGeom prst="rect">
            <a:avLst/>
          </a:prstGeom>
          <a:noFill/>
        </p:spPr>
        <p:txBody>
          <a:bodyPr wrap="square">
            <a:spAutoFit/>
          </a:bodyPr>
          <a:lstStyle/>
          <a:p>
            <a:pPr algn="l">
              <a:lnSpc>
                <a:spcPts val="3380"/>
              </a:lnSpc>
              <a:spcAft>
                <a:spcPts val="0"/>
              </a:spcAft>
              <a:defRPr sz="2600" b="1">
                <a:solidFill>
                  <a:srgbClr val="1A1A1A"/>
                </a:solidFill>
                <a:latin typeface="Arial"/>
              </a:defRPr>
            </a:pPr>
            <a:r>
              <a:t>Only 25-30% of GCCs Invest in Branding: The First-Mover Arbitrage</a:t>
            </a:r>
          </a:p>
        </p:txBody>
      </p:sp>
      <p:sp>
        <p:nvSpPr>
          <p:cNvPr id="4" name="Chevron 3"/>
          <p:cNvSpPr/>
          <p:nvPr/>
        </p:nvSpPr>
        <p:spPr>
          <a:xfrm>
            <a:off x="640080" y="1371600"/>
            <a:ext cx="3578352" cy="548640"/>
          </a:xfrm>
          <a:prstGeom prst="chevron">
            <a:avLst/>
          </a:prstGeom>
          <a:solidFill>
            <a:srgbClr val="E84D0E"/>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0" tIns="25400"/>
          <a:lstStyle/>
          <a:p>
            <a:pPr algn="ctr">
              <a:defRPr sz="900" b="1">
                <a:solidFill>
                  <a:srgbClr val="FFFFFF"/>
                </a:solidFill>
                <a:latin typeface="Arial"/>
              </a:defRPr>
            </a:pPr>
            <a:r>
              <a:t>PHASE 1</a:t>
            </a:r>
            <a:br/>
            <a:r>
              <a:t>Months 1-3</a:t>
            </a:r>
          </a:p>
        </p:txBody>
      </p:sp>
      <p:sp>
        <p:nvSpPr>
          <p:cNvPr id="5" name="Chevron 4"/>
          <p:cNvSpPr/>
          <p:nvPr/>
        </p:nvSpPr>
        <p:spPr>
          <a:xfrm>
            <a:off x="4291584" y="1371600"/>
            <a:ext cx="3578352" cy="548640"/>
          </a:xfrm>
          <a:prstGeom prst="chevron">
            <a:avLst/>
          </a:prstGeom>
          <a:solidFill>
            <a:srgbClr val="D65914"/>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0" tIns="25400"/>
          <a:lstStyle/>
          <a:p>
            <a:pPr algn="ctr">
              <a:defRPr sz="900" b="1">
                <a:solidFill>
                  <a:srgbClr val="FFFFFF"/>
                </a:solidFill>
                <a:latin typeface="Arial"/>
              </a:defRPr>
            </a:pPr>
            <a:r>
              <a:t>PHASE 2</a:t>
            </a:r>
            <a:br/>
            <a:r>
              <a:t>Months 4-9</a:t>
            </a:r>
          </a:p>
        </p:txBody>
      </p:sp>
      <p:sp>
        <p:nvSpPr>
          <p:cNvPr id="6" name="Chevron 5"/>
          <p:cNvSpPr/>
          <p:nvPr/>
        </p:nvSpPr>
        <p:spPr>
          <a:xfrm>
            <a:off x="7943088" y="1371600"/>
            <a:ext cx="3578352" cy="548640"/>
          </a:xfrm>
          <a:prstGeom prst="chevron">
            <a:avLst/>
          </a:prstGeom>
          <a:solidFill>
            <a:srgbClr val="C4651A"/>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0" tIns="25400"/>
          <a:lstStyle/>
          <a:p>
            <a:pPr algn="ctr">
              <a:defRPr sz="900" b="1">
                <a:solidFill>
                  <a:srgbClr val="FFFFFF"/>
                </a:solidFill>
                <a:latin typeface="Arial"/>
              </a:defRPr>
            </a:pPr>
            <a:r>
              <a:t>PHASE 3</a:t>
            </a:r>
            <a:br/>
            <a:r>
              <a:t>Months 10-18</a:t>
            </a:r>
          </a:p>
        </p:txBody>
      </p:sp>
      <p:sp>
        <p:nvSpPr>
          <p:cNvPr id="7" name="TextBox 6"/>
          <p:cNvSpPr txBox="1"/>
          <p:nvPr/>
        </p:nvSpPr>
        <p:spPr>
          <a:xfrm>
            <a:off x="640080" y="1965960"/>
            <a:ext cx="3578352" cy="594360"/>
          </a:xfrm>
          <a:prstGeom prst="rect">
            <a:avLst/>
          </a:prstGeom>
          <a:noFill/>
        </p:spPr>
        <p:txBody>
          <a:bodyPr wrap="square">
            <a:spAutoFit/>
          </a:bodyPr>
          <a:lstStyle/>
          <a:p>
            <a:pPr algn="ctr">
              <a:lnSpc>
                <a:spcPts val="1000"/>
              </a:lnSpc>
              <a:spcAft>
                <a:spcPts val="0"/>
              </a:spcAft>
              <a:defRPr sz="800" b="0">
                <a:solidFill>
                  <a:srgbClr val="666666"/>
                </a:solidFill>
                <a:latin typeface="Arial"/>
              </a:defRPr>
            </a:pPr>
            <a:r>
              <a:t>Fix Glassdoor</a:t>
            </a:r>
            <a:br/>
            <a:r>
              <a:t>Employee advocacy</a:t>
            </a:r>
            <a:br/>
            <a:r>
              <a:t>8x engagement boost</a:t>
            </a:r>
          </a:p>
        </p:txBody>
      </p:sp>
      <p:sp>
        <p:nvSpPr>
          <p:cNvPr id="8" name="TextBox 7"/>
          <p:cNvSpPr txBox="1"/>
          <p:nvPr/>
        </p:nvSpPr>
        <p:spPr>
          <a:xfrm>
            <a:off x="4291584" y="1965960"/>
            <a:ext cx="3578352" cy="594360"/>
          </a:xfrm>
          <a:prstGeom prst="rect">
            <a:avLst/>
          </a:prstGeom>
          <a:noFill/>
        </p:spPr>
        <p:txBody>
          <a:bodyPr wrap="square">
            <a:spAutoFit/>
          </a:bodyPr>
          <a:lstStyle/>
          <a:p>
            <a:pPr algn="ctr">
              <a:lnSpc>
                <a:spcPts val="1000"/>
              </a:lnSpc>
              <a:spcAft>
                <a:spcPts val="0"/>
              </a:spcAft>
              <a:defRPr sz="800" b="0">
                <a:solidFill>
                  <a:srgbClr val="666666"/>
                </a:solidFill>
                <a:latin typeface="Arial"/>
              </a:defRPr>
            </a:pPr>
            <a:r>
              <a:t>Campus partnerships</a:t>
            </a:r>
            <a:br/>
            <a:r>
              <a:t>LinkedIn leadership</a:t>
            </a:r>
            <a:br/>
            <a:r>
              <a:t>Developer community</a:t>
            </a:r>
          </a:p>
        </p:txBody>
      </p:sp>
      <p:sp>
        <p:nvSpPr>
          <p:cNvPr id="9" name="TextBox 8"/>
          <p:cNvSpPr txBox="1"/>
          <p:nvPr/>
        </p:nvSpPr>
        <p:spPr>
          <a:xfrm>
            <a:off x="7943088" y="1965960"/>
            <a:ext cx="3578352" cy="594360"/>
          </a:xfrm>
          <a:prstGeom prst="rect">
            <a:avLst/>
          </a:prstGeom>
          <a:noFill/>
        </p:spPr>
        <p:txBody>
          <a:bodyPr wrap="square">
            <a:spAutoFit/>
          </a:bodyPr>
          <a:lstStyle/>
          <a:p>
            <a:pPr algn="ctr">
              <a:lnSpc>
                <a:spcPts val="1000"/>
              </a:lnSpc>
              <a:spcAft>
                <a:spcPts val="0"/>
              </a:spcAft>
              <a:defRPr sz="800" b="0">
                <a:solidFill>
                  <a:srgbClr val="666666"/>
                </a:solidFill>
                <a:latin typeface="Arial"/>
              </a:defRPr>
            </a:pPr>
            <a:r>
              <a:t>Great Place to Work</a:t>
            </a:r>
            <a:br/>
            <a:r>
              <a:t>Industry awards</a:t>
            </a:r>
            <a:br/>
            <a:r>
              <a:t>Brand measurement</a:t>
            </a:r>
          </a:p>
        </p:txBody>
      </p:sp>
      <p:sp>
        <p:nvSpPr>
          <p:cNvPr id="10" name="Rectangle 9"/>
          <p:cNvSpPr/>
          <p:nvPr/>
        </p:nvSpPr>
        <p:spPr>
          <a:xfrm>
            <a:off x="640080" y="2606040"/>
            <a:ext cx="1088136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2697480"/>
            <a:ext cx="10881360" cy="320040"/>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lIns="137160" tIns="25400"/>
          <a:lstStyle/>
          <a:p>
            <a:pPr algn="ctr">
              <a:defRPr sz="1100" b="1">
                <a:solidFill>
                  <a:srgbClr val="FFFFFF"/>
                </a:solidFill>
                <a:latin typeface="Arial"/>
              </a:defRPr>
            </a:pPr>
            <a:r>
              <a:t>ROI OF EMPLOYER BRANDING</a:t>
            </a:r>
          </a:p>
        </p:txBody>
      </p:sp>
      <p:sp>
        <p:nvSpPr>
          <p:cNvPr id="12" name="Rectangle 11"/>
          <p:cNvSpPr/>
          <p:nvPr/>
        </p:nvSpPr>
        <p:spPr>
          <a:xfrm>
            <a:off x="640080" y="3108960"/>
            <a:ext cx="2011680" cy="1051560"/>
          </a:xfrm>
          <a:prstGeom prst="rect">
            <a:avLst/>
          </a:prstGeom>
          <a:solidFill>
            <a:srgbClr val="F5F5F5"/>
          </a:solidFill>
          <a:ln w="9525">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19" y="3182112"/>
            <a:ext cx="1828800" cy="502920"/>
          </a:xfrm>
          <a:prstGeom prst="rect">
            <a:avLst/>
          </a:prstGeom>
          <a:noFill/>
        </p:spPr>
        <p:txBody>
          <a:bodyPr wrap="square">
            <a:spAutoFit/>
          </a:bodyPr>
          <a:lstStyle/>
          <a:p>
            <a:pPr algn="ctr">
              <a:lnSpc>
                <a:spcPts val="3380"/>
              </a:lnSpc>
              <a:spcAft>
                <a:spcPts val="0"/>
              </a:spcAft>
              <a:defRPr sz="2600" b="1">
                <a:solidFill>
                  <a:srgbClr val="27AE60"/>
                </a:solidFill>
                <a:latin typeface="Arial"/>
              </a:defRPr>
            </a:pPr>
            <a:r>
              <a:t>43%</a:t>
            </a:r>
          </a:p>
        </p:txBody>
      </p:sp>
      <p:sp>
        <p:nvSpPr>
          <p:cNvPr id="14" name="TextBox 13"/>
          <p:cNvSpPr txBox="1"/>
          <p:nvPr/>
        </p:nvSpPr>
        <p:spPr>
          <a:xfrm>
            <a:off x="731519" y="3703320"/>
            <a:ext cx="1828800" cy="411480"/>
          </a:xfrm>
          <a:prstGeom prst="rect">
            <a:avLst/>
          </a:prstGeom>
          <a:noFill/>
        </p:spPr>
        <p:txBody>
          <a:bodyPr wrap="square">
            <a:spAutoFit/>
          </a:bodyPr>
          <a:lstStyle/>
          <a:p>
            <a:pPr algn="ctr">
              <a:lnSpc>
                <a:spcPts val="960"/>
              </a:lnSpc>
              <a:spcAft>
                <a:spcPts val="0"/>
              </a:spcAft>
              <a:defRPr sz="800" b="0">
                <a:solidFill>
                  <a:srgbClr val="666666"/>
                </a:solidFill>
                <a:latin typeface="Arial"/>
              </a:defRPr>
            </a:pPr>
            <a:r>
              <a:t>Lower</a:t>
            </a:r>
            <a:br/>
            <a:r>
              <a:t>Cost-per-Hire</a:t>
            </a:r>
          </a:p>
        </p:txBody>
      </p:sp>
      <p:sp>
        <p:nvSpPr>
          <p:cNvPr id="15" name="Rectangle 14"/>
          <p:cNvSpPr/>
          <p:nvPr/>
        </p:nvSpPr>
        <p:spPr>
          <a:xfrm>
            <a:off x="2834639" y="3108960"/>
            <a:ext cx="2011680" cy="1051560"/>
          </a:xfrm>
          <a:prstGeom prst="rect">
            <a:avLst/>
          </a:prstGeom>
          <a:solidFill>
            <a:srgbClr val="F5F5F5"/>
          </a:solidFill>
          <a:ln w="9525">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26079" y="3182112"/>
            <a:ext cx="1828800" cy="502920"/>
          </a:xfrm>
          <a:prstGeom prst="rect">
            <a:avLst/>
          </a:prstGeom>
          <a:noFill/>
        </p:spPr>
        <p:txBody>
          <a:bodyPr wrap="square">
            <a:spAutoFit/>
          </a:bodyPr>
          <a:lstStyle/>
          <a:p>
            <a:pPr algn="ctr">
              <a:lnSpc>
                <a:spcPts val="3380"/>
              </a:lnSpc>
              <a:spcAft>
                <a:spcPts val="0"/>
              </a:spcAft>
              <a:defRPr sz="2600" b="1">
                <a:solidFill>
                  <a:srgbClr val="27AE60"/>
                </a:solidFill>
                <a:latin typeface="Arial"/>
              </a:defRPr>
            </a:pPr>
            <a:r>
              <a:t>28%</a:t>
            </a:r>
          </a:p>
        </p:txBody>
      </p:sp>
      <p:sp>
        <p:nvSpPr>
          <p:cNvPr id="17" name="TextBox 16"/>
          <p:cNvSpPr txBox="1"/>
          <p:nvPr/>
        </p:nvSpPr>
        <p:spPr>
          <a:xfrm>
            <a:off x="2926079" y="3703320"/>
            <a:ext cx="1828800" cy="411480"/>
          </a:xfrm>
          <a:prstGeom prst="rect">
            <a:avLst/>
          </a:prstGeom>
          <a:noFill/>
        </p:spPr>
        <p:txBody>
          <a:bodyPr wrap="square">
            <a:spAutoFit/>
          </a:bodyPr>
          <a:lstStyle/>
          <a:p>
            <a:pPr algn="ctr">
              <a:lnSpc>
                <a:spcPts val="960"/>
              </a:lnSpc>
              <a:spcAft>
                <a:spcPts val="0"/>
              </a:spcAft>
              <a:defRPr sz="800" b="0">
                <a:solidFill>
                  <a:srgbClr val="666666"/>
                </a:solidFill>
                <a:latin typeface="Arial"/>
              </a:defRPr>
            </a:pPr>
            <a:r>
              <a:t>Lower</a:t>
            </a:r>
            <a:br/>
            <a:r>
              <a:t>Turnover</a:t>
            </a:r>
          </a:p>
        </p:txBody>
      </p:sp>
      <p:sp>
        <p:nvSpPr>
          <p:cNvPr id="18" name="Rectangle 17"/>
          <p:cNvSpPr/>
          <p:nvPr/>
        </p:nvSpPr>
        <p:spPr>
          <a:xfrm>
            <a:off x="5029200" y="3108960"/>
            <a:ext cx="2011680" cy="1051560"/>
          </a:xfrm>
          <a:prstGeom prst="rect">
            <a:avLst/>
          </a:prstGeom>
          <a:solidFill>
            <a:srgbClr val="F5F5F5"/>
          </a:solidFill>
          <a:ln w="9525">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20640" y="3182112"/>
            <a:ext cx="1828800" cy="502920"/>
          </a:xfrm>
          <a:prstGeom prst="rect">
            <a:avLst/>
          </a:prstGeom>
          <a:noFill/>
        </p:spPr>
        <p:txBody>
          <a:bodyPr wrap="square">
            <a:spAutoFit/>
          </a:bodyPr>
          <a:lstStyle/>
          <a:p>
            <a:pPr algn="ctr">
              <a:lnSpc>
                <a:spcPts val="3380"/>
              </a:lnSpc>
              <a:spcAft>
                <a:spcPts val="0"/>
              </a:spcAft>
              <a:defRPr sz="2600" b="1">
                <a:solidFill>
                  <a:srgbClr val="27AE60"/>
                </a:solidFill>
                <a:latin typeface="Arial"/>
              </a:defRPr>
            </a:pPr>
            <a:r>
              <a:t>50%</a:t>
            </a:r>
          </a:p>
        </p:txBody>
      </p:sp>
      <p:sp>
        <p:nvSpPr>
          <p:cNvPr id="20" name="TextBox 19"/>
          <p:cNvSpPr txBox="1"/>
          <p:nvPr/>
        </p:nvSpPr>
        <p:spPr>
          <a:xfrm>
            <a:off x="5120640" y="3703320"/>
            <a:ext cx="1828800" cy="411480"/>
          </a:xfrm>
          <a:prstGeom prst="rect">
            <a:avLst/>
          </a:prstGeom>
          <a:noFill/>
        </p:spPr>
        <p:txBody>
          <a:bodyPr wrap="square">
            <a:spAutoFit/>
          </a:bodyPr>
          <a:lstStyle/>
          <a:p>
            <a:pPr algn="ctr">
              <a:lnSpc>
                <a:spcPts val="960"/>
              </a:lnSpc>
              <a:spcAft>
                <a:spcPts val="0"/>
              </a:spcAft>
              <a:defRPr sz="800" b="0">
                <a:solidFill>
                  <a:srgbClr val="666666"/>
                </a:solidFill>
                <a:latin typeface="Arial"/>
              </a:defRPr>
            </a:pPr>
            <a:r>
              <a:t>More Qualified</a:t>
            </a:r>
            <a:br/>
            <a:r>
              <a:t>Applicants</a:t>
            </a:r>
          </a:p>
        </p:txBody>
      </p:sp>
      <p:sp>
        <p:nvSpPr>
          <p:cNvPr id="21" name="Rectangle 20"/>
          <p:cNvSpPr/>
          <p:nvPr/>
        </p:nvSpPr>
        <p:spPr>
          <a:xfrm>
            <a:off x="7223759" y="3108960"/>
            <a:ext cx="2011680" cy="1051560"/>
          </a:xfrm>
          <a:prstGeom prst="rect">
            <a:avLst/>
          </a:prstGeom>
          <a:solidFill>
            <a:srgbClr val="F5F5F5"/>
          </a:solidFill>
          <a:ln w="9525">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199" y="3182112"/>
            <a:ext cx="1828800" cy="502920"/>
          </a:xfrm>
          <a:prstGeom prst="rect">
            <a:avLst/>
          </a:prstGeom>
          <a:noFill/>
        </p:spPr>
        <p:txBody>
          <a:bodyPr wrap="square">
            <a:spAutoFit/>
          </a:bodyPr>
          <a:lstStyle/>
          <a:p>
            <a:pPr algn="ctr">
              <a:lnSpc>
                <a:spcPts val="3380"/>
              </a:lnSpc>
              <a:spcAft>
                <a:spcPts val="0"/>
              </a:spcAft>
              <a:defRPr sz="2600" b="1">
                <a:solidFill>
                  <a:srgbClr val="27AE60"/>
                </a:solidFill>
                <a:latin typeface="Arial"/>
              </a:defRPr>
            </a:pPr>
            <a:r>
              <a:t>40%</a:t>
            </a:r>
          </a:p>
        </p:txBody>
      </p:sp>
      <p:sp>
        <p:nvSpPr>
          <p:cNvPr id="23" name="TextBox 22"/>
          <p:cNvSpPr txBox="1"/>
          <p:nvPr/>
        </p:nvSpPr>
        <p:spPr>
          <a:xfrm>
            <a:off x="7315199" y="3703320"/>
            <a:ext cx="1828800" cy="411480"/>
          </a:xfrm>
          <a:prstGeom prst="rect">
            <a:avLst/>
          </a:prstGeom>
          <a:noFill/>
        </p:spPr>
        <p:txBody>
          <a:bodyPr wrap="square">
            <a:spAutoFit/>
          </a:bodyPr>
          <a:lstStyle/>
          <a:p>
            <a:pPr algn="ctr">
              <a:lnSpc>
                <a:spcPts val="960"/>
              </a:lnSpc>
              <a:spcAft>
                <a:spcPts val="0"/>
              </a:spcAft>
              <a:defRPr sz="800" b="0">
                <a:solidFill>
                  <a:srgbClr val="666666"/>
                </a:solidFill>
                <a:latin typeface="Arial"/>
              </a:defRPr>
            </a:pPr>
            <a:r>
              <a:t>Faster</a:t>
            </a:r>
            <a:br/>
            <a:r>
              <a:t>Time-to-Fill</a:t>
            </a:r>
          </a:p>
        </p:txBody>
      </p:sp>
      <p:sp>
        <p:nvSpPr>
          <p:cNvPr id="24" name="Rectangle 23"/>
          <p:cNvSpPr/>
          <p:nvPr/>
        </p:nvSpPr>
        <p:spPr>
          <a:xfrm>
            <a:off x="9418319" y="3108960"/>
            <a:ext cx="2011680" cy="1051560"/>
          </a:xfrm>
          <a:prstGeom prst="rect">
            <a:avLst/>
          </a:prstGeom>
          <a:solidFill>
            <a:srgbClr val="F5F5F5"/>
          </a:solidFill>
          <a:ln w="9525">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509759" y="3182112"/>
            <a:ext cx="1828800" cy="502920"/>
          </a:xfrm>
          <a:prstGeom prst="rect">
            <a:avLst/>
          </a:prstGeom>
          <a:noFill/>
        </p:spPr>
        <p:txBody>
          <a:bodyPr wrap="square">
            <a:spAutoFit/>
          </a:bodyPr>
          <a:lstStyle/>
          <a:p>
            <a:pPr algn="ctr">
              <a:lnSpc>
                <a:spcPts val="3380"/>
              </a:lnSpc>
              <a:spcAft>
                <a:spcPts val="0"/>
              </a:spcAft>
              <a:defRPr sz="2600" b="1">
                <a:solidFill>
                  <a:srgbClr val="27AE60"/>
                </a:solidFill>
                <a:latin typeface="Arial"/>
              </a:defRPr>
            </a:pPr>
            <a:r>
              <a:t>3x</a:t>
            </a:r>
          </a:p>
        </p:txBody>
      </p:sp>
      <p:sp>
        <p:nvSpPr>
          <p:cNvPr id="26" name="TextBox 25"/>
          <p:cNvSpPr txBox="1"/>
          <p:nvPr/>
        </p:nvSpPr>
        <p:spPr>
          <a:xfrm>
            <a:off x="9509759" y="3703320"/>
            <a:ext cx="1828800" cy="411480"/>
          </a:xfrm>
          <a:prstGeom prst="rect">
            <a:avLst/>
          </a:prstGeom>
          <a:noFill/>
        </p:spPr>
        <p:txBody>
          <a:bodyPr wrap="square">
            <a:spAutoFit/>
          </a:bodyPr>
          <a:lstStyle/>
          <a:p>
            <a:pPr algn="ctr">
              <a:lnSpc>
                <a:spcPts val="960"/>
              </a:lnSpc>
              <a:spcAft>
                <a:spcPts val="0"/>
              </a:spcAft>
              <a:defRPr sz="800" b="0">
                <a:solidFill>
                  <a:srgbClr val="666666"/>
                </a:solidFill>
                <a:latin typeface="Arial"/>
              </a:defRPr>
            </a:pPr>
            <a:r>
              <a:t>Offer Acceptance</a:t>
            </a:r>
            <a:br/>
            <a:r>
              <a:t>Improvement</a:t>
            </a:r>
          </a:p>
        </p:txBody>
      </p:sp>
      <p:sp>
        <p:nvSpPr>
          <p:cNvPr id="27" name="Rectangle 26"/>
          <p:cNvSpPr/>
          <p:nvPr/>
        </p:nvSpPr>
        <p:spPr>
          <a:xfrm>
            <a:off x="640080" y="4343400"/>
            <a:ext cx="1088136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40080" y="4434840"/>
            <a:ext cx="10881360" cy="320040"/>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lIns="137160" tIns="25400"/>
          <a:lstStyle/>
          <a:p>
            <a:pPr algn="ctr">
              <a:defRPr sz="1100" b="1">
                <a:solidFill>
                  <a:srgbClr val="FFFFFF"/>
                </a:solidFill>
                <a:latin typeface="Arial"/>
              </a:defRPr>
            </a:pPr>
            <a:r>
              <a:t>KEY BRANDING TACTICS</a:t>
            </a:r>
          </a:p>
        </p:txBody>
      </p:sp>
      <p:sp>
        <p:nvSpPr>
          <p:cNvPr id="29" name="TextBox 28"/>
          <p:cNvSpPr txBox="1"/>
          <p:nvPr/>
        </p:nvSpPr>
        <p:spPr>
          <a:xfrm>
            <a:off x="731519" y="4846320"/>
            <a:ext cx="10698480" cy="1097280"/>
          </a:xfrm>
          <a:prstGeom prst="rect">
            <a:avLst/>
          </a:prstGeom>
          <a:noFill/>
        </p:spPr>
        <p:txBody>
          <a:bodyPr wrap="square">
            <a:spAutoFit/>
          </a:bodyPr>
          <a:lstStyle/>
          <a:p>
            <a:pPr>
              <a:lnSpc>
                <a:spcPts val="1305"/>
              </a:lnSpc>
              <a:spcAft>
                <a:spcPts val="600"/>
              </a:spcAft>
              <a:defRPr sz="900">
                <a:solidFill>
                  <a:srgbClr val="4A4A4A"/>
                </a:solidFill>
                <a:latin typeface="Arial"/>
              </a:defRPr>
            </a:pPr>
            <a:r>
              <a:t>• Employee-generated content performs 8x better than corporate messaging</a:t>
            </a:r>
          </a:p>
          <a:p>
            <a:pPr>
              <a:lnSpc>
                <a:spcPts val="1305"/>
              </a:lnSpc>
              <a:spcAft>
                <a:spcPts val="600"/>
              </a:spcAft>
              <a:defRPr sz="900">
                <a:solidFill>
                  <a:srgbClr val="4A4A4A"/>
                </a:solidFill>
                <a:latin typeface="Arial"/>
              </a:defRPr>
            </a:pPr>
            <a:r>
              <a:t>• University partnerships reduce recruitment costs by 30% (JP Morgan: Code for Good)</a:t>
            </a:r>
          </a:p>
          <a:p>
            <a:pPr>
              <a:lnSpc>
                <a:spcPts val="1305"/>
              </a:lnSpc>
              <a:spcAft>
                <a:spcPts val="600"/>
              </a:spcAft>
              <a:defRPr sz="900">
                <a:solidFill>
                  <a:srgbClr val="4A4A4A"/>
                </a:solidFill>
                <a:latin typeface="Arial"/>
              </a:defRPr>
            </a:pPr>
            <a:r>
              <a:t>• Glassdoor management: Barclays Pune 4.2/5 stars (2,616 reviews) — above global avg</a:t>
            </a:r>
          </a:p>
          <a:p>
            <a:pPr>
              <a:lnSpc>
                <a:spcPts val="1305"/>
              </a:lnSpc>
              <a:spcAft>
                <a:spcPts val="600"/>
              </a:spcAft>
              <a:defRPr sz="900">
                <a:solidFill>
                  <a:srgbClr val="4A4A4A"/>
                </a:solidFill>
                <a:latin typeface="Arial"/>
              </a:defRPr>
            </a:pPr>
            <a:r>
              <a:t>• Intrapreneurship: Companies with active programs 50% more likely to outperform</a:t>
            </a:r>
          </a:p>
        </p:txBody>
      </p:sp>
      <p:sp>
        <p:nvSpPr>
          <p:cNvPr id="30" name="Rectangle 29"/>
          <p:cNvSpPr/>
          <p:nvPr/>
        </p:nvSpPr>
        <p:spPr>
          <a:xfrm>
            <a:off x="0" y="6080760"/>
            <a:ext cx="12191695" cy="36576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wrap="square" lIns="640080" tIns="63500"/>
          <a:lstStyle/>
          <a:p>
            <a:pPr algn="l">
              <a:defRPr sz="1000" b="1">
                <a:solidFill>
                  <a:srgbClr val="2D2D2D"/>
                </a:solidFill>
                <a:latin typeface="Arial"/>
              </a:defRPr>
            </a:pPr>
            <a:r>
              <a:t>SO WHAT: Only 25-30% invest in branding — this is the single largest arbitrage opportunity in the talent war</a:t>
            </a:r>
          </a:p>
        </p:txBody>
      </p:sp>
      <p:sp>
        <p:nvSpPr>
          <p:cNvPr id="31" name="TextBox 30"/>
          <p:cNvSpPr txBox="1"/>
          <p:nvPr/>
        </p:nvSpPr>
        <p:spPr>
          <a:xfrm>
            <a:off x="11247120" y="6537960"/>
            <a:ext cx="731520" cy="228600"/>
          </a:xfrm>
          <a:prstGeom prst="rect">
            <a:avLst/>
          </a:prstGeom>
          <a:noFill/>
        </p:spPr>
        <p:txBody>
          <a:bodyPr wrap="square">
            <a:spAutoFit/>
          </a:bodyPr>
          <a:lstStyle/>
          <a:p>
            <a:pPr algn="r">
              <a:lnSpc>
                <a:spcPts val="910"/>
              </a:lnSpc>
              <a:spcAft>
                <a:spcPts val="0"/>
              </a:spcAft>
              <a:defRPr sz="700" b="1">
                <a:solidFill>
                  <a:srgbClr val="666666"/>
                </a:solidFill>
                <a:latin typeface="Arial"/>
              </a:defRPr>
            </a:pPr>
            <a:r>
              <a:t>17</a:t>
            </a:r>
          </a:p>
        </p:txBody>
      </p:sp>
      <p:sp>
        <p:nvSpPr>
          <p:cNvPr id="32" name="TextBox 31"/>
          <p:cNvSpPr txBox="1"/>
          <p:nvPr/>
        </p:nvSpPr>
        <p:spPr>
          <a:xfrm>
            <a:off x="640080" y="6537960"/>
            <a:ext cx="10058400" cy="228600"/>
          </a:xfrm>
          <a:prstGeom prst="rect">
            <a:avLst/>
          </a:prstGeom>
          <a:noFill/>
        </p:spPr>
        <p:txBody>
          <a:bodyPr wrap="square">
            <a:spAutoFit/>
          </a:bodyPr>
          <a:lstStyle/>
          <a:p>
            <a:pPr algn="l">
              <a:lnSpc>
                <a:spcPts val="910"/>
              </a:lnSpc>
              <a:spcAft>
                <a:spcPts val="0"/>
              </a:spcAft>
              <a:defRPr sz="700" b="0">
                <a:solidFill>
                  <a:srgbClr val="666666"/>
                </a:solidFill>
                <a:latin typeface="Arial"/>
              </a:defRPr>
            </a:pPr>
            <a:r>
              <a:t>Sources: SPAG FINN Partners, ANSR, Randstad REBR 2025, LinkedIn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2560320"/>
            <a:ext cx="1371600" cy="54864"/>
          </a:xfrm>
          <a:prstGeom prst="rect">
            <a:avLst/>
          </a:prstGeom>
          <a:solidFill>
            <a:srgbClr val="E84D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788920"/>
            <a:ext cx="9144000" cy="457200"/>
          </a:xfrm>
          <a:prstGeom prst="rect">
            <a:avLst/>
          </a:prstGeom>
          <a:noFill/>
        </p:spPr>
        <p:txBody>
          <a:bodyPr wrap="square">
            <a:spAutoFit/>
          </a:bodyPr>
          <a:lstStyle/>
          <a:p>
            <a:pPr algn="l">
              <a:lnSpc>
                <a:spcPts val="1820"/>
              </a:lnSpc>
              <a:spcAft>
                <a:spcPts val="0"/>
              </a:spcAft>
              <a:defRPr sz="1400" b="1">
                <a:solidFill>
                  <a:srgbClr val="E84D0E"/>
                </a:solidFill>
                <a:latin typeface="Arial"/>
              </a:defRPr>
            </a:pPr>
            <a:r>
              <a:t>ACT IV</a:t>
            </a:r>
          </a:p>
        </p:txBody>
      </p:sp>
      <p:sp>
        <p:nvSpPr>
          <p:cNvPr id="5" name="TextBox 4"/>
          <p:cNvSpPr txBox="1"/>
          <p:nvPr/>
        </p:nvSpPr>
        <p:spPr>
          <a:xfrm>
            <a:off x="640080" y="3200400"/>
            <a:ext cx="9144000" cy="731520"/>
          </a:xfrm>
          <a:prstGeom prst="rect">
            <a:avLst/>
          </a:prstGeom>
          <a:noFill/>
        </p:spPr>
        <p:txBody>
          <a:bodyPr wrap="square">
            <a:spAutoFit/>
          </a:bodyPr>
          <a:lstStyle/>
          <a:p>
            <a:pPr algn="l">
              <a:lnSpc>
                <a:spcPts val="4420"/>
              </a:lnSpc>
              <a:spcAft>
                <a:spcPts val="0"/>
              </a:spcAft>
              <a:defRPr sz="3400" b="1">
                <a:solidFill>
                  <a:srgbClr val="FFFFFF"/>
                </a:solidFill>
                <a:latin typeface="Arial"/>
              </a:defRPr>
            </a:pPr>
            <a:r>
              <a:t>From Analysis to Action</a:t>
            </a:r>
          </a:p>
        </p:txBody>
      </p:sp>
      <p:sp>
        <p:nvSpPr>
          <p:cNvPr id="6" name="TextBox 5"/>
          <p:cNvSpPr txBox="1"/>
          <p:nvPr/>
        </p:nvSpPr>
        <p:spPr>
          <a:xfrm>
            <a:off x="640080" y="4023360"/>
            <a:ext cx="9144000" cy="548640"/>
          </a:xfrm>
          <a:prstGeom prst="rect">
            <a:avLst/>
          </a:prstGeom>
          <a:noFill/>
        </p:spPr>
        <p:txBody>
          <a:bodyPr wrap="square">
            <a:spAutoFit/>
          </a:bodyPr>
          <a:lstStyle/>
          <a:p>
            <a:pPr algn="l">
              <a:lnSpc>
                <a:spcPts val="1820"/>
              </a:lnSpc>
              <a:spcAft>
                <a:spcPts val="0"/>
              </a:spcAft>
              <a:defRPr sz="1400" b="0">
                <a:solidFill>
                  <a:srgbClr val="999999"/>
                </a:solidFill>
                <a:latin typeface="Arial"/>
              </a:defRPr>
            </a:pPr>
            <a:r>
              <a:t>Implementation roadmap, specific recommendations, and source methodology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137160"/>
            <a:ext cx="4572000" cy="228600"/>
          </a:xfrm>
          <a:prstGeom prst="rect">
            <a:avLst/>
          </a:prstGeom>
          <a:noFill/>
        </p:spPr>
        <p:txBody>
          <a:bodyPr wrap="square">
            <a:spAutoFit/>
          </a:bodyPr>
          <a:lstStyle/>
          <a:p>
            <a:pPr algn="l">
              <a:lnSpc>
                <a:spcPts val="1170"/>
              </a:lnSpc>
              <a:spcAft>
                <a:spcPts val="0"/>
              </a:spcAft>
              <a:defRPr sz="900" b="1">
                <a:solidFill>
                  <a:srgbClr val="E84D0E"/>
                </a:solidFill>
                <a:latin typeface="Arial"/>
              </a:defRPr>
            </a:pPr>
            <a:r>
              <a:t>IMPLEMENTATION</a:t>
            </a:r>
          </a:p>
        </p:txBody>
      </p:sp>
      <p:sp>
        <p:nvSpPr>
          <p:cNvPr id="3" name="TextBox 2"/>
          <p:cNvSpPr txBox="1"/>
          <p:nvPr/>
        </p:nvSpPr>
        <p:spPr>
          <a:xfrm>
            <a:off x="640080" y="320040"/>
            <a:ext cx="10881360" cy="822960"/>
          </a:xfrm>
          <a:prstGeom prst="rect">
            <a:avLst/>
          </a:prstGeom>
          <a:noFill/>
        </p:spPr>
        <p:txBody>
          <a:bodyPr wrap="square">
            <a:spAutoFit/>
          </a:bodyPr>
          <a:lstStyle/>
          <a:p>
            <a:pPr algn="l">
              <a:lnSpc>
                <a:spcPts val="3380"/>
              </a:lnSpc>
              <a:spcAft>
                <a:spcPts val="0"/>
              </a:spcAft>
              <a:defRPr sz="2600" b="1">
                <a:solidFill>
                  <a:srgbClr val="1A1A1A"/>
                </a:solidFill>
                <a:latin typeface="Arial"/>
              </a:defRPr>
            </a:pPr>
            <a:r>
              <a:t>From Decision to Scale in 18 Months: Phased Implementation</a:t>
            </a:r>
          </a:p>
        </p:txBody>
      </p:sp>
      <p:sp>
        <p:nvSpPr>
          <p:cNvPr id="4" name="Rectangle 3"/>
          <p:cNvSpPr/>
          <p:nvPr/>
        </p:nvSpPr>
        <p:spPr>
          <a:xfrm>
            <a:off x="640080" y="1371600"/>
            <a:ext cx="2606040" cy="502920"/>
          </a:xfrm>
          <a:prstGeom prst="rect">
            <a:avLst/>
          </a:prstGeom>
          <a:solidFill>
            <a:srgbClr val="E84D0E"/>
          </a:solidFill>
          <a:ln>
            <a:noFill/>
          </a:ln>
        </p:spPr>
        <p:style>
          <a:lnRef idx="1">
            <a:schemeClr val="accent1"/>
          </a:lnRef>
          <a:fillRef idx="3">
            <a:schemeClr val="accent1"/>
          </a:fillRef>
          <a:effectRef idx="2">
            <a:schemeClr val="accent1"/>
          </a:effectRef>
          <a:fontRef idx="minor">
            <a:schemeClr val="lt1"/>
          </a:fontRef>
        </p:style>
        <p:txBody>
          <a:bodyPr rtlCol="0" anchor="ctr" tIns="38100" lIns="76200"/>
          <a:lstStyle/>
          <a:p>
            <a:pPr algn="ctr">
              <a:defRPr sz="1000" b="1">
                <a:solidFill>
                  <a:srgbClr val="FFFFFF"/>
                </a:solidFill>
                <a:latin typeface="Arial"/>
              </a:defRPr>
            </a:pPr>
            <a:r>
              <a:t>PHASE 1: FOUNDATION</a:t>
            </a:r>
          </a:p>
          <a:p>
            <a:pPr algn="ctr">
              <a:defRPr sz="800">
                <a:solidFill>
                  <a:srgbClr val="DDDDDD"/>
                </a:solidFill>
                <a:latin typeface="Arial"/>
              </a:defRPr>
            </a:pPr>
            <a:r>
              <a:t>Months 0-4</a:t>
            </a:r>
          </a:p>
        </p:txBody>
      </p:sp>
      <p:sp>
        <p:nvSpPr>
          <p:cNvPr id="5" name="Rectangle 4"/>
          <p:cNvSpPr/>
          <p:nvPr/>
        </p:nvSpPr>
        <p:spPr>
          <a:xfrm>
            <a:off x="640080" y="1920240"/>
            <a:ext cx="2606040" cy="1600200"/>
          </a:xfrm>
          <a:prstGeom prst="rect">
            <a:avLst/>
          </a:prstGeom>
          <a:solidFill>
            <a:srgbClr val="F5F5F5"/>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rIns="109728"/>
          <a:lstStyle/>
          <a:p>
            <a:pPr algn="ctr">
              <a:defRPr sz="1000" b="1">
                <a:solidFill>
                  <a:srgbClr val="E84D0E"/>
                </a:solidFill>
                <a:latin typeface="Arial"/>
              </a:defRPr>
            </a:pPr>
          </a:p>
          <a:p>
            <a:pPr>
              <a:lnSpc>
                <a:spcPts val="1215"/>
              </a:lnSpc>
              <a:spcBef>
                <a:spcPts val="400"/>
              </a:spcBef>
              <a:defRPr sz="900">
                <a:solidFill>
                  <a:srgbClr val="4A4A4A"/>
                </a:solidFill>
                <a:latin typeface="Arial"/>
              </a:defRPr>
            </a:pPr>
            <a:r>
              <a:t>• Entity incorporation &amp; legal setup</a:t>
            </a:r>
            <a:br/>
            <a:r>
              <a:t>• City selection (BLR/HYD primary)</a:t>
            </a:r>
            <a:br/>
            <a:r>
              <a:t>• BOT partner engagement</a:t>
            </a:r>
            <a:br/>
            <a:r>
              <a:t>• Leadership hires (CTO, HR, Site Lead)</a:t>
            </a:r>
          </a:p>
        </p:txBody>
      </p:sp>
      <p:sp>
        <p:nvSpPr>
          <p:cNvPr id="6" name="Rectangle 5"/>
          <p:cNvSpPr/>
          <p:nvPr/>
        </p:nvSpPr>
        <p:spPr>
          <a:xfrm>
            <a:off x="3355848" y="1371600"/>
            <a:ext cx="2606040" cy="502920"/>
          </a:xfrm>
          <a:prstGeom prst="rect">
            <a:avLst/>
          </a:prstGeom>
          <a:solidFill>
            <a:srgbClr val="D25B15"/>
          </a:solidFill>
          <a:ln>
            <a:noFill/>
          </a:ln>
        </p:spPr>
        <p:style>
          <a:lnRef idx="1">
            <a:schemeClr val="accent1"/>
          </a:lnRef>
          <a:fillRef idx="3">
            <a:schemeClr val="accent1"/>
          </a:fillRef>
          <a:effectRef idx="2">
            <a:schemeClr val="accent1"/>
          </a:effectRef>
          <a:fontRef idx="minor">
            <a:schemeClr val="lt1"/>
          </a:fontRef>
        </p:style>
        <p:txBody>
          <a:bodyPr rtlCol="0" anchor="ctr" tIns="38100" lIns="76200"/>
          <a:lstStyle/>
          <a:p>
            <a:pPr algn="ctr">
              <a:defRPr sz="1000" b="1">
                <a:solidFill>
                  <a:srgbClr val="FFFFFF"/>
                </a:solidFill>
                <a:latin typeface="Arial"/>
              </a:defRPr>
            </a:pPr>
            <a:r>
              <a:t>PHASE 2: LAUNCH</a:t>
            </a:r>
          </a:p>
          <a:p>
            <a:pPr algn="ctr">
              <a:defRPr sz="800">
                <a:solidFill>
                  <a:srgbClr val="DDDDDD"/>
                </a:solidFill>
                <a:latin typeface="Arial"/>
              </a:defRPr>
            </a:pPr>
            <a:r>
              <a:t>Months 4-8</a:t>
            </a:r>
          </a:p>
        </p:txBody>
      </p:sp>
      <p:sp>
        <p:nvSpPr>
          <p:cNvPr id="7" name="Rectangle 6"/>
          <p:cNvSpPr/>
          <p:nvPr/>
        </p:nvSpPr>
        <p:spPr>
          <a:xfrm>
            <a:off x="3355848" y="1920240"/>
            <a:ext cx="2606040" cy="1600200"/>
          </a:xfrm>
          <a:prstGeom prst="rect">
            <a:avLst/>
          </a:prstGeom>
          <a:solidFill>
            <a:srgbClr val="F5F5F5"/>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rIns="109728"/>
          <a:lstStyle/>
          <a:p>
            <a:pPr algn="ctr">
              <a:defRPr sz="1000" b="1">
                <a:solidFill>
                  <a:srgbClr val="E84D0E"/>
                </a:solidFill>
                <a:latin typeface="Arial"/>
              </a:defRPr>
            </a:pPr>
          </a:p>
          <a:p>
            <a:pPr>
              <a:lnSpc>
                <a:spcPts val="1215"/>
              </a:lnSpc>
              <a:spcBef>
                <a:spcPts val="400"/>
              </a:spcBef>
              <a:defRPr sz="900">
                <a:solidFill>
                  <a:srgbClr val="4A4A4A"/>
                </a:solidFill>
                <a:latin typeface="Arial"/>
              </a:defRPr>
            </a:pPr>
            <a:r>
              <a:t>• First 50-100 FTE onboarded</a:t>
            </a:r>
            <a:br/>
            <a:r>
              <a:t>• Knowledge transfer (90-day cycles)</a:t>
            </a:r>
            <a:br/>
            <a:r>
              <a:t>• EVP and employer branding launch</a:t>
            </a:r>
            <a:br/>
            <a:r>
              <a:t>• Initial processes operational</a:t>
            </a:r>
          </a:p>
        </p:txBody>
      </p:sp>
      <p:sp>
        <p:nvSpPr>
          <p:cNvPr id="8" name="Rectangle 7"/>
          <p:cNvSpPr/>
          <p:nvPr/>
        </p:nvSpPr>
        <p:spPr>
          <a:xfrm>
            <a:off x="6071616" y="1371600"/>
            <a:ext cx="2606040" cy="502920"/>
          </a:xfrm>
          <a:prstGeom prst="rect">
            <a:avLst/>
          </a:prstGeom>
          <a:solidFill>
            <a:srgbClr val="BC691C"/>
          </a:solidFill>
          <a:ln>
            <a:noFill/>
          </a:ln>
        </p:spPr>
        <p:style>
          <a:lnRef idx="1">
            <a:schemeClr val="accent1"/>
          </a:lnRef>
          <a:fillRef idx="3">
            <a:schemeClr val="accent1"/>
          </a:fillRef>
          <a:effectRef idx="2">
            <a:schemeClr val="accent1"/>
          </a:effectRef>
          <a:fontRef idx="minor">
            <a:schemeClr val="lt1"/>
          </a:fontRef>
        </p:style>
        <p:txBody>
          <a:bodyPr rtlCol="0" anchor="ctr" tIns="38100" lIns="76200"/>
          <a:lstStyle/>
          <a:p>
            <a:pPr algn="ctr">
              <a:defRPr sz="1000" b="1">
                <a:solidFill>
                  <a:srgbClr val="FFFFFF"/>
                </a:solidFill>
                <a:latin typeface="Arial"/>
              </a:defRPr>
            </a:pPr>
            <a:r>
              <a:t>PHASE 3: SCALE</a:t>
            </a:r>
          </a:p>
          <a:p>
            <a:pPr algn="ctr">
              <a:defRPr sz="800">
                <a:solidFill>
                  <a:srgbClr val="DDDDDD"/>
                </a:solidFill>
                <a:latin typeface="Arial"/>
              </a:defRPr>
            </a:pPr>
            <a:r>
              <a:t>Months 8-14</a:t>
            </a:r>
          </a:p>
        </p:txBody>
      </p:sp>
      <p:sp>
        <p:nvSpPr>
          <p:cNvPr id="9" name="Rectangle 8"/>
          <p:cNvSpPr/>
          <p:nvPr/>
        </p:nvSpPr>
        <p:spPr>
          <a:xfrm>
            <a:off x="6071616" y="1920240"/>
            <a:ext cx="2606040" cy="1600200"/>
          </a:xfrm>
          <a:prstGeom prst="rect">
            <a:avLst/>
          </a:prstGeom>
          <a:solidFill>
            <a:srgbClr val="F5F5F5"/>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rIns="109728"/>
          <a:lstStyle/>
          <a:p>
            <a:pPr algn="ctr">
              <a:defRPr sz="1000" b="1">
                <a:solidFill>
                  <a:srgbClr val="E84D0E"/>
                </a:solidFill>
                <a:latin typeface="Arial"/>
              </a:defRPr>
            </a:pPr>
          </a:p>
          <a:p>
            <a:pPr>
              <a:lnSpc>
                <a:spcPts val="1215"/>
              </a:lnSpc>
              <a:spcBef>
                <a:spcPts val="400"/>
              </a:spcBef>
              <a:defRPr sz="900">
                <a:solidFill>
                  <a:srgbClr val="4A4A4A"/>
                </a:solidFill>
                <a:latin typeface="Arial"/>
              </a:defRPr>
            </a:pPr>
            <a:r>
              <a:t>• Scale to 200-300 FTE</a:t>
            </a:r>
            <a:br/>
            <a:r>
              <a:t>• Open second city hub</a:t>
            </a:r>
            <a:br/>
            <a:r>
              <a:t>• Launch innovation lab</a:t>
            </a:r>
            <a:br/>
            <a:r>
              <a:t>• First value delivery milestones</a:t>
            </a:r>
          </a:p>
        </p:txBody>
      </p:sp>
      <p:sp>
        <p:nvSpPr>
          <p:cNvPr id="10" name="Rectangle 9"/>
          <p:cNvSpPr/>
          <p:nvPr/>
        </p:nvSpPr>
        <p:spPr>
          <a:xfrm>
            <a:off x="8787384" y="1371600"/>
            <a:ext cx="2606040" cy="502920"/>
          </a:xfrm>
          <a:prstGeom prst="rect">
            <a:avLst/>
          </a:prstGeom>
          <a:solidFill>
            <a:srgbClr val="A67723"/>
          </a:solidFill>
          <a:ln>
            <a:noFill/>
          </a:ln>
        </p:spPr>
        <p:style>
          <a:lnRef idx="1">
            <a:schemeClr val="accent1"/>
          </a:lnRef>
          <a:fillRef idx="3">
            <a:schemeClr val="accent1"/>
          </a:fillRef>
          <a:effectRef idx="2">
            <a:schemeClr val="accent1"/>
          </a:effectRef>
          <a:fontRef idx="minor">
            <a:schemeClr val="lt1"/>
          </a:fontRef>
        </p:style>
        <p:txBody>
          <a:bodyPr rtlCol="0" anchor="ctr" tIns="38100" lIns="76200"/>
          <a:lstStyle/>
          <a:p>
            <a:pPr algn="ctr">
              <a:defRPr sz="1000" b="1">
                <a:solidFill>
                  <a:srgbClr val="FFFFFF"/>
                </a:solidFill>
                <a:latin typeface="Arial"/>
              </a:defRPr>
            </a:pPr>
            <a:r>
              <a:t>PHASE 4: OPTIMIZE</a:t>
            </a:r>
          </a:p>
          <a:p>
            <a:pPr algn="ctr">
              <a:defRPr sz="800">
                <a:solidFill>
                  <a:srgbClr val="DDDDDD"/>
                </a:solidFill>
                <a:latin typeface="Arial"/>
              </a:defRPr>
            </a:pPr>
            <a:r>
              <a:t>Months 14-18</a:t>
            </a:r>
          </a:p>
        </p:txBody>
      </p:sp>
      <p:sp>
        <p:nvSpPr>
          <p:cNvPr id="11" name="Rectangle 10"/>
          <p:cNvSpPr/>
          <p:nvPr/>
        </p:nvSpPr>
        <p:spPr>
          <a:xfrm>
            <a:off x="8787384" y="1920240"/>
            <a:ext cx="2606040" cy="1600200"/>
          </a:xfrm>
          <a:prstGeom prst="rect">
            <a:avLst/>
          </a:prstGeom>
          <a:solidFill>
            <a:srgbClr val="F5F5F5"/>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rIns="109728"/>
          <a:lstStyle/>
          <a:p>
            <a:pPr algn="ctr">
              <a:defRPr sz="1000" b="1">
                <a:solidFill>
                  <a:srgbClr val="E84D0E"/>
                </a:solidFill>
                <a:latin typeface="Arial"/>
              </a:defRPr>
            </a:pPr>
          </a:p>
          <a:p>
            <a:pPr>
              <a:lnSpc>
                <a:spcPts val="1215"/>
              </a:lnSpc>
              <a:spcBef>
                <a:spcPts val="400"/>
              </a:spcBef>
              <a:defRPr sz="900">
                <a:solidFill>
                  <a:srgbClr val="4A4A4A"/>
                </a:solidFill>
                <a:latin typeface="Arial"/>
              </a:defRPr>
            </a:pPr>
            <a:r>
              <a:t>• Scale to 500 FTE target</a:t>
            </a:r>
            <a:br/>
            <a:r>
              <a:t>• Captive conversion (from BOT)</a:t>
            </a:r>
            <a:br/>
            <a:r>
              <a:t>• Breakeven assessment</a:t>
            </a:r>
            <a:br/>
            <a:r>
              <a:t>• Tier-2 satellite evaluation</a:t>
            </a:r>
          </a:p>
        </p:txBody>
      </p:sp>
      <p:sp>
        <p:nvSpPr>
          <p:cNvPr id="12" name="Rectangle 11"/>
          <p:cNvSpPr/>
          <p:nvPr/>
        </p:nvSpPr>
        <p:spPr>
          <a:xfrm>
            <a:off x="640080" y="3703320"/>
            <a:ext cx="1088136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 y="3794760"/>
            <a:ext cx="10881360" cy="320040"/>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lIns="137160" tIns="25400"/>
          <a:lstStyle/>
          <a:p>
            <a:pPr algn="ctr">
              <a:defRPr sz="1100" b="1">
                <a:solidFill>
                  <a:srgbClr val="FFFFFF"/>
                </a:solidFill>
                <a:latin typeface="Arial"/>
              </a:defRPr>
            </a:pPr>
            <a:r>
              <a:t>KEY MILESTONES</a:t>
            </a:r>
          </a:p>
        </p:txBody>
      </p:sp>
      <p:graphicFrame>
        <p:nvGraphicFramePr>
          <p:cNvPr id="14" name="Table 13"/>
          <p:cNvGraphicFramePr>
            <a:graphicFrameLocks noGrp="1"/>
          </p:cNvGraphicFramePr>
          <p:nvPr/>
        </p:nvGraphicFramePr>
        <p:xfrm>
          <a:off x="640080" y="4206240"/>
          <a:ext cx="10881360" cy="1554480"/>
        </p:xfrm>
        <a:graphic>
          <a:graphicData uri="http://schemas.openxmlformats.org/drawingml/2006/table">
            <a:tbl>
              <a:tblPr firstRow="1" bandRow="1">
                <a:tableStyleId>{5C22544A-7EE6-4342-B048-85BDC9FD1C3A}</a:tableStyleId>
              </a:tblPr>
              <a:tblGrid>
                <a:gridCol w="2743200"/>
                <a:gridCol w="2286000"/>
                <a:gridCol w="5852160"/>
              </a:tblGrid>
              <a:tr h="259080">
                <a:tc>
                  <a:txBody>
                    <a:bodyPr/>
                    <a:lstStyle/>
                    <a:p>
                      <a:pPr>
                        <a:defRPr sz="900" b="1">
                          <a:solidFill>
                            <a:srgbClr val="FFFFFF"/>
                          </a:solidFill>
                          <a:latin typeface="Arial"/>
                        </a:defRPr>
                      </a:pPr>
                      <a:r>
                        <a:t>Milestone</a:t>
                      </a:r>
                    </a:p>
                  </a:txBody>
                  <a:tcPr marL="73152" marR="73152" marT="36576" marB="36576">
                    <a:solidFill>
                      <a:srgbClr val="2D2D2D"/>
                    </a:solidFill>
                  </a:tcPr>
                </a:tc>
                <a:tc>
                  <a:txBody>
                    <a:bodyPr/>
                    <a:lstStyle/>
                    <a:p>
                      <a:pPr>
                        <a:defRPr sz="900" b="1">
                          <a:solidFill>
                            <a:srgbClr val="FFFFFF"/>
                          </a:solidFill>
                          <a:latin typeface="Arial"/>
                        </a:defRPr>
                      </a:pPr>
                      <a:r>
                        <a:t>Target</a:t>
                      </a:r>
                    </a:p>
                  </a:txBody>
                  <a:tcPr marL="73152" marR="73152" marT="36576" marB="36576">
                    <a:solidFill>
                      <a:srgbClr val="2D2D2D"/>
                    </a:solidFill>
                  </a:tcPr>
                </a:tc>
                <a:tc>
                  <a:txBody>
                    <a:bodyPr/>
                    <a:lstStyle/>
                    <a:p>
                      <a:pPr>
                        <a:defRPr sz="900" b="1">
                          <a:solidFill>
                            <a:srgbClr val="FFFFFF"/>
                          </a:solidFill>
                          <a:latin typeface="Arial"/>
                        </a:defRPr>
                      </a:pPr>
                      <a:r>
                        <a:t>KPI</a:t>
                      </a:r>
                    </a:p>
                  </a:txBody>
                  <a:tcPr marL="73152" marR="73152" marT="36576" marB="36576">
                    <a:solidFill>
                      <a:srgbClr val="2D2D2D"/>
                    </a:solidFill>
                  </a:tcPr>
                </a:tc>
              </a:tr>
              <a:tr h="259080">
                <a:tc>
                  <a:txBody>
                    <a:bodyPr/>
                    <a:lstStyle/>
                    <a:p>
                      <a:pPr>
                        <a:defRPr sz="900">
                          <a:solidFill>
                            <a:srgbClr val="4A4A4A"/>
                          </a:solidFill>
                          <a:latin typeface="Arial"/>
                        </a:defRPr>
                      </a:pPr>
                      <a:r>
                        <a:t>BOT Operational</a:t>
                      </a:r>
                    </a:p>
                  </a:txBody>
                  <a:tcPr marL="73152" marR="73152" marT="36576" marB="36576">
                    <a:solidFill>
                      <a:srgbClr val="FFFFFF"/>
                    </a:solidFill>
                  </a:tcPr>
                </a:tc>
                <a:tc>
                  <a:txBody>
                    <a:bodyPr/>
                    <a:lstStyle/>
                    <a:p>
                      <a:pPr>
                        <a:defRPr sz="900">
                          <a:solidFill>
                            <a:srgbClr val="4A4A4A"/>
                          </a:solidFill>
                          <a:latin typeface="Arial"/>
                        </a:defRPr>
                      </a:pPr>
                      <a:r>
                        <a:t>Month 4-6</a:t>
                      </a:r>
                    </a:p>
                  </a:txBody>
                  <a:tcPr marL="73152" marR="73152" marT="36576" marB="36576">
                    <a:solidFill>
                      <a:srgbClr val="FFFFFF"/>
                    </a:solidFill>
                  </a:tcPr>
                </a:tc>
                <a:tc>
                  <a:txBody>
                    <a:bodyPr/>
                    <a:lstStyle/>
                    <a:p>
                      <a:pPr>
                        <a:defRPr sz="900">
                          <a:solidFill>
                            <a:srgbClr val="4A4A4A"/>
                          </a:solidFill>
                          <a:latin typeface="Arial"/>
                        </a:defRPr>
                      </a:pPr>
                      <a:r>
                        <a:t>First 50 FTE onboarded, KT complete</a:t>
                      </a:r>
                    </a:p>
                  </a:txBody>
                  <a:tcPr marL="73152" marR="73152" marT="36576" marB="36576">
                    <a:solidFill>
                      <a:srgbClr val="FFFFFF"/>
                    </a:solidFill>
                  </a:tcPr>
                </a:tc>
              </a:tr>
              <a:tr h="259080">
                <a:tc>
                  <a:txBody>
                    <a:bodyPr/>
                    <a:lstStyle/>
                    <a:p>
                      <a:pPr>
                        <a:defRPr sz="900">
                          <a:solidFill>
                            <a:srgbClr val="4A4A4A"/>
                          </a:solidFill>
                          <a:latin typeface="Arial"/>
                        </a:defRPr>
                      </a:pPr>
                      <a:r>
                        <a:t>100 FTE</a:t>
                      </a:r>
                    </a:p>
                  </a:txBody>
                  <a:tcPr marL="73152" marR="73152" marT="36576" marB="36576">
                    <a:solidFill>
                      <a:srgbClr val="F5F5F5"/>
                    </a:solidFill>
                  </a:tcPr>
                </a:tc>
                <a:tc>
                  <a:txBody>
                    <a:bodyPr/>
                    <a:lstStyle/>
                    <a:p>
                      <a:pPr>
                        <a:defRPr sz="900">
                          <a:solidFill>
                            <a:srgbClr val="4A4A4A"/>
                          </a:solidFill>
                          <a:latin typeface="Arial"/>
                        </a:defRPr>
                      </a:pPr>
                      <a:r>
                        <a:t>Month 8</a:t>
                      </a:r>
                    </a:p>
                  </a:txBody>
                  <a:tcPr marL="73152" marR="73152" marT="36576" marB="36576">
                    <a:solidFill>
                      <a:srgbClr val="F5F5F5"/>
                    </a:solidFill>
                  </a:tcPr>
                </a:tc>
                <a:tc>
                  <a:txBody>
                    <a:bodyPr/>
                    <a:lstStyle/>
                    <a:p>
                      <a:pPr>
                        <a:defRPr sz="900">
                          <a:solidFill>
                            <a:srgbClr val="4A4A4A"/>
                          </a:solidFill>
                          <a:latin typeface="Arial"/>
                        </a:defRPr>
                      </a:pPr>
                      <a:r>
                        <a:t>2 functions live, first value delivered</a:t>
                      </a:r>
                    </a:p>
                  </a:txBody>
                  <a:tcPr marL="73152" marR="73152" marT="36576" marB="36576">
                    <a:solidFill>
                      <a:srgbClr val="F5F5F5"/>
                    </a:solidFill>
                  </a:tcPr>
                </a:tc>
              </a:tr>
              <a:tr h="259080">
                <a:tc>
                  <a:txBody>
                    <a:bodyPr/>
                    <a:lstStyle/>
                    <a:p>
                      <a:pPr>
                        <a:defRPr sz="900">
                          <a:solidFill>
                            <a:srgbClr val="4A4A4A"/>
                          </a:solidFill>
                          <a:latin typeface="Arial"/>
                        </a:defRPr>
                      </a:pPr>
                      <a:r>
                        <a:t>Second City</a:t>
                      </a:r>
                    </a:p>
                  </a:txBody>
                  <a:tcPr marL="73152" marR="73152" marT="36576" marB="36576">
                    <a:solidFill>
                      <a:srgbClr val="FFFFFF"/>
                    </a:solidFill>
                  </a:tcPr>
                </a:tc>
                <a:tc>
                  <a:txBody>
                    <a:bodyPr/>
                    <a:lstStyle/>
                    <a:p>
                      <a:pPr>
                        <a:defRPr sz="900">
                          <a:solidFill>
                            <a:srgbClr val="4A4A4A"/>
                          </a:solidFill>
                          <a:latin typeface="Arial"/>
                        </a:defRPr>
                      </a:pPr>
                      <a:r>
                        <a:t>Month 8-10</a:t>
                      </a:r>
                    </a:p>
                  </a:txBody>
                  <a:tcPr marL="73152" marR="73152" marT="36576" marB="36576">
                    <a:solidFill>
                      <a:srgbClr val="FFFFFF"/>
                    </a:solidFill>
                  </a:tcPr>
                </a:tc>
                <a:tc>
                  <a:txBody>
                    <a:bodyPr/>
                    <a:lstStyle/>
                    <a:p>
                      <a:pPr>
                        <a:defRPr sz="900">
                          <a:solidFill>
                            <a:srgbClr val="4A4A4A"/>
                          </a:solidFill>
                          <a:latin typeface="Arial"/>
                        </a:defRPr>
                      </a:pPr>
                      <a:r>
                        <a:t>Hyderabad or Pune hub launched</a:t>
                      </a:r>
                    </a:p>
                  </a:txBody>
                  <a:tcPr marL="73152" marR="73152" marT="36576" marB="36576">
                    <a:solidFill>
                      <a:srgbClr val="FFFFFF"/>
                    </a:solidFill>
                  </a:tcPr>
                </a:tc>
              </a:tr>
              <a:tr h="259080">
                <a:tc>
                  <a:txBody>
                    <a:bodyPr/>
                    <a:lstStyle/>
                    <a:p>
                      <a:pPr>
                        <a:defRPr sz="900">
                          <a:solidFill>
                            <a:srgbClr val="4A4A4A"/>
                          </a:solidFill>
                          <a:latin typeface="Arial"/>
                        </a:defRPr>
                      </a:pPr>
                      <a:r>
                        <a:t>300 FTE</a:t>
                      </a:r>
                    </a:p>
                  </a:txBody>
                  <a:tcPr marL="73152" marR="73152" marT="36576" marB="36576">
                    <a:solidFill>
                      <a:srgbClr val="F5F5F5"/>
                    </a:solidFill>
                  </a:tcPr>
                </a:tc>
                <a:tc>
                  <a:txBody>
                    <a:bodyPr/>
                    <a:lstStyle/>
                    <a:p>
                      <a:pPr>
                        <a:defRPr sz="900">
                          <a:solidFill>
                            <a:srgbClr val="4A4A4A"/>
                          </a:solidFill>
                          <a:latin typeface="Arial"/>
                        </a:defRPr>
                      </a:pPr>
                      <a:r>
                        <a:t>Month 14</a:t>
                      </a:r>
                    </a:p>
                  </a:txBody>
                  <a:tcPr marL="73152" marR="73152" marT="36576" marB="36576">
                    <a:solidFill>
                      <a:srgbClr val="F5F5F5"/>
                    </a:solidFill>
                  </a:tcPr>
                </a:tc>
                <a:tc>
                  <a:txBody>
                    <a:bodyPr/>
                    <a:lstStyle/>
                    <a:p>
                      <a:pPr>
                        <a:defRPr sz="900">
                          <a:solidFill>
                            <a:srgbClr val="4A4A4A"/>
                          </a:solidFill>
                          <a:latin typeface="Arial"/>
                        </a:defRPr>
                      </a:pPr>
                      <a:r>
                        <a:t>Innovation lab active, 3+ functions</a:t>
                      </a:r>
                    </a:p>
                  </a:txBody>
                  <a:tcPr marL="73152" marR="73152" marT="36576" marB="36576">
                    <a:solidFill>
                      <a:srgbClr val="F5F5F5"/>
                    </a:solidFill>
                  </a:tcPr>
                </a:tc>
              </a:tr>
              <a:tr h="259080">
                <a:tc>
                  <a:txBody>
                    <a:bodyPr/>
                    <a:lstStyle/>
                    <a:p>
                      <a:pPr>
                        <a:defRPr sz="900">
                          <a:solidFill>
                            <a:srgbClr val="4A4A4A"/>
                          </a:solidFill>
                          <a:latin typeface="Arial"/>
                        </a:defRPr>
                      </a:pPr>
                      <a:r>
                        <a:t>500 FTE / Breakeven</a:t>
                      </a:r>
                    </a:p>
                  </a:txBody>
                  <a:tcPr marL="73152" marR="73152" marT="36576" marB="36576">
                    <a:solidFill>
                      <a:srgbClr val="FFFFFF"/>
                    </a:solidFill>
                  </a:tcPr>
                </a:tc>
                <a:tc>
                  <a:txBody>
                    <a:bodyPr/>
                    <a:lstStyle/>
                    <a:p>
                      <a:pPr>
                        <a:defRPr sz="900">
                          <a:solidFill>
                            <a:srgbClr val="4A4A4A"/>
                          </a:solidFill>
                          <a:latin typeface="Arial"/>
                        </a:defRPr>
                      </a:pPr>
                      <a:r>
                        <a:t>Month 18</a:t>
                      </a:r>
                    </a:p>
                  </a:txBody>
                  <a:tcPr marL="73152" marR="73152" marT="36576" marB="36576">
                    <a:solidFill>
                      <a:srgbClr val="FFFFFF"/>
                    </a:solidFill>
                  </a:tcPr>
                </a:tc>
                <a:tc>
                  <a:txBody>
                    <a:bodyPr/>
                    <a:lstStyle/>
                    <a:p>
                      <a:pPr>
                        <a:defRPr sz="900">
                          <a:solidFill>
                            <a:srgbClr val="4A4A4A"/>
                          </a:solidFill>
                          <a:latin typeface="Arial"/>
                        </a:defRPr>
                      </a:pPr>
                      <a:r>
                        <a:t>Captive conversion, TCO parity achieved</a:t>
                      </a:r>
                    </a:p>
                  </a:txBody>
                  <a:tcPr marL="73152" marR="73152" marT="36576" marB="36576">
                    <a:solidFill>
                      <a:srgbClr val="FFFFFF"/>
                    </a:solidFill>
                  </a:tcPr>
                </a:tc>
              </a:tr>
            </a:tbl>
          </a:graphicData>
        </a:graphic>
      </p:graphicFrame>
      <p:sp>
        <p:nvSpPr>
          <p:cNvPr id="15" name="Rectangle 14"/>
          <p:cNvSpPr/>
          <p:nvPr/>
        </p:nvSpPr>
        <p:spPr>
          <a:xfrm>
            <a:off x="0" y="6080760"/>
            <a:ext cx="12191695" cy="36576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wrap="square" lIns="640080" tIns="63500"/>
          <a:lstStyle/>
          <a:p>
            <a:pPr algn="l">
              <a:defRPr sz="1000" b="1">
                <a:solidFill>
                  <a:srgbClr val="2D2D2D"/>
                </a:solidFill>
                <a:latin typeface="Arial"/>
              </a:defRPr>
            </a:pPr>
            <a:r>
              <a:t>SO WHAT: With BOT model you are operational in 4 months and at scale in 18 months — this is not a 3-year journey</a:t>
            </a:r>
          </a:p>
        </p:txBody>
      </p:sp>
      <p:sp>
        <p:nvSpPr>
          <p:cNvPr id="16" name="TextBox 15"/>
          <p:cNvSpPr txBox="1"/>
          <p:nvPr/>
        </p:nvSpPr>
        <p:spPr>
          <a:xfrm>
            <a:off x="11247120" y="6537960"/>
            <a:ext cx="731520" cy="228600"/>
          </a:xfrm>
          <a:prstGeom prst="rect">
            <a:avLst/>
          </a:prstGeom>
          <a:noFill/>
        </p:spPr>
        <p:txBody>
          <a:bodyPr wrap="square">
            <a:spAutoFit/>
          </a:bodyPr>
          <a:lstStyle/>
          <a:p>
            <a:pPr algn="r">
              <a:lnSpc>
                <a:spcPts val="910"/>
              </a:lnSpc>
              <a:spcAft>
                <a:spcPts val="0"/>
              </a:spcAft>
              <a:defRPr sz="700" b="1">
                <a:solidFill>
                  <a:srgbClr val="666666"/>
                </a:solidFill>
                <a:latin typeface="Arial"/>
              </a:defRPr>
            </a:pPr>
            <a:r>
              <a:t>18</a:t>
            </a:r>
          </a:p>
        </p:txBody>
      </p:sp>
      <p:sp>
        <p:nvSpPr>
          <p:cNvPr id="17" name="TextBox 16"/>
          <p:cNvSpPr txBox="1"/>
          <p:nvPr/>
        </p:nvSpPr>
        <p:spPr>
          <a:xfrm>
            <a:off x="640080" y="6537960"/>
            <a:ext cx="10058400" cy="228600"/>
          </a:xfrm>
          <a:prstGeom prst="rect">
            <a:avLst/>
          </a:prstGeom>
          <a:noFill/>
        </p:spPr>
        <p:txBody>
          <a:bodyPr wrap="square">
            <a:spAutoFit/>
          </a:bodyPr>
          <a:lstStyle/>
          <a:p>
            <a:pPr algn="l">
              <a:lnSpc>
                <a:spcPts val="910"/>
              </a:lnSpc>
              <a:spcAft>
                <a:spcPts val="0"/>
              </a:spcAft>
              <a:defRPr sz="700" b="0">
                <a:solidFill>
                  <a:srgbClr val="666666"/>
                </a:solidFill>
                <a:latin typeface="Arial"/>
              </a:defRPr>
            </a:pPr>
            <a:r>
              <a:t>Sources: ANSR, Everest Group, Zinnov</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137160"/>
            <a:ext cx="4572000" cy="228600"/>
          </a:xfrm>
          <a:prstGeom prst="rect">
            <a:avLst/>
          </a:prstGeom>
          <a:noFill/>
        </p:spPr>
        <p:txBody>
          <a:bodyPr wrap="square">
            <a:spAutoFit/>
          </a:bodyPr>
          <a:lstStyle/>
          <a:p>
            <a:pPr algn="l">
              <a:lnSpc>
                <a:spcPts val="1170"/>
              </a:lnSpc>
              <a:spcAft>
                <a:spcPts val="0"/>
              </a:spcAft>
              <a:defRPr sz="900" b="1">
                <a:solidFill>
                  <a:srgbClr val="E84D0E"/>
                </a:solidFill>
                <a:latin typeface="Arial"/>
              </a:defRPr>
            </a:pPr>
            <a:r>
              <a:t>STRATEGIC RECOMMENDATIONS</a:t>
            </a:r>
          </a:p>
        </p:txBody>
      </p:sp>
      <p:sp>
        <p:nvSpPr>
          <p:cNvPr id="3" name="TextBox 2"/>
          <p:cNvSpPr txBox="1"/>
          <p:nvPr/>
        </p:nvSpPr>
        <p:spPr>
          <a:xfrm>
            <a:off x="640080" y="320040"/>
            <a:ext cx="10881360" cy="822960"/>
          </a:xfrm>
          <a:prstGeom prst="rect">
            <a:avLst/>
          </a:prstGeom>
          <a:noFill/>
        </p:spPr>
        <p:txBody>
          <a:bodyPr wrap="square">
            <a:spAutoFit/>
          </a:bodyPr>
          <a:lstStyle/>
          <a:p>
            <a:pPr algn="l">
              <a:lnSpc>
                <a:spcPts val="3380"/>
              </a:lnSpc>
              <a:spcAft>
                <a:spcPts val="0"/>
              </a:spcAft>
              <a:defRPr sz="2600" b="1">
                <a:solidFill>
                  <a:srgbClr val="1A1A1A"/>
                </a:solidFill>
                <a:latin typeface="Arial"/>
              </a:defRPr>
            </a:pPr>
            <a:r>
              <a:t>Five Specific Recommendations with Timelines and KPIs</a:t>
            </a:r>
          </a:p>
        </p:txBody>
      </p:sp>
      <p:sp>
        <p:nvSpPr>
          <p:cNvPr id="4" name="Oval 3"/>
          <p:cNvSpPr/>
          <p:nvPr/>
        </p:nvSpPr>
        <p:spPr>
          <a:xfrm>
            <a:off x="640080" y="1417320"/>
            <a:ext cx="411480" cy="411480"/>
          </a:xfrm>
          <a:prstGeom prst="ellipse">
            <a:avLst/>
          </a:prstGeom>
          <a:solidFill>
            <a:srgbClr val="E84D0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a:lstStyle/>
          <a:p>
            <a:pPr algn="ctr">
              <a:defRPr sz="1400" b="1">
                <a:solidFill>
                  <a:srgbClr val="FFFFFF"/>
                </a:solidFill>
                <a:latin typeface="Arial"/>
              </a:defRPr>
            </a:pPr>
            <a:r>
              <a:t>1</a:t>
            </a:r>
          </a:p>
        </p:txBody>
      </p:sp>
      <p:sp>
        <p:nvSpPr>
          <p:cNvPr id="5" name="TextBox 4"/>
          <p:cNvSpPr txBox="1"/>
          <p:nvPr/>
        </p:nvSpPr>
        <p:spPr>
          <a:xfrm>
            <a:off x="1188720" y="1371600"/>
            <a:ext cx="10332720" cy="292608"/>
          </a:xfrm>
          <a:prstGeom prst="rect">
            <a:avLst/>
          </a:prstGeom>
          <a:noFill/>
        </p:spPr>
        <p:txBody>
          <a:bodyPr wrap="square">
            <a:spAutoFit/>
          </a:bodyPr>
          <a:lstStyle/>
          <a:p>
            <a:pPr algn="l">
              <a:lnSpc>
                <a:spcPts val="1690"/>
              </a:lnSpc>
              <a:spcAft>
                <a:spcPts val="0"/>
              </a:spcAft>
              <a:defRPr sz="1300" b="1">
                <a:solidFill>
                  <a:srgbClr val="1A1A1A"/>
                </a:solidFill>
                <a:latin typeface="Arial"/>
              </a:defRPr>
            </a:pPr>
            <a:r>
              <a:t>Establish primary hub in Bangalore via BOT model</a:t>
            </a:r>
          </a:p>
        </p:txBody>
      </p:sp>
      <p:sp>
        <p:nvSpPr>
          <p:cNvPr id="6" name="TextBox 5"/>
          <p:cNvSpPr txBox="1"/>
          <p:nvPr/>
        </p:nvSpPr>
        <p:spPr>
          <a:xfrm>
            <a:off x="1188720" y="1664208"/>
            <a:ext cx="10332720" cy="292608"/>
          </a:xfrm>
          <a:prstGeom prst="rect">
            <a:avLst/>
          </a:prstGeom>
          <a:noFill/>
        </p:spPr>
        <p:txBody>
          <a:bodyPr wrap="square">
            <a:spAutoFit/>
          </a:bodyPr>
          <a:lstStyle/>
          <a:p>
            <a:pPr algn="l">
              <a:lnSpc>
                <a:spcPts val="1300"/>
              </a:lnSpc>
              <a:spcAft>
                <a:spcPts val="0"/>
              </a:spcAft>
              <a:defRPr sz="1000" b="0">
                <a:solidFill>
                  <a:srgbClr val="666666"/>
                </a:solidFill>
                <a:latin typeface="Arial"/>
              </a:defRPr>
            </a:pPr>
            <a:r>
              <a:t>200 FTE Year 1  |  BOT operational Month 4-6  |  Focus: Innovation, AI/ML, Core Tech</a:t>
            </a:r>
          </a:p>
        </p:txBody>
      </p:sp>
      <p:sp>
        <p:nvSpPr>
          <p:cNvPr id="7" name="Oval 6"/>
          <p:cNvSpPr/>
          <p:nvPr/>
        </p:nvSpPr>
        <p:spPr>
          <a:xfrm>
            <a:off x="640080" y="2240279"/>
            <a:ext cx="411480" cy="411480"/>
          </a:xfrm>
          <a:prstGeom prst="ellipse">
            <a:avLst/>
          </a:prstGeom>
          <a:solidFill>
            <a:srgbClr val="E84D0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a:lstStyle/>
          <a:p>
            <a:pPr algn="ctr">
              <a:defRPr sz="1400" b="1">
                <a:solidFill>
                  <a:srgbClr val="FFFFFF"/>
                </a:solidFill>
                <a:latin typeface="Arial"/>
              </a:defRPr>
            </a:pPr>
            <a:r>
              <a:t>2</a:t>
            </a:r>
          </a:p>
        </p:txBody>
      </p:sp>
      <p:sp>
        <p:nvSpPr>
          <p:cNvPr id="8" name="TextBox 7"/>
          <p:cNvSpPr txBox="1"/>
          <p:nvPr/>
        </p:nvSpPr>
        <p:spPr>
          <a:xfrm>
            <a:off x="1188720" y="2194560"/>
            <a:ext cx="10332720" cy="292608"/>
          </a:xfrm>
          <a:prstGeom prst="rect">
            <a:avLst/>
          </a:prstGeom>
          <a:noFill/>
        </p:spPr>
        <p:txBody>
          <a:bodyPr wrap="square">
            <a:spAutoFit/>
          </a:bodyPr>
          <a:lstStyle/>
          <a:p>
            <a:pPr algn="l">
              <a:lnSpc>
                <a:spcPts val="1690"/>
              </a:lnSpc>
              <a:spcAft>
                <a:spcPts val="0"/>
              </a:spcAft>
              <a:defRPr sz="1300" b="1">
                <a:solidFill>
                  <a:srgbClr val="1A1A1A"/>
                </a:solidFill>
                <a:latin typeface="Arial"/>
              </a:defRPr>
            </a:pPr>
            <a:r>
              <a:t>Open Hyderabad secondary hub by Month 8</a:t>
            </a:r>
          </a:p>
        </p:txBody>
      </p:sp>
      <p:sp>
        <p:nvSpPr>
          <p:cNvPr id="9" name="TextBox 8"/>
          <p:cNvSpPr txBox="1"/>
          <p:nvPr/>
        </p:nvSpPr>
        <p:spPr>
          <a:xfrm>
            <a:off x="1188720" y="2487168"/>
            <a:ext cx="10332720" cy="292608"/>
          </a:xfrm>
          <a:prstGeom prst="rect">
            <a:avLst/>
          </a:prstGeom>
          <a:noFill/>
        </p:spPr>
        <p:txBody>
          <a:bodyPr wrap="square">
            <a:spAutoFit/>
          </a:bodyPr>
          <a:lstStyle/>
          <a:p>
            <a:pPr algn="l">
              <a:lnSpc>
                <a:spcPts val="1300"/>
              </a:lnSpc>
              <a:spcAft>
                <a:spcPts val="0"/>
              </a:spcAft>
              <a:defRPr sz="1000" b="0">
                <a:solidFill>
                  <a:srgbClr val="666666"/>
                </a:solidFill>
                <a:latin typeface="Arial"/>
              </a:defRPr>
            </a:pPr>
            <a:r>
              <a:t>Operations &amp; Scale functions  |  78% of Bangalore cost  |  Vanguard model proven</a:t>
            </a:r>
          </a:p>
        </p:txBody>
      </p:sp>
      <p:sp>
        <p:nvSpPr>
          <p:cNvPr id="10" name="Oval 9"/>
          <p:cNvSpPr/>
          <p:nvPr/>
        </p:nvSpPr>
        <p:spPr>
          <a:xfrm>
            <a:off x="640080" y="3063239"/>
            <a:ext cx="411480" cy="411480"/>
          </a:xfrm>
          <a:prstGeom prst="ellipse">
            <a:avLst/>
          </a:prstGeom>
          <a:solidFill>
            <a:srgbClr val="E84D0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a:lstStyle/>
          <a:p>
            <a:pPr algn="ctr">
              <a:defRPr sz="1400" b="1">
                <a:solidFill>
                  <a:srgbClr val="FFFFFF"/>
                </a:solidFill>
                <a:latin typeface="Arial"/>
              </a:defRPr>
            </a:pPr>
            <a:r>
              <a:t>3</a:t>
            </a:r>
          </a:p>
        </p:txBody>
      </p:sp>
      <p:sp>
        <p:nvSpPr>
          <p:cNvPr id="11" name="TextBox 10"/>
          <p:cNvSpPr txBox="1"/>
          <p:nvPr/>
        </p:nvSpPr>
        <p:spPr>
          <a:xfrm>
            <a:off x="1188720" y="3017520"/>
            <a:ext cx="10332720" cy="292608"/>
          </a:xfrm>
          <a:prstGeom prst="rect">
            <a:avLst/>
          </a:prstGeom>
          <a:noFill/>
        </p:spPr>
        <p:txBody>
          <a:bodyPr wrap="square">
            <a:spAutoFit/>
          </a:bodyPr>
          <a:lstStyle/>
          <a:p>
            <a:pPr algn="l">
              <a:lnSpc>
                <a:spcPts val="1690"/>
              </a:lnSpc>
              <a:spcAft>
                <a:spcPts val="0"/>
              </a:spcAft>
              <a:defRPr sz="1300" b="1">
                <a:solidFill>
                  <a:srgbClr val="1A1A1A"/>
                </a:solidFill>
                <a:latin typeface="Arial"/>
              </a:defRPr>
            </a:pPr>
            <a:r>
              <a:t>Evaluate Pune spoke by Month 12</a:t>
            </a:r>
          </a:p>
        </p:txBody>
      </p:sp>
      <p:sp>
        <p:nvSpPr>
          <p:cNvPr id="12" name="TextBox 11"/>
          <p:cNvSpPr txBox="1"/>
          <p:nvPr/>
        </p:nvSpPr>
        <p:spPr>
          <a:xfrm>
            <a:off x="1188720" y="3310127"/>
            <a:ext cx="10332720" cy="292608"/>
          </a:xfrm>
          <a:prstGeom prst="rect">
            <a:avLst/>
          </a:prstGeom>
          <a:noFill/>
        </p:spPr>
        <p:txBody>
          <a:bodyPr wrap="square">
            <a:spAutoFit/>
          </a:bodyPr>
          <a:lstStyle/>
          <a:p>
            <a:pPr algn="l">
              <a:lnSpc>
                <a:spcPts val="1300"/>
              </a:lnSpc>
              <a:spcAft>
                <a:spcPts val="0"/>
              </a:spcAft>
              <a:defRPr sz="1000" b="0">
                <a:solidFill>
                  <a:srgbClr val="666666"/>
                </a:solidFill>
                <a:latin typeface="Arial"/>
              </a:defRPr>
            </a:pPr>
            <a:r>
              <a:t>Retention-critical functions  |  12-14% attrition advantage  |  Barclays model</a:t>
            </a:r>
          </a:p>
        </p:txBody>
      </p:sp>
      <p:sp>
        <p:nvSpPr>
          <p:cNvPr id="13" name="Oval 12"/>
          <p:cNvSpPr/>
          <p:nvPr/>
        </p:nvSpPr>
        <p:spPr>
          <a:xfrm>
            <a:off x="640080" y="3886200"/>
            <a:ext cx="411480" cy="411480"/>
          </a:xfrm>
          <a:prstGeom prst="ellipse">
            <a:avLst/>
          </a:prstGeom>
          <a:solidFill>
            <a:srgbClr val="E84D0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a:lstStyle/>
          <a:p>
            <a:pPr algn="ctr">
              <a:defRPr sz="1400" b="1">
                <a:solidFill>
                  <a:srgbClr val="FFFFFF"/>
                </a:solidFill>
                <a:latin typeface="Arial"/>
              </a:defRPr>
            </a:pPr>
            <a:r>
              <a:t>4</a:t>
            </a:r>
          </a:p>
        </p:txBody>
      </p:sp>
      <p:sp>
        <p:nvSpPr>
          <p:cNvPr id="14" name="TextBox 13"/>
          <p:cNvSpPr txBox="1"/>
          <p:nvPr/>
        </p:nvSpPr>
        <p:spPr>
          <a:xfrm>
            <a:off x="1188720" y="3840480"/>
            <a:ext cx="10332720" cy="292608"/>
          </a:xfrm>
          <a:prstGeom prst="rect">
            <a:avLst/>
          </a:prstGeom>
          <a:noFill/>
        </p:spPr>
        <p:txBody>
          <a:bodyPr wrap="square">
            <a:spAutoFit/>
          </a:bodyPr>
          <a:lstStyle/>
          <a:p>
            <a:pPr algn="l">
              <a:lnSpc>
                <a:spcPts val="1690"/>
              </a:lnSpc>
              <a:spcAft>
                <a:spcPts val="0"/>
              </a:spcAft>
              <a:defRPr sz="1300" b="1">
                <a:solidFill>
                  <a:srgbClr val="1A1A1A"/>
                </a:solidFill>
                <a:latin typeface="Arial"/>
              </a:defRPr>
            </a:pPr>
            <a:r>
              <a:t>Launch differentiated EVP from Day 1</a:t>
            </a:r>
          </a:p>
        </p:txBody>
      </p:sp>
      <p:sp>
        <p:nvSpPr>
          <p:cNvPr id="15" name="TextBox 14"/>
          <p:cNvSpPr txBox="1"/>
          <p:nvPr/>
        </p:nvSpPr>
        <p:spPr>
          <a:xfrm>
            <a:off x="1188720" y="4133088"/>
            <a:ext cx="10332720" cy="292608"/>
          </a:xfrm>
          <a:prstGeom prst="rect">
            <a:avLst/>
          </a:prstGeom>
          <a:noFill/>
        </p:spPr>
        <p:txBody>
          <a:bodyPr wrap="square">
            <a:spAutoFit/>
          </a:bodyPr>
          <a:lstStyle/>
          <a:p>
            <a:pPr algn="l">
              <a:lnSpc>
                <a:spcPts val="1300"/>
              </a:lnSpc>
              <a:spcAft>
                <a:spcPts val="0"/>
              </a:spcAft>
              <a:defRPr sz="1000" b="0">
                <a:solidFill>
                  <a:srgbClr val="666666"/>
                </a:solidFill>
                <a:latin typeface="Arial"/>
              </a:defRPr>
            </a:pPr>
            <a:r>
              <a:t>Target: 43% lower cost-per-hire  |  28% lower turnover  |  5-pillar BFSI framework</a:t>
            </a:r>
          </a:p>
        </p:txBody>
      </p:sp>
      <p:sp>
        <p:nvSpPr>
          <p:cNvPr id="16" name="Oval 15"/>
          <p:cNvSpPr/>
          <p:nvPr/>
        </p:nvSpPr>
        <p:spPr>
          <a:xfrm>
            <a:off x="640080" y="4709159"/>
            <a:ext cx="411480" cy="411480"/>
          </a:xfrm>
          <a:prstGeom prst="ellipse">
            <a:avLst/>
          </a:prstGeom>
          <a:solidFill>
            <a:srgbClr val="E84D0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a:lstStyle/>
          <a:p>
            <a:pPr algn="ctr">
              <a:defRPr sz="1400" b="1">
                <a:solidFill>
                  <a:srgbClr val="FFFFFF"/>
                </a:solidFill>
                <a:latin typeface="Arial"/>
              </a:defRPr>
            </a:pPr>
            <a:r>
              <a:t>5</a:t>
            </a:r>
          </a:p>
        </p:txBody>
      </p:sp>
      <p:sp>
        <p:nvSpPr>
          <p:cNvPr id="17" name="TextBox 16"/>
          <p:cNvSpPr txBox="1"/>
          <p:nvPr/>
        </p:nvSpPr>
        <p:spPr>
          <a:xfrm>
            <a:off x="1188720" y="4663440"/>
            <a:ext cx="10332720" cy="292608"/>
          </a:xfrm>
          <a:prstGeom prst="rect">
            <a:avLst/>
          </a:prstGeom>
          <a:noFill/>
        </p:spPr>
        <p:txBody>
          <a:bodyPr wrap="square">
            <a:spAutoFit/>
          </a:bodyPr>
          <a:lstStyle/>
          <a:p>
            <a:pPr algn="l">
              <a:lnSpc>
                <a:spcPts val="1690"/>
              </a:lnSpc>
              <a:spcAft>
                <a:spcPts val="0"/>
              </a:spcAft>
              <a:defRPr sz="1300" b="1">
                <a:solidFill>
                  <a:srgbClr val="1A1A1A"/>
                </a:solidFill>
                <a:latin typeface="Arial"/>
              </a:defRPr>
            </a:pPr>
            <a:r>
              <a:t>Adopt hybrid model: &lt;30% outsourced FTE by Year 3</a:t>
            </a:r>
          </a:p>
        </p:txBody>
      </p:sp>
      <p:sp>
        <p:nvSpPr>
          <p:cNvPr id="18" name="TextBox 17"/>
          <p:cNvSpPr txBox="1"/>
          <p:nvPr/>
        </p:nvSpPr>
        <p:spPr>
          <a:xfrm>
            <a:off x="1188720" y="4956048"/>
            <a:ext cx="10332720" cy="292608"/>
          </a:xfrm>
          <a:prstGeom prst="rect">
            <a:avLst/>
          </a:prstGeom>
          <a:noFill/>
        </p:spPr>
        <p:txBody>
          <a:bodyPr wrap="square">
            <a:spAutoFit/>
          </a:bodyPr>
          <a:lstStyle/>
          <a:p>
            <a:pPr algn="l">
              <a:lnSpc>
                <a:spcPts val="1300"/>
              </a:lnSpc>
              <a:spcAft>
                <a:spcPts val="0"/>
              </a:spcAft>
              <a:defRPr sz="1000" b="0">
                <a:solidFill>
                  <a:srgbClr val="666666"/>
                </a:solidFill>
                <a:latin typeface="Arial"/>
              </a:defRPr>
            </a:pPr>
            <a:r>
              <a:t>GCC-owned core 70-80%  |  Selective outsourcing for non-core  |  BOT for de-risking</a:t>
            </a:r>
          </a:p>
        </p:txBody>
      </p:sp>
      <p:sp>
        <p:nvSpPr>
          <p:cNvPr id="19" name="Rectangle 18"/>
          <p:cNvSpPr/>
          <p:nvPr/>
        </p:nvSpPr>
        <p:spPr>
          <a:xfrm>
            <a:off x="640080" y="5486400"/>
            <a:ext cx="1088136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0080" y="5577840"/>
            <a:ext cx="10881360" cy="411480"/>
          </a:xfrm>
          <a:prstGeom prst="rect">
            <a:avLst/>
          </a:prstGeom>
          <a:solidFill>
            <a:srgbClr val="FDEDED"/>
          </a:solidFill>
          <a:ln w="1905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lIns="137160" tIns="63500"/>
          <a:lstStyle/>
          <a:p>
            <a:pPr algn="ctr">
              <a:defRPr sz="1000" b="1">
                <a:solidFill>
                  <a:srgbClr val="C0392B"/>
                </a:solidFill>
                <a:latin typeface="Arial"/>
              </a:defRPr>
            </a:pPr>
            <a:r>
              <a:t>⚠  COST OF INACTION: 10-15% salary inflation per year of delay. 500 FTE delayed 1 year = $2-4M additional costs. The window is 2025-2026.</a:t>
            </a:r>
          </a:p>
        </p:txBody>
      </p:sp>
      <p:sp>
        <p:nvSpPr>
          <p:cNvPr id="21" name="Rectangle 20"/>
          <p:cNvSpPr/>
          <p:nvPr/>
        </p:nvSpPr>
        <p:spPr>
          <a:xfrm>
            <a:off x="0" y="6080760"/>
            <a:ext cx="12191695" cy="36576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wrap="square" lIns="640080" tIns="63500"/>
          <a:lstStyle/>
          <a:p>
            <a:pPr algn="l">
              <a:defRPr sz="1000" b="1">
                <a:solidFill>
                  <a:srgbClr val="2D2D2D"/>
                </a:solidFill>
                <a:latin typeface="Arial"/>
              </a:defRPr>
            </a:pPr>
            <a:r>
              <a:t>SO WHAT: These five moves deliver a fully operational multi-city BFSI GCC within 18 months at 20%+ savings by Year 3</a:t>
            </a:r>
          </a:p>
        </p:txBody>
      </p:sp>
      <p:sp>
        <p:nvSpPr>
          <p:cNvPr id="22" name="TextBox 21"/>
          <p:cNvSpPr txBox="1"/>
          <p:nvPr/>
        </p:nvSpPr>
        <p:spPr>
          <a:xfrm>
            <a:off x="11247120" y="6537960"/>
            <a:ext cx="731520" cy="228600"/>
          </a:xfrm>
          <a:prstGeom prst="rect">
            <a:avLst/>
          </a:prstGeom>
          <a:noFill/>
        </p:spPr>
        <p:txBody>
          <a:bodyPr wrap="square">
            <a:spAutoFit/>
          </a:bodyPr>
          <a:lstStyle/>
          <a:p>
            <a:pPr algn="r">
              <a:lnSpc>
                <a:spcPts val="910"/>
              </a:lnSpc>
              <a:spcAft>
                <a:spcPts val="0"/>
              </a:spcAft>
              <a:defRPr sz="700" b="1">
                <a:solidFill>
                  <a:srgbClr val="666666"/>
                </a:solidFill>
                <a:latin typeface="Arial"/>
              </a:defRPr>
            </a:pPr>
            <a:r>
              <a:t>19</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137160"/>
            <a:ext cx="4572000" cy="228600"/>
          </a:xfrm>
          <a:prstGeom prst="rect">
            <a:avLst/>
          </a:prstGeom>
          <a:noFill/>
        </p:spPr>
        <p:txBody>
          <a:bodyPr wrap="square">
            <a:spAutoFit/>
          </a:bodyPr>
          <a:lstStyle/>
          <a:p>
            <a:pPr algn="l">
              <a:lnSpc>
                <a:spcPts val="1170"/>
              </a:lnSpc>
              <a:spcAft>
                <a:spcPts val="0"/>
              </a:spcAft>
              <a:defRPr sz="900" b="1">
                <a:solidFill>
                  <a:srgbClr val="E84D0E"/>
                </a:solidFill>
                <a:latin typeface="Arial"/>
              </a:defRPr>
            </a:pPr>
            <a:r>
              <a:t>APPENDIX</a:t>
            </a:r>
          </a:p>
        </p:txBody>
      </p:sp>
      <p:sp>
        <p:nvSpPr>
          <p:cNvPr id="3" name="TextBox 2"/>
          <p:cNvSpPr txBox="1"/>
          <p:nvPr/>
        </p:nvSpPr>
        <p:spPr>
          <a:xfrm>
            <a:off x="640080" y="320040"/>
            <a:ext cx="10881360" cy="822960"/>
          </a:xfrm>
          <a:prstGeom prst="rect">
            <a:avLst/>
          </a:prstGeom>
          <a:noFill/>
        </p:spPr>
        <p:txBody>
          <a:bodyPr wrap="square">
            <a:spAutoFit/>
          </a:bodyPr>
          <a:lstStyle/>
          <a:p>
            <a:pPr algn="l">
              <a:lnSpc>
                <a:spcPts val="3380"/>
              </a:lnSpc>
              <a:spcAft>
                <a:spcPts val="0"/>
              </a:spcAft>
              <a:defRPr sz="2600" b="1">
                <a:solidFill>
                  <a:srgbClr val="1A1A1A"/>
                </a:solidFill>
                <a:latin typeface="Arial"/>
              </a:defRPr>
            </a:pPr>
            <a:r>
              <a:t>Sources and Methodology</a:t>
            </a:r>
          </a:p>
        </p:txBody>
      </p:sp>
      <p:sp>
        <p:nvSpPr>
          <p:cNvPr id="4" name="Rectangle 3"/>
          <p:cNvSpPr/>
          <p:nvPr/>
        </p:nvSpPr>
        <p:spPr>
          <a:xfrm>
            <a:off x="640080" y="1325880"/>
            <a:ext cx="10881360" cy="320040"/>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lIns="137160" tIns="25400"/>
          <a:lstStyle/>
          <a:p>
            <a:pPr algn="ctr">
              <a:defRPr sz="1100" b="1">
                <a:solidFill>
                  <a:srgbClr val="FFFFFF"/>
                </a:solidFill>
                <a:latin typeface="Arial"/>
              </a:defRPr>
            </a:pPr>
            <a:r>
              <a:t>44 SOURCES ACROSS 7 CATEGORIES  |  ALL DATA FROM 2024-2025 PUBLICATIONS</a:t>
            </a:r>
          </a:p>
        </p:txBody>
      </p:sp>
      <p:sp>
        <p:nvSpPr>
          <p:cNvPr id="5" name="Rectangle 4"/>
          <p:cNvSpPr/>
          <p:nvPr/>
        </p:nvSpPr>
        <p:spPr>
          <a:xfrm>
            <a:off x="640080" y="1783080"/>
            <a:ext cx="2560320" cy="1280160"/>
          </a:xfrm>
          <a:prstGeom prst="rect">
            <a:avLst/>
          </a:prstGeom>
          <a:solidFill>
            <a:srgbClr val="F5F5F5"/>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rIns="109728"/>
          <a:lstStyle/>
          <a:p>
            <a:pPr algn="ctr">
              <a:defRPr sz="1000" b="1">
                <a:solidFill>
                  <a:srgbClr val="E84D0E"/>
                </a:solidFill>
                <a:latin typeface="Arial"/>
              </a:defRPr>
            </a:pPr>
            <a:r>
              <a:t>INDUSTRY REPORTS</a:t>
            </a:r>
          </a:p>
          <a:p>
            <a:pPr>
              <a:lnSpc>
                <a:spcPts val="1215"/>
              </a:lnSpc>
              <a:spcBef>
                <a:spcPts val="400"/>
              </a:spcBef>
              <a:defRPr sz="900">
                <a:solidFill>
                  <a:srgbClr val="4A4A4A"/>
                </a:solidFill>
                <a:latin typeface="Arial"/>
              </a:defRPr>
            </a:pPr>
            <a:r>
              <a:t>Zinnov, NASSCOM, ANSR,</a:t>
            </a:r>
            <a:br/>
            <a:r>
              <a:t>Everest Group, Flexiple, JLL, CBRE</a:t>
            </a:r>
          </a:p>
        </p:txBody>
      </p:sp>
      <p:sp>
        <p:nvSpPr>
          <p:cNvPr id="6" name="Rectangle 5"/>
          <p:cNvSpPr/>
          <p:nvPr/>
        </p:nvSpPr>
        <p:spPr>
          <a:xfrm>
            <a:off x="3429000" y="1783080"/>
            <a:ext cx="2560320" cy="1280160"/>
          </a:xfrm>
          <a:prstGeom prst="rect">
            <a:avLst/>
          </a:prstGeom>
          <a:solidFill>
            <a:srgbClr val="F5F5F5"/>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rIns="109728"/>
          <a:lstStyle/>
          <a:p>
            <a:pPr algn="ctr">
              <a:defRPr sz="1000" b="1">
                <a:solidFill>
                  <a:srgbClr val="E84D0E"/>
                </a:solidFill>
                <a:latin typeface="Arial"/>
              </a:defRPr>
            </a:pPr>
            <a:r>
              <a:t>STRATEGY &amp; INNOVATION</a:t>
            </a:r>
          </a:p>
          <a:p>
            <a:pPr>
              <a:lnSpc>
                <a:spcPts val="1215"/>
              </a:lnSpc>
              <a:spcBef>
                <a:spcPts val="400"/>
              </a:spcBef>
              <a:defRPr sz="900">
                <a:solidFill>
                  <a:srgbClr val="4A4A4A"/>
                </a:solidFill>
                <a:latin typeface="Arial"/>
              </a:defRPr>
            </a:pPr>
            <a:r>
              <a:t>McKinsey, EY, Bain,</a:t>
            </a:r>
            <a:br/>
            <a:r>
              <a:t>Deloitte, Tholons</a:t>
            </a:r>
          </a:p>
        </p:txBody>
      </p:sp>
      <p:sp>
        <p:nvSpPr>
          <p:cNvPr id="7" name="Rectangle 6"/>
          <p:cNvSpPr/>
          <p:nvPr/>
        </p:nvSpPr>
        <p:spPr>
          <a:xfrm>
            <a:off x="6217920" y="1783080"/>
            <a:ext cx="2560320" cy="1280160"/>
          </a:xfrm>
          <a:prstGeom prst="rect">
            <a:avLst/>
          </a:prstGeom>
          <a:solidFill>
            <a:srgbClr val="F5F5F5"/>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rIns="109728"/>
          <a:lstStyle/>
          <a:p>
            <a:pPr algn="ctr">
              <a:defRPr sz="1000" b="1">
                <a:solidFill>
                  <a:srgbClr val="E84D0E"/>
                </a:solidFill>
                <a:latin typeface="Arial"/>
              </a:defRPr>
            </a:pPr>
            <a:r>
              <a:t>COMPENSATION</a:t>
            </a:r>
          </a:p>
          <a:p>
            <a:pPr>
              <a:lnSpc>
                <a:spcPts val="1215"/>
              </a:lnSpc>
              <a:spcBef>
                <a:spcPts val="400"/>
              </a:spcBef>
              <a:defRPr sz="900">
                <a:solidFill>
                  <a:srgbClr val="4A4A4A"/>
                </a:solidFill>
                <a:latin typeface="Arial"/>
              </a:defRPr>
            </a:pPr>
            <a:r>
              <a:t>Aon Annual Salary Survey,</a:t>
            </a:r>
            <a:br/>
            <a:r>
              <a:t>Mercer TRS 2025, AIM Research</a:t>
            </a:r>
          </a:p>
        </p:txBody>
      </p:sp>
      <p:sp>
        <p:nvSpPr>
          <p:cNvPr id="8" name="Rectangle 7"/>
          <p:cNvSpPr/>
          <p:nvPr/>
        </p:nvSpPr>
        <p:spPr>
          <a:xfrm>
            <a:off x="9006839" y="1783080"/>
            <a:ext cx="2560320" cy="1280160"/>
          </a:xfrm>
          <a:prstGeom prst="rect">
            <a:avLst/>
          </a:prstGeom>
          <a:solidFill>
            <a:srgbClr val="F5F5F5"/>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rIns="109728"/>
          <a:lstStyle/>
          <a:p>
            <a:pPr algn="ctr">
              <a:defRPr sz="1000" b="1">
                <a:solidFill>
                  <a:srgbClr val="E84D0E"/>
                </a:solidFill>
                <a:latin typeface="Arial"/>
              </a:defRPr>
            </a:pPr>
            <a:r>
              <a:t>EMPLOYER BRANDING</a:t>
            </a:r>
          </a:p>
          <a:p>
            <a:pPr>
              <a:lnSpc>
                <a:spcPts val="1215"/>
              </a:lnSpc>
              <a:spcBef>
                <a:spcPts val="400"/>
              </a:spcBef>
              <a:defRPr sz="900">
                <a:solidFill>
                  <a:srgbClr val="4A4A4A"/>
                </a:solidFill>
                <a:latin typeface="Arial"/>
              </a:defRPr>
            </a:pPr>
            <a:r>
              <a:t>Gartner EVP, Randstad REBR,</a:t>
            </a:r>
            <a:br/>
            <a:r>
              <a:t>Universum, AIHR, SPAG FINN</a:t>
            </a:r>
          </a:p>
        </p:txBody>
      </p:sp>
      <p:sp>
        <p:nvSpPr>
          <p:cNvPr id="9" name="Rectangle 8"/>
          <p:cNvSpPr/>
          <p:nvPr/>
        </p:nvSpPr>
        <p:spPr>
          <a:xfrm>
            <a:off x="640080" y="3474720"/>
            <a:ext cx="2560320" cy="1280160"/>
          </a:xfrm>
          <a:prstGeom prst="rect">
            <a:avLst/>
          </a:prstGeom>
          <a:solidFill>
            <a:srgbClr val="F5F5F5"/>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rIns="109728"/>
          <a:lstStyle/>
          <a:p>
            <a:pPr algn="ctr">
              <a:defRPr sz="1000" b="1">
                <a:solidFill>
                  <a:srgbClr val="E84D0E"/>
                </a:solidFill>
                <a:latin typeface="Arial"/>
              </a:defRPr>
            </a:pPr>
            <a:r>
              <a:t>REAL ESTATE</a:t>
            </a:r>
          </a:p>
          <a:p>
            <a:pPr>
              <a:lnSpc>
                <a:spcPts val="1215"/>
              </a:lnSpc>
              <a:spcBef>
                <a:spcPts val="400"/>
              </a:spcBef>
              <a:defRPr sz="900">
                <a:solidFill>
                  <a:srgbClr val="4A4A4A"/>
                </a:solidFill>
                <a:latin typeface="Arial"/>
              </a:defRPr>
            </a:pPr>
            <a:r>
              <a:t>Anarock, Brigade Group,</a:t>
            </a:r>
            <a:br/>
            <a:r>
              <a:t>Cushman &amp; Wakefield</a:t>
            </a:r>
          </a:p>
        </p:txBody>
      </p:sp>
      <p:sp>
        <p:nvSpPr>
          <p:cNvPr id="10" name="Rectangle 9"/>
          <p:cNvSpPr/>
          <p:nvPr/>
        </p:nvSpPr>
        <p:spPr>
          <a:xfrm>
            <a:off x="3429000" y="3474720"/>
            <a:ext cx="2560320" cy="1280160"/>
          </a:xfrm>
          <a:prstGeom prst="rect">
            <a:avLst/>
          </a:prstGeom>
          <a:solidFill>
            <a:srgbClr val="F5F5F5"/>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rIns="109728"/>
          <a:lstStyle/>
          <a:p>
            <a:pPr algn="ctr">
              <a:defRPr sz="1000" b="1">
                <a:solidFill>
                  <a:srgbClr val="E84D0E"/>
                </a:solidFill>
                <a:latin typeface="Arial"/>
              </a:defRPr>
            </a:pPr>
            <a:r>
              <a:t>REGULATORY</a:t>
            </a:r>
          </a:p>
          <a:p>
            <a:pPr>
              <a:lnSpc>
                <a:spcPts val="1215"/>
              </a:lnSpc>
              <a:spcBef>
                <a:spcPts val="400"/>
              </a:spcBef>
              <a:defRPr sz="900">
                <a:solidFill>
                  <a:srgbClr val="4A4A4A"/>
                </a:solidFill>
                <a:latin typeface="Arial"/>
              </a:defRPr>
            </a:pPr>
            <a:r>
              <a:t>FINMA, RBI, EU DORA,</a:t>
            </a:r>
            <a:br/>
            <a:r>
              <a:t>Securiti, PCI-DSS</a:t>
            </a:r>
          </a:p>
        </p:txBody>
      </p:sp>
      <p:sp>
        <p:nvSpPr>
          <p:cNvPr id="11" name="Rectangle 10"/>
          <p:cNvSpPr/>
          <p:nvPr/>
        </p:nvSpPr>
        <p:spPr>
          <a:xfrm>
            <a:off x="6217920" y="3474720"/>
            <a:ext cx="2560320" cy="1280160"/>
          </a:xfrm>
          <a:prstGeom prst="rect">
            <a:avLst/>
          </a:prstGeom>
          <a:solidFill>
            <a:srgbClr val="F5F5F5"/>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rIns="109728"/>
          <a:lstStyle/>
          <a:p>
            <a:pPr algn="ctr">
              <a:defRPr sz="1000" b="1">
                <a:solidFill>
                  <a:srgbClr val="E84D0E"/>
                </a:solidFill>
                <a:latin typeface="Arial"/>
              </a:defRPr>
            </a:pPr>
            <a:r>
              <a:t>GOVT POLICIES</a:t>
            </a:r>
          </a:p>
          <a:p>
            <a:pPr>
              <a:lnSpc>
                <a:spcPts val="1215"/>
              </a:lnSpc>
              <a:spcBef>
                <a:spcPts val="400"/>
              </a:spcBef>
              <a:defRPr sz="900">
                <a:solidFill>
                  <a:srgbClr val="4A4A4A"/>
                </a:solidFill>
                <a:latin typeface="Arial"/>
              </a:defRPr>
            </a:pPr>
            <a:r>
              <a:t>Karnataka, Telangana,</a:t>
            </a:r>
            <a:br/>
            <a:r>
              <a:t>Maharashtra, UP, Haryana</a:t>
            </a:r>
          </a:p>
        </p:txBody>
      </p:sp>
      <p:sp>
        <p:nvSpPr>
          <p:cNvPr id="12" name="Rectangle 11"/>
          <p:cNvSpPr/>
          <p:nvPr/>
        </p:nvSpPr>
        <p:spPr>
          <a:xfrm>
            <a:off x="640080" y="4754880"/>
            <a:ext cx="10881360" cy="640080"/>
          </a:xfrm>
          <a:prstGeom prst="rect">
            <a:avLst/>
          </a:prstGeom>
          <a:solidFill>
            <a:srgbClr val="EBF0F5"/>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rIns="109728"/>
          <a:lstStyle/>
          <a:p>
            <a:pPr algn="ctr">
              <a:defRPr sz="1000" b="1">
                <a:solidFill>
                  <a:srgbClr val="2C3E50"/>
                </a:solidFill>
                <a:latin typeface="Arial"/>
              </a:defRPr>
            </a:pPr>
            <a:r>
              <a:t>METHODOLOGY</a:t>
            </a:r>
          </a:p>
          <a:p>
            <a:pPr>
              <a:lnSpc>
                <a:spcPts val="1215"/>
              </a:lnSpc>
              <a:spcBef>
                <a:spcPts val="400"/>
              </a:spcBef>
              <a:defRPr sz="900">
                <a:solidFill>
                  <a:srgbClr val="4A4A4A"/>
                </a:solidFill>
                <a:latin typeface="Arial"/>
              </a:defRPr>
            </a:pPr>
            <a:r>
              <a:t>All statistics sourced from published research (2024-2025). City scorecards use BFSI-specific weights, not equal weights. Cost indices are relative (Bangalore = 100). Every number in this deck has a source.</a:t>
            </a:r>
          </a:p>
        </p:txBody>
      </p:sp>
      <p:sp>
        <p:nvSpPr>
          <p:cNvPr id="13" name="Rectangle 12"/>
          <p:cNvSpPr/>
          <p:nvPr/>
        </p:nvSpPr>
        <p:spPr>
          <a:xfrm>
            <a:off x="0" y="6080760"/>
            <a:ext cx="12191695" cy="36576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wrap="square" lIns="640080" tIns="63500"/>
          <a:lstStyle/>
          <a:p>
            <a:pPr algn="l">
              <a:defRPr sz="1000" b="1">
                <a:solidFill>
                  <a:srgbClr val="2D2D2D"/>
                </a:solidFill>
                <a:latin typeface="Arial"/>
              </a:defRPr>
            </a:pPr>
            <a:r>
              <a:t>SO WHAT: Every number in this deck has a source — this is evidence-based strategy, not opinion</a:t>
            </a:r>
          </a:p>
        </p:txBody>
      </p:sp>
      <p:sp>
        <p:nvSpPr>
          <p:cNvPr id="14" name="TextBox 13"/>
          <p:cNvSpPr txBox="1"/>
          <p:nvPr/>
        </p:nvSpPr>
        <p:spPr>
          <a:xfrm>
            <a:off x="11247120" y="6537960"/>
            <a:ext cx="731520" cy="228600"/>
          </a:xfrm>
          <a:prstGeom prst="rect">
            <a:avLst/>
          </a:prstGeom>
          <a:noFill/>
        </p:spPr>
        <p:txBody>
          <a:bodyPr wrap="square">
            <a:spAutoFit/>
          </a:bodyPr>
          <a:lstStyle/>
          <a:p>
            <a:pPr algn="r">
              <a:lnSpc>
                <a:spcPts val="910"/>
              </a:lnSpc>
              <a:spcAft>
                <a:spcPts val="0"/>
              </a:spcAft>
              <a:defRPr sz="700" b="1">
                <a:solidFill>
                  <a:srgbClr val="666666"/>
                </a:solidFill>
                <a:latin typeface="Arial"/>
              </a:defRPr>
            </a:pPr>
            <a:r>
              <a:t>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