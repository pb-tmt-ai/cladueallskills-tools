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JSW ONE TMT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2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Positioning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Brand-wise TMT Steel Prices — Distributor &amp; Dealer Level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March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Covered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  •  Haryana  •  Jaipur (Rajasthan)  •  Kanpur (UP E+C)  •  Chandigarh  •  Ludhiana (Punjab)  •  Dehradun (Uttarakhand)  •  Shimla (H.P.)  •  Jammu (J&amp;K)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743200"/>
            <a:ext cx="2926080" cy="13716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Severity Legend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182880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Competitive: Gap ≤ ₹2,000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3474720"/>
            <a:ext cx="18288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447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Gap ₹2,001 – ₹4,000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182880" cy="16459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Needed: Gap &gt; ₹4,000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0/10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Delhi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₹58,500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₹62,100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₹3,550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₹52,400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₹52,650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₹13,000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1/10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Haryana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₹7,000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₹52,400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₹52,650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₹13,000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2/10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Jaipur (Rajasthan)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₹66,150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₹58,750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₹62,600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₹3,550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₹59,250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₹61,500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₹4,650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₹52,400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₹49,550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₹16,600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₹48,550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₹48,550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₹17,600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3/10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Kanpur (UP E+C)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₹65,150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₹2,300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₹58,600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₹61,950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₹3,200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₹51,900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₹52,150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₹13,000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₹51,150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₹51,150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₹5,450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4/10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Chandigarh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₹66,650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₹3,800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₹60,950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₹5,700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₹60,950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₹5,700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₹57,650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₹59,950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₹6,700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₹50,500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₹50,750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₹15,900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1" name="Text 58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₹5,700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4" name="Text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₹58,650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₹60,950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₹66,650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2" name="Text 69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₹6,700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5" name="Text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₹57,650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₹59,950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₹66,650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5/10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Ludhiana (Punjab)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₹59,650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₹58,750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₹62,100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₹3,550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₹51,000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₹51,250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₹14,400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₹15,900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₹5,950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6/10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Dehradun (Uttarakhand)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₹66,150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₹59,150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₹62,250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₹60,250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₹5,900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₹52,150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₹52,150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₹14,000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₹51,650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₹14,500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₹4,950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₹6,450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₹57,400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₹59,700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7/10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Shimla (H.P.)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₹60,000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₹65,650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₹59,650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₹63,350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₹2,300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₹59,600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₹2,800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₹61,750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₹3,900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₹6,200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₹50,500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₹50,650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₹15,000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₹15,900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₹61,200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₹6,200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₹57,900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₹59,450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₹65,650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8/10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Jammu (J&amp;K)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"/>
            <a:ext cx="1737360" cy="320040"/>
          </a:xfrm>
          <a:prstGeom prst="rect">
            <a:avLst>
              <a:gd name="adj" fmla="val 14286"/>
            </a:avLst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9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 9th Mar '26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2344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256032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002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 (₹)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146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(₹)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TSL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1353312"/>
            <a:ext cx="4206240" cy="246888"/>
          </a:xfrm>
          <a:prstGeom prst="rect">
            <a:avLst/>
          </a:prstGeom>
          <a:solidFill>
            <a:srgbClr val="2A2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1353312"/>
            <a:ext cx="36576" cy="2468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35331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 (TSL)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002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₹60,500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4600" y="13533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₹66,150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29000" y="13533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8600" y="1600200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" y="160020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002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₹60,650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16002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₹64,350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1600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₹1,800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1847088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" y="184708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14600" y="18470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₹62,850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29000" y="18470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₹3,300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" y="2093976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" y="2093976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002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₹59,500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14600" y="20939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₹61,500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0" y="2093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₹4,650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340864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2340864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" y="2340864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002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₹60,400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14600" y="23408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₹62,700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29000" y="23408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₹3,450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587752"/>
            <a:ext cx="4206240" cy="246888"/>
          </a:xfrm>
          <a:prstGeom prst="rect">
            <a:avLst/>
          </a:prstGeom>
          <a:solidFill>
            <a:srgbClr val="2A151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2587752"/>
            <a:ext cx="36576" cy="24688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" y="2587752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Fe 550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14600" y="2587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29000" y="258775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₹7,250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2834640"/>
            <a:ext cx="4206240" cy="2468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" y="2834640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Prem Sec.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002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₹51,500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514600" y="28346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₹51,500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29000" y="28346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₹14,650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" y="3081528"/>
            <a:ext cx="4206240" cy="24688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4" name="Text 52"/>
          <p:cNvSpPr/>
          <p:nvPr/>
        </p:nvSpPr>
        <p:spPr>
          <a:xfrm>
            <a:off x="283464" y="3081528"/>
            <a:ext cx="1316736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Steelmint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002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14600" y="30815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₹49,750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82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₹16,400</a:t>
            </a:r>
            <a:endParaRPr lang="en-US" sz="75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777240"/>
            <a:ext cx="4297680" cy="2560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4617720" y="777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Price Comparison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228600" y="3611880"/>
            <a:ext cx="54864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2" name="Text 59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550D (Project Grade)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657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₹3,450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5" name="Text 62"/>
          <p:cNvSpPr/>
          <p:nvPr/>
        </p:nvSpPr>
        <p:spPr>
          <a:xfrm>
            <a:off x="36576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26060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060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₹60,400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52044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52044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₹62,700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260604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709160" y="3611880"/>
            <a:ext cx="4297680" cy="118872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4709160" y="3611880"/>
            <a:ext cx="54864" cy="11887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3" name="Text 70"/>
          <p:cNvSpPr/>
          <p:nvPr/>
        </p:nvSpPr>
        <p:spPr>
          <a:xfrm>
            <a:off x="4846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Fe 550 (Standard Retail)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46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₹7,250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6" name="Text 73"/>
          <p:cNvSpPr/>
          <p:nvPr/>
        </p:nvSpPr>
        <p:spPr>
          <a:xfrm>
            <a:off x="4846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0866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Distr.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70866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800100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001000" y="3959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₹58,900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7086600" y="4325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TISCON: ₹66,150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9/10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</a:t>
            </a:r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× Brand Gap Heatmap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Level Gap vs TISCON (in ₹ thousands)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86868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840480"/>
            <a:ext cx="4206240" cy="9144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3840480"/>
            <a:ext cx="54864" cy="91440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886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NEEDING IMMEDIATE REALIGNMENT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Delhi, Haryana, Jaipur (Rajasthan), Kanpur (UP E+C), Chandigarh, Ludhiana (Punjab), Dehradun (Uttarakhand), Shimla (H.P.), Jammu (J&amp;K)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4434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brands with &gt; ₹4,000 gap vs TISCON at dealer level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709160" y="3840480"/>
            <a:ext cx="4206240" cy="91440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3840480"/>
            <a:ext cx="54864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3886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WHERE JSW IS MOST COMPETITIVE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4632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Jammu (J&amp;K)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4434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550D within ₹4,000 of TISCON at dealer level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286000" y="3657600"/>
            <a:ext cx="13716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2468880" y="3621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(≤₹2K)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114800" y="3657600"/>
            <a:ext cx="13716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7"/>
          <p:cNvSpPr/>
          <p:nvPr/>
        </p:nvSpPr>
        <p:spPr>
          <a:xfrm>
            <a:off x="4297680" y="3621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(₹2K–₹4K)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943600" y="3657600"/>
            <a:ext cx="137160" cy="10972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3621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(&gt;₹4K)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JSW ONE TMT  |  Price Positioning  |  9th Mar '26  |  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TMT Price Positioning Dashboard - 9th Mar 2026</dc:title>
  <dc:subject>PptxGenJS Presentation</dc:subject>
  <dc:creator>JSW ONE TMT</dc:creator>
  <cp:lastModifiedBy>JSW ONE TMT</cp:lastModifiedBy>
  <cp:revision>1</cp:revision>
  <dcterms:created xsi:type="dcterms:W3CDTF">2026-03-10T05:33:43Z</dcterms:created>
  <dcterms:modified xsi:type="dcterms:W3CDTF">2026-03-10T05:33:43Z</dcterms:modified>
</cp:coreProperties>
</file>