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BA9BEE-D52A-530F-B49F-9B814E0F433C}" name="Kunal Jani" initials="KJ" userId="S::kunal.jani@jsw.in::1a4d6989-6ea7-4c9b-af08-76f41b5aba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89D"/>
    <a:srgbClr val="4E95D9"/>
    <a:srgbClr val="DAF8FA"/>
    <a:srgbClr val="17489F"/>
    <a:srgbClr val="D9D9D9"/>
    <a:srgbClr val="B4E5A2"/>
    <a:srgbClr val="A4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867BB-97D7-A965-CC19-6E06D2544D4B}" v="12" dt="2026-03-09T05:31:59.801"/>
    <p1510:client id="{DEF88FC2-23E0-3B60-120F-9BA44EDD4B4A}" v="5" dt="2026-03-09T05:37:55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01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2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03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19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9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1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84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88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85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13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625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0" y="113917"/>
            <a:ext cx="12192000" cy="64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4038600" y="649287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ts val="1200"/>
                <a:buFont typeface="Calibri"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2">
            <a:alphaModFix/>
          </a:blip>
          <a:srcRect t="14568" b="80734"/>
          <a:stretch/>
        </p:blipFill>
        <p:spPr>
          <a:xfrm>
            <a:off x="0" y="712160"/>
            <a:ext cx="12192000" cy="151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66756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453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-section">
  <p:cSld name="Sub-section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57"/>
          <p:cNvPicPr preferRelativeResize="0"/>
          <p:nvPr/>
        </p:nvPicPr>
        <p:blipFill rotWithShape="1">
          <a:blip r:embed="rId2">
            <a:alphaModFix/>
          </a:blip>
          <a:srcRect t="14565" b="80734"/>
          <a:stretch/>
        </p:blipFill>
        <p:spPr>
          <a:xfrm>
            <a:off x="2" y="4160841"/>
            <a:ext cx="1219200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7"/>
          <p:cNvSpPr txBox="1">
            <a:spLocks noGrp="1"/>
          </p:cNvSpPr>
          <p:nvPr>
            <p:ph type="ftr" idx="11"/>
          </p:nvPr>
        </p:nvSpPr>
        <p:spPr>
          <a:xfrm>
            <a:off x="4038600" y="6492876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079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1"/>
          <p:cNvSpPr txBox="1">
            <a:spLocks noGrp="1"/>
          </p:cNvSpPr>
          <p:nvPr>
            <p:ph type="title"/>
          </p:nvPr>
        </p:nvSpPr>
        <p:spPr>
          <a:xfrm>
            <a:off x="335987" y="244243"/>
            <a:ext cx="1152002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sldNum" idx="12"/>
          </p:nvPr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6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25039"/>
            <a:ext cx="12192000" cy="151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534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98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11" r:id="rId12"/>
    <p:sldLayoutId id="2147484038" r:id="rId13"/>
    <p:sldLayoutId id="2147484039" r:id="rId14"/>
    <p:sldLayoutId id="214748404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00" y="200000"/>
            <a:ext cx="120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F7F7F"/>
                </a:solidFill>
                <a:latin typeface="Calibri"/>
              </a:rPr>
              <a:t>FY25-26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0000" y="780000"/>
            <a:ext cx="5550000" cy="310000"/>
          </a:xfrm>
          <a:prstGeom prst="roundRect">
            <a:avLst>
              <a:gd name="adj" fmla="val 6000"/>
            </a:avLst>
          </a:prstGeom>
          <a:solidFill>
            <a:srgbClr val="057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Went Well</a:t>
            </a:r>
          </a:p>
        </p:txBody>
      </p:sp>
      <p:sp>
        <p:nvSpPr>
          <p:cNvPr id="5" name="Oval 4"/>
          <p:cNvSpPr/>
          <p:nvPr/>
        </p:nvSpPr>
        <p:spPr>
          <a:xfrm>
            <a:off x="390000" y="12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" y="12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Dealer engagement schemes and flat PL supported sales</a:t>
            </a:r>
          </a:p>
        </p:txBody>
      </p:sp>
      <p:sp>
        <p:nvSpPr>
          <p:cNvPr id="7" name="Oval 6"/>
          <p:cNvSpPr/>
          <p:nvPr/>
        </p:nvSpPr>
        <p:spPr>
          <a:xfrm>
            <a:off x="390000" y="177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000" y="176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Q1 &amp; Q2 showed good demand and NOD 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390000" y="23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00" y="23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Delivery time improved from 4–5 days to 1–2 days</a:t>
            </a:r>
          </a:p>
        </p:txBody>
      </p:sp>
      <p:sp>
        <p:nvSpPr>
          <p:cNvPr id="11" name="Oval 10"/>
          <p:cNvSpPr/>
          <p:nvPr/>
        </p:nvSpPr>
        <p:spPr>
          <a:xfrm>
            <a:off x="390000" y="287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000" y="286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Annual dealer tour was motivating for channel partners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0000" y="780000"/>
            <a:ext cx="5550000" cy="31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Areas for Improvement</a:t>
            </a:r>
          </a:p>
        </p:txBody>
      </p:sp>
      <p:sp>
        <p:nvSpPr>
          <p:cNvPr id="14" name="Oval 13"/>
          <p:cNvSpPr/>
          <p:nvPr/>
        </p:nvSpPr>
        <p:spPr>
          <a:xfrm>
            <a:off x="6370000" y="12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000" y="12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8mm/10mm price gap above industry standard; frequent pricing changes hurt dealer confidence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6370000" y="18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000" y="18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JSW One TMT brand positioning unclear; intra-brand competition with Neo affected conversions</a:t>
            </a:r>
          </a:p>
        </p:txBody>
      </p:sp>
      <p:sp>
        <p:nvSpPr>
          <p:cNvPr id="18" name="Oval 17"/>
          <p:cNvSpPr/>
          <p:nvPr/>
        </p:nvSpPr>
        <p:spPr>
          <a:xfrm>
            <a:off x="6370000" y="24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000" y="24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550D non-availability in H1; product shining below premium brand expectations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370000" y="302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0000" y="3010000"/>
            <a:ext cx="515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Pricing shift from premium-economical to purely premium reduced competitiveness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50000"/>
            <a:ext cx="12192000" cy="420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0" tIns="5000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Focus: Stabilize pricing strategy, strengthen brand positioning, and improve product shining to match premium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00" y="200000"/>
            <a:ext cx="120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F7F7F"/>
                </a:solidFill>
                <a:latin typeface="Calibri"/>
              </a:rPr>
              <a:t>Growth Strategy &amp; Helix TMT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00" y="780000"/>
            <a:ext cx="7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2X volume growth through SOB expansion + new dealer appointments in white-space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000" y="1230000"/>
            <a:ext cx="7100000" cy="31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Helix Channel Selection Criteria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0000" y="1640000"/>
          <a:ext cx="71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 Plan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High-Performing JSW Dealers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Onboard for Helix only if high financial capacity and untapped market potential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Limited Capacity Dealers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Appoint new/alternative partners to ensure Helix gets dedicated focus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Target Counters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E293B"/>
                          </a:solidFill>
                          <a:latin typeface="Calibri"/>
                        </a:rPr>
                        <a:t>Focus on retailers moving high volumes of Jindal/Rapid/</a:t>
                      </a:r>
                      <a:r>
                        <a:rPr sz="1000" b="0" dirty="0" err="1">
                          <a:solidFill>
                            <a:srgbClr val="1E293B"/>
                          </a:solidFill>
                          <a:latin typeface="Calibri"/>
                        </a:rPr>
                        <a:t>Rungta</a:t>
                      </a:r>
                      <a:endParaRPr sz="1000" b="0" dirty="0">
                        <a:solidFill>
                          <a:srgbClr val="1E293B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0000" y="3260000"/>
            <a:ext cx="7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Calibri"/>
              </a:rPr>
              <a:t>Pricing: </a:t>
            </a:r>
            <a:r>
              <a:rPr sz="1000">
                <a:solidFill>
                  <a:srgbClr val="1E293B"/>
                </a:solidFill>
                <a:latin typeface="Calibri"/>
              </a:rPr>
              <a:t>Align with Jindal, Rapid, Rungta. "Best Product at Good Competitive Price" without hitting premium JSW levels.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1E293B"/>
                </a:solidFill>
                <a:latin typeface="Calibri"/>
              </a:rPr>
              <a:t>Stocking: </a:t>
            </a:r>
            <a:r>
              <a:rPr sz="1000">
                <a:solidFill>
                  <a:srgbClr val="1E293B"/>
                </a:solidFill>
                <a:latin typeface="Calibri"/>
              </a:rPr>
              <a:t>No yard stock needed — direct plant supply is cost-competitive. Re-evaluate if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0000" y="780000"/>
            <a:ext cx="4570000" cy="10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Increase SOB of existing channels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Strengthen volume per dealer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Improve monthly transacting frequency</a:t>
            </a:r>
          </a:p>
        </p:txBody>
      </p:sp>
      <p:sp>
        <p:nvSpPr>
          <p:cNvPr id="9" name="Oval 8"/>
          <p:cNvSpPr/>
          <p:nvPr/>
        </p:nvSpPr>
        <p:spPr>
          <a:xfrm>
            <a:off x="7710000" y="83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0000" y="1930000"/>
            <a:ext cx="4570000" cy="10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New dealers in white-space markets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Target low premium-brand acceptance areas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Focus where secondary brands dominate</a:t>
            </a:r>
          </a:p>
        </p:txBody>
      </p:sp>
      <p:sp>
        <p:nvSpPr>
          <p:cNvPr id="11" name="Oval 10"/>
          <p:cNvSpPr/>
          <p:nvPr/>
        </p:nvSpPr>
        <p:spPr>
          <a:xfrm>
            <a:off x="7710000" y="198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0000" y="3080000"/>
            <a:ext cx="4570000" cy="10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Helix: Economy segment positioning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Rural markets with low primary steel demand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Quality at competitive price, not premium</a:t>
            </a:r>
          </a:p>
        </p:txBody>
      </p:sp>
      <p:sp>
        <p:nvSpPr>
          <p:cNvPr id="13" name="Oval 12"/>
          <p:cNvSpPr/>
          <p:nvPr/>
        </p:nvSpPr>
        <p:spPr>
          <a:xfrm>
            <a:off x="7710000" y="313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0000" y="4230000"/>
            <a:ext cx="4570000" cy="10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Brand differentiation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JSW One → Premium, full services &amp; marketing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One Helix → Value-focused, wider channel</a:t>
            </a:r>
          </a:p>
        </p:txBody>
      </p:sp>
      <p:sp>
        <p:nvSpPr>
          <p:cNvPr id="15" name="Oval 14"/>
          <p:cNvSpPr/>
          <p:nvPr/>
        </p:nvSpPr>
        <p:spPr>
          <a:xfrm>
            <a:off x="7710000" y="428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050000"/>
            <a:ext cx="12192000" cy="420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0" tIns="5000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Target: Economy segment in rural markets through new channel appointments and competitive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00" y="200000"/>
            <a:ext cx="120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F7F7F"/>
                </a:solidFill>
                <a:latin typeface="Calibri"/>
              </a:rPr>
              <a:t>Industry Practices &amp; Market Activation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0000" y="780000"/>
            <a:ext cx="11530000" cy="31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Industry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000" y="1200000"/>
            <a:ext cx="5550000" cy="11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8489D"/>
                </a:solidFill>
                <a:latin typeface="Calibri"/>
              </a:rPr>
              <a:t>Primary Brands: TATA, Jindal Panther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Govt approvals (PWD)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Influencer loyalty (Architects)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Strong brand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0000" y="1200000"/>
            <a:ext cx="5550000" cy="11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8489D"/>
                </a:solidFill>
                <a:latin typeface="Calibri"/>
              </a:rPr>
              <a:t>Secondary Brands: Jindal, Rapid/Rungta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"Sauda" booking culture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Transparent schemes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Pure price play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• High rural availability / small supplies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00" y="2600000"/>
            <a:ext cx="11530000" cy="310000"/>
          </a:xfrm>
          <a:prstGeom prst="roundRect">
            <a:avLst>
              <a:gd name="adj" fmla="val 6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Influencer &amp; Channel Meets Plan (FY26-27)</a:t>
            </a:r>
          </a:p>
        </p:txBody>
      </p:sp>
      <p:sp>
        <p:nvSpPr>
          <p:cNvPr id="8" name="Oval 7"/>
          <p:cNvSpPr/>
          <p:nvPr/>
        </p:nvSpPr>
        <p:spPr>
          <a:xfrm>
            <a:off x="390000" y="305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00" y="3040000"/>
            <a:ext cx="67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Nuh &amp; Palwal — Very low branded steel sale; plan One Helix</a:t>
            </a:r>
          </a:p>
        </p:txBody>
      </p:sp>
      <p:sp>
        <p:nvSpPr>
          <p:cNvPr id="10" name="Oval 9"/>
          <p:cNvSpPr/>
          <p:nvPr/>
        </p:nvSpPr>
        <p:spPr>
          <a:xfrm>
            <a:off x="390000" y="348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00" y="3470000"/>
            <a:ext cx="67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NCR — Architects, engineers, builders are decision makers</a:t>
            </a:r>
          </a:p>
        </p:txBody>
      </p:sp>
      <p:sp>
        <p:nvSpPr>
          <p:cNvPr id="12" name="Oval 11"/>
          <p:cNvSpPr/>
          <p:nvPr/>
        </p:nvSpPr>
        <p:spPr>
          <a:xfrm>
            <a:off x="390000" y="391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00" y="3900000"/>
            <a:ext cx="67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Need: 2 TSEs (Gautam Budh Nagar + Hapur) + 1 DSR (Projects)</a:t>
            </a:r>
          </a:p>
        </p:txBody>
      </p:sp>
      <p:sp>
        <p:nvSpPr>
          <p:cNvPr id="14" name="Oval 13"/>
          <p:cNvSpPr/>
          <p:nvPr/>
        </p:nvSpPr>
        <p:spPr>
          <a:xfrm>
            <a:off x="390000" y="4340000"/>
            <a:ext cx="250000" cy="250000"/>
          </a:xfrm>
          <a:prstGeom prst="ellipse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00" y="4330000"/>
            <a:ext cx="67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Influencer meets: On demand only, not linked to targets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900000" y="3050000"/>
          <a:ext cx="396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Meet Type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>
                    <a:solidFill>
                      <a:srgbClr val="184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Mason Meets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Every 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Counters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Contractor Meets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Every 2 months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District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Architect Meets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Half-yearly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293B"/>
                          </a:solidFill>
                          <a:latin typeface="Calibri"/>
                        </a:rPr>
                        <a:t>Regional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30000" y="4800000"/>
            <a:ext cx="1153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1E293B"/>
                </a:solidFill>
                <a:latin typeface="Calibri"/>
              </a:rPr>
              <a:t>North Haryana: Regular meets at counters and district level strengthen awareness, generate leads, and improve conversions.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00" y="200000"/>
            <a:ext cx="120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F7F7F"/>
                </a:solidFill>
                <a:latin typeface="Calibri"/>
              </a:rPr>
              <a:t>Distributor Key Performance Improvements (FY26-27)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48800" y="6484939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00" y="730000"/>
            <a:ext cx="1153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Calibri"/>
              </a:rPr>
              <a:t>Three key performance points distributors must improve to meet business expectations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000" y="1150000"/>
            <a:ext cx="11530000" cy="11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Expand Market Reach &amp; Sales Volume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E2E8F0"/>
                </a:solidFill>
                <a:latin typeface="Calibri"/>
              </a:rPr>
              <a:t>• Increase retailer coverage across districts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E2E8F0"/>
                </a:solidFill>
                <a:latin typeface="Calibri"/>
              </a:rPr>
              <a:t>• Actively engage with contractors and construction projects for higher demand</a:t>
            </a:r>
          </a:p>
        </p:txBody>
      </p:sp>
      <p:sp>
        <p:nvSpPr>
          <p:cNvPr id="6" name="Oval 5"/>
          <p:cNvSpPr/>
          <p:nvPr/>
        </p:nvSpPr>
        <p:spPr>
          <a:xfrm>
            <a:off x="377441" y="1130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00" y="2420000"/>
            <a:ext cx="11530000" cy="11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Appoint Dedicated Branch Manager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E2E8F0"/>
                </a:solidFill>
                <a:latin typeface="Calibri"/>
              </a:rPr>
              <a:t>• Ensure focused leadership at branch level for sales execution</a:t>
            </a:r>
          </a:p>
          <a:p>
            <a:pPr>
              <a:spcBef>
                <a:spcPts val="200"/>
              </a:spcBef>
            </a:pPr>
            <a:r>
              <a:rPr sz="1000" dirty="0">
                <a:solidFill>
                  <a:srgbClr val="E2E8F0"/>
                </a:solidFill>
                <a:latin typeface="Calibri"/>
              </a:rPr>
              <a:t>• Enable faster decision-making and accountability locally</a:t>
            </a:r>
          </a:p>
        </p:txBody>
      </p:sp>
      <p:sp>
        <p:nvSpPr>
          <p:cNvPr id="8" name="Oval 7"/>
          <p:cNvSpPr/>
          <p:nvPr/>
        </p:nvSpPr>
        <p:spPr>
          <a:xfrm>
            <a:off x="410000" y="247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00" y="3690000"/>
            <a:ext cx="11530000" cy="1150000"/>
          </a:xfrm>
          <a:prstGeom prst="roundRect">
            <a:avLst>
              <a:gd name="adj" fmla="val 4000"/>
            </a:avLst>
          </a:prstGeom>
          <a:solidFill>
            <a:srgbClr val="184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0000" tIns="60000" rIns="80000" bIns="4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Improve Joint Visits with JSW One Team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Strengthen collaboration with channel partners, key influencers, and architects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E2E8F0"/>
                </a:solidFill>
                <a:latin typeface="Calibri"/>
              </a:rPr>
              <a:t>• Regular joint visits to improve brand visibility and relationships</a:t>
            </a:r>
          </a:p>
        </p:txBody>
      </p:sp>
      <p:sp>
        <p:nvSpPr>
          <p:cNvPr id="10" name="Oval 9"/>
          <p:cNvSpPr/>
          <p:nvPr/>
        </p:nvSpPr>
        <p:spPr>
          <a:xfrm>
            <a:off x="410000" y="3745000"/>
            <a:ext cx="250000" cy="25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050000"/>
            <a:ext cx="12192000" cy="420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0" tIns="5000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Priority: Wider retailer reach, dedicated branch leadership, and closer collaboration with JSW One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CC3B6E-CDCE-43D3-BFE2-4E8AB6FE20F3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xmlns=""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585</Words>
  <Application>Microsoft Office PowerPoint</Application>
  <PresentationFormat>Widescreen</PresentationFormat>
  <Paragraphs>102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AOP Building blocks: Private brands</dc:title>
  <dc:creator/>
  <cp:lastModifiedBy>Siddharth Jain</cp:lastModifiedBy>
  <cp:revision>5</cp:revision>
  <dcterms:created xsi:type="dcterms:W3CDTF">2026-02-23T14:26:52Z</dcterms:created>
  <dcterms:modified xsi:type="dcterms:W3CDTF">2026-03-09T13:42:30Z</dcterms:modified>
</cp:coreProperties>
</file>