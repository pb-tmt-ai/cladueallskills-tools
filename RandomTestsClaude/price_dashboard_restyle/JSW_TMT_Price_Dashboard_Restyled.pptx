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60000</c:v>
                </c:pt>
                <c:pt idx="1">
                  <c:v>59150</c:v>
                </c:pt>
                <c:pt idx="2">
                  <c:v>58500</c:v>
                </c:pt>
                <c:pt idx="3">
                  <c:v>59500</c:v>
                </c:pt>
                <c:pt idx="4">
                  <c:v>58400</c:v>
                </c:pt>
                <c:pt idx="5">
                  <c:v>57400</c:v>
                </c:pt>
                <c:pt idx="6">
                  <c:v>52400</c:v>
                </c:pt>
                <c:pt idx="7">
                  <c:v>51650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65650</c:v>
                </c:pt>
                <c:pt idx="1">
                  <c:v>62850</c:v>
                </c:pt>
                <c:pt idx="2">
                  <c:v>62100</c:v>
                </c:pt>
                <c:pt idx="3">
                  <c:v>61750</c:v>
                </c:pt>
                <c:pt idx="4">
                  <c:v>60700</c:v>
                </c:pt>
                <c:pt idx="5">
                  <c:v>59700</c:v>
                </c:pt>
                <c:pt idx="6">
                  <c:v>52650</c:v>
                </c:pt>
                <c:pt idx="7">
                  <c:v>51650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65650</c:v>
                </c:pt>
                <c:pt idx="1">
                  <c:v>65650</c:v>
                </c:pt>
                <c:pt idx="2">
                  <c:v>65650</c:v>
                </c:pt>
                <c:pt idx="3">
                  <c:v>65650</c:v>
                </c:pt>
                <c:pt idx="4">
                  <c:v>65650</c:v>
                </c:pt>
                <c:pt idx="5">
                  <c:v>65650</c:v>
                </c:pt>
                <c:pt idx="6">
                  <c:v>65650</c:v>
                </c:pt>
                <c:pt idx="7">
                  <c:v>65650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96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60000</c:v>
                </c:pt>
                <c:pt idx="1">
                  <c:v>59150</c:v>
                </c:pt>
                <c:pt idx="2">
                  <c:v>0</c:v>
                </c:pt>
                <c:pt idx="3">
                  <c:v>59500</c:v>
                </c:pt>
                <c:pt idx="4">
                  <c:v>58400</c:v>
                </c:pt>
                <c:pt idx="5">
                  <c:v>57400</c:v>
                </c:pt>
                <c:pt idx="6">
                  <c:v>52400</c:v>
                </c:pt>
                <c:pt idx="7">
                  <c:v>51650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65650</c:v>
                </c:pt>
                <c:pt idx="1">
                  <c:v>62850</c:v>
                </c:pt>
                <c:pt idx="2">
                  <c:v>58650</c:v>
                </c:pt>
                <c:pt idx="3">
                  <c:v>61750</c:v>
                </c:pt>
                <c:pt idx="4">
                  <c:v>60700</c:v>
                </c:pt>
                <c:pt idx="5">
                  <c:v>59700</c:v>
                </c:pt>
                <c:pt idx="6">
                  <c:v>52650</c:v>
                </c:pt>
                <c:pt idx="7">
                  <c:v>51650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65650</c:v>
                </c:pt>
                <c:pt idx="1">
                  <c:v>65650</c:v>
                </c:pt>
                <c:pt idx="2">
                  <c:v>65650</c:v>
                </c:pt>
                <c:pt idx="3">
                  <c:v>65650</c:v>
                </c:pt>
                <c:pt idx="4">
                  <c:v>65650</c:v>
                </c:pt>
                <c:pt idx="5">
                  <c:v>65650</c:v>
                </c:pt>
                <c:pt idx="6">
                  <c:v>65650</c:v>
                </c:pt>
                <c:pt idx="7">
                  <c:v>65650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96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60500</c:v>
                </c:pt>
                <c:pt idx="1">
                  <c:v>59150</c:v>
                </c:pt>
                <c:pt idx="2">
                  <c:v>58750</c:v>
                </c:pt>
                <c:pt idx="3">
                  <c:v>59250</c:v>
                </c:pt>
                <c:pt idx="4">
                  <c:v>58400</c:v>
                </c:pt>
                <c:pt idx="5">
                  <c:v>57400</c:v>
                </c:pt>
                <c:pt idx="6">
                  <c:v>49300</c:v>
                </c:pt>
                <c:pt idx="7">
                  <c:v>48550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66150</c:v>
                </c:pt>
                <c:pt idx="1">
                  <c:v>62850</c:v>
                </c:pt>
                <c:pt idx="2">
                  <c:v>62600</c:v>
                </c:pt>
                <c:pt idx="3">
                  <c:v>61500</c:v>
                </c:pt>
                <c:pt idx="4">
                  <c:v>60700</c:v>
                </c:pt>
                <c:pt idx="5">
                  <c:v>59700</c:v>
                </c:pt>
                <c:pt idx="6">
                  <c:v>49550</c:v>
                </c:pt>
                <c:pt idx="7">
                  <c:v>48550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66150</c:v>
                </c:pt>
                <c:pt idx="1">
                  <c:v>66150</c:v>
                </c:pt>
                <c:pt idx="2">
                  <c:v>66150</c:v>
                </c:pt>
                <c:pt idx="3">
                  <c:v>66150</c:v>
                </c:pt>
                <c:pt idx="4">
                  <c:v>66150</c:v>
                </c:pt>
                <c:pt idx="5">
                  <c:v>66150</c:v>
                </c:pt>
                <c:pt idx="6">
                  <c:v>66150</c:v>
                </c:pt>
                <c:pt idx="7">
                  <c:v>66150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65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59500</c:v>
                </c:pt>
                <c:pt idx="1">
                  <c:v>59150</c:v>
                </c:pt>
                <c:pt idx="2">
                  <c:v>58000</c:v>
                </c:pt>
                <c:pt idx="3">
                  <c:v>59000</c:v>
                </c:pt>
                <c:pt idx="4">
                  <c:v>58400</c:v>
                </c:pt>
                <c:pt idx="5">
                  <c:v>57400</c:v>
                </c:pt>
                <c:pt idx="6">
                  <c:v>51900</c:v>
                </c:pt>
                <c:pt idx="7">
                  <c:v>51150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65150</c:v>
                </c:pt>
                <c:pt idx="1">
                  <c:v>62850</c:v>
                </c:pt>
                <c:pt idx="2">
                  <c:v>61850</c:v>
                </c:pt>
                <c:pt idx="3">
                  <c:v>61250</c:v>
                </c:pt>
                <c:pt idx="4">
                  <c:v>60700</c:v>
                </c:pt>
                <c:pt idx="5">
                  <c:v>59700</c:v>
                </c:pt>
                <c:pt idx="6">
                  <c:v>52150</c:v>
                </c:pt>
                <c:pt idx="7">
                  <c:v>51150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65150</c:v>
                </c:pt>
                <c:pt idx="1">
                  <c:v>65150</c:v>
                </c:pt>
                <c:pt idx="2">
                  <c:v>65150</c:v>
                </c:pt>
                <c:pt idx="3">
                  <c:v>65150</c:v>
                </c:pt>
                <c:pt idx="4">
                  <c:v>65150</c:v>
                </c:pt>
                <c:pt idx="5">
                  <c:v>65150</c:v>
                </c:pt>
                <c:pt idx="6">
                  <c:v>65150</c:v>
                </c:pt>
                <c:pt idx="7">
                  <c:v>65150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91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61000</c:v>
                </c:pt>
                <c:pt idx="1">
                  <c:v>59150</c:v>
                </c:pt>
                <c:pt idx="2">
                  <c:v>59000</c:v>
                </c:pt>
                <c:pt idx="3">
                  <c:v>60000</c:v>
                </c:pt>
                <c:pt idx="4">
                  <c:v>58650</c:v>
                </c:pt>
                <c:pt idx="5">
                  <c:v>57650</c:v>
                </c:pt>
                <c:pt idx="6">
                  <c:v>50500</c:v>
                </c:pt>
                <c:pt idx="7">
                  <c:v>49750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66650</c:v>
                </c:pt>
                <c:pt idx="1">
                  <c:v>62850</c:v>
                </c:pt>
                <c:pt idx="2">
                  <c:v>62850</c:v>
                </c:pt>
                <c:pt idx="3">
                  <c:v>62250</c:v>
                </c:pt>
                <c:pt idx="4">
                  <c:v>60950</c:v>
                </c:pt>
                <c:pt idx="5">
                  <c:v>59950</c:v>
                </c:pt>
                <c:pt idx="6">
                  <c:v>50750</c:v>
                </c:pt>
                <c:pt idx="7">
                  <c:v>49750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66650</c:v>
                </c:pt>
                <c:pt idx="1">
                  <c:v>66650</c:v>
                </c:pt>
                <c:pt idx="2">
                  <c:v>66650</c:v>
                </c:pt>
                <c:pt idx="3">
                  <c:v>66650</c:v>
                </c:pt>
                <c:pt idx="4">
                  <c:v>66650</c:v>
                </c:pt>
                <c:pt idx="5">
                  <c:v>66650</c:v>
                </c:pt>
                <c:pt idx="6">
                  <c:v>66650</c:v>
                </c:pt>
                <c:pt idx="7">
                  <c:v>66650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77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60500</c:v>
                </c:pt>
                <c:pt idx="1">
                  <c:v>59650</c:v>
                </c:pt>
                <c:pt idx="2">
                  <c:v>58750</c:v>
                </c:pt>
                <c:pt idx="3">
                  <c:v>60000</c:v>
                </c:pt>
                <c:pt idx="4">
                  <c:v>58900</c:v>
                </c:pt>
                <c:pt idx="5">
                  <c:v>57900</c:v>
                </c:pt>
                <c:pt idx="6">
                  <c:v>51000</c:v>
                </c:pt>
                <c:pt idx="7">
                  <c:v>49750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65650</c:v>
                </c:pt>
                <c:pt idx="1">
                  <c:v>62850</c:v>
                </c:pt>
                <c:pt idx="2">
                  <c:v>62100</c:v>
                </c:pt>
                <c:pt idx="3">
                  <c:v>61750</c:v>
                </c:pt>
                <c:pt idx="4">
                  <c:v>60700</c:v>
                </c:pt>
                <c:pt idx="5">
                  <c:v>59700</c:v>
                </c:pt>
                <c:pt idx="6">
                  <c:v>51250</c:v>
                </c:pt>
                <c:pt idx="7">
                  <c:v>49750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65650</c:v>
                </c:pt>
                <c:pt idx="1">
                  <c:v>65650</c:v>
                </c:pt>
                <c:pt idx="2">
                  <c:v>65650</c:v>
                </c:pt>
                <c:pt idx="3">
                  <c:v>65650</c:v>
                </c:pt>
                <c:pt idx="4">
                  <c:v>65650</c:v>
                </c:pt>
                <c:pt idx="5">
                  <c:v>65650</c:v>
                </c:pt>
                <c:pt idx="6">
                  <c:v>65650</c:v>
                </c:pt>
                <c:pt idx="7">
                  <c:v>65650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77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60500</c:v>
                </c:pt>
                <c:pt idx="1">
                  <c:v>59150</c:v>
                </c:pt>
                <c:pt idx="2">
                  <c:v>59000</c:v>
                </c:pt>
                <c:pt idx="3">
                  <c:v>60000</c:v>
                </c:pt>
                <c:pt idx="4">
                  <c:v>58900</c:v>
                </c:pt>
                <c:pt idx="5">
                  <c:v>57400</c:v>
                </c:pt>
                <c:pt idx="6">
                  <c:v>51900</c:v>
                </c:pt>
                <c:pt idx="7">
                  <c:v>51650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66150</c:v>
                </c:pt>
                <c:pt idx="1">
                  <c:v>62850</c:v>
                </c:pt>
                <c:pt idx="2">
                  <c:v>62850</c:v>
                </c:pt>
                <c:pt idx="3">
                  <c:v>62250</c:v>
                </c:pt>
                <c:pt idx="4">
                  <c:v>61200</c:v>
                </c:pt>
                <c:pt idx="5">
                  <c:v>59700</c:v>
                </c:pt>
                <c:pt idx="6">
                  <c:v>52150</c:v>
                </c:pt>
                <c:pt idx="7">
                  <c:v>51650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66150</c:v>
                </c:pt>
                <c:pt idx="1">
                  <c:v>66150</c:v>
                </c:pt>
                <c:pt idx="2">
                  <c:v>66150</c:v>
                </c:pt>
                <c:pt idx="3">
                  <c:v>66150</c:v>
                </c:pt>
                <c:pt idx="4">
                  <c:v>66150</c:v>
                </c:pt>
                <c:pt idx="5">
                  <c:v>66150</c:v>
                </c:pt>
                <c:pt idx="6">
                  <c:v>66150</c:v>
                </c:pt>
                <c:pt idx="7">
                  <c:v>66150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96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60000</c:v>
                </c:pt>
                <c:pt idx="1">
                  <c:v>59650</c:v>
                </c:pt>
                <c:pt idx="2">
                  <c:v>59000</c:v>
                </c:pt>
                <c:pt idx="3">
                  <c:v>60500</c:v>
                </c:pt>
                <c:pt idx="4">
                  <c:v>59400</c:v>
                </c:pt>
                <c:pt idx="5">
                  <c:v>57900</c:v>
                </c:pt>
                <c:pt idx="6">
                  <c:v>50500</c:v>
                </c:pt>
                <c:pt idx="7">
                  <c:v>49750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65650</c:v>
                </c:pt>
                <c:pt idx="1">
                  <c:v>63350</c:v>
                </c:pt>
                <c:pt idx="2">
                  <c:v>62850</c:v>
                </c:pt>
                <c:pt idx="3">
                  <c:v>62750</c:v>
                </c:pt>
                <c:pt idx="4">
                  <c:v>61700</c:v>
                </c:pt>
                <c:pt idx="5">
                  <c:v>60200</c:v>
                </c:pt>
                <c:pt idx="6">
                  <c:v>50750</c:v>
                </c:pt>
                <c:pt idx="7">
                  <c:v>49750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65650</c:v>
                </c:pt>
                <c:pt idx="1">
                  <c:v>65650</c:v>
                </c:pt>
                <c:pt idx="2">
                  <c:v>65650</c:v>
                </c:pt>
                <c:pt idx="3">
                  <c:v>65650</c:v>
                </c:pt>
                <c:pt idx="4">
                  <c:v>65650</c:v>
                </c:pt>
                <c:pt idx="5">
                  <c:v>65650</c:v>
                </c:pt>
                <c:pt idx="6">
                  <c:v>65650</c:v>
                </c:pt>
                <c:pt idx="7">
                  <c:v>65650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77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Distributor</c:v>
                </c:pt>
              </c:strCache>
            </c:strRef>
          </c:tx>
          <c:spPr>
            <a:solidFill>
              <a:srgbClr val="18489D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60500</c:v>
                </c:pt>
                <c:pt idx="1">
                  <c:v>60650</c:v>
                </c:pt>
                <c:pt idx="2">
                  <c:v>59000</c:v>
                </c:pt>
                <c:pt idx="3">
                  <c:v>61500</c:v>
                </c:pt>
                <c:pt idx="4">
                  <c:v>60400</c:v>
                </c:pt>
                <c:pt idx="5">
                  <c:v>58900</c:v>
                </c:pt>
                <c:pt idx="6">
                  <c:v>53500</c:v>
                </c:pt>
                <c:pt idx="7">
                  <c:v>50750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Dealer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66150</c:v>
                </c:pt>
                <c:pt idx="1">
                  <c:v>64350</c:v>
                </c:pt>
                <c:pt idx="2">
                  <c:v>62850</c:v>
                </c:pt>
                <c:pt idx="3">
                  <c:v>63750</c:v>
                </c:pt>
                <c:pt idx="4">
                  <c:v>62700</c:v>
                </c:pt>
                <c:pt idx="5">
                  <c:v>61200</c:v>
                </c:pt>
                <c:pt idx="6">
                  <c:v>51750</c:v>
                </c:pt>
                <c:pt idx="7">
                  <c:v>50750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TISCON Ref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TISCON</c:v>
                </c:pt>
                <c:pt idx="1">
                  <c:v>Neo</c:v>
                </c:pt>
                <c:pt idx="2">
                  <c:v>JSPL</c:v>
                </c:pt>
                <c:pt idx="3">
                  <c:v>SAIL</c:v>
                </c:pt>
                <c:pt idx="4">
                  <c:v>JSW One Fe 550D</c:v>
                </c:pt>
                <c:pt idx="5">
                  <c:v>JSW One Fe 550</c:v>
                </c:pt>
                <c:pt idx="6">
                  <c:v>Branded prem sec.</c:v>
                </c:pt>
                <c:pt idx="7">
                  <c:v>Steelmint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66150</c:v>
                </c:pt>
                <c:pt idx="1">
                  <c:v>66150</c:v>
                </c:pt>
                <c:pt idx="2">
                  <c:v>66150</c:v>
                </c:pt>
                <c:pt idx="3">
                  <c:v>66150</c:v>
                </c:pt>
                <c:pt idx="4">
                  <c:v>66150</c:v>
                </c:pt>
                <c:pt idx="5">
                  <c:v>66150</c:v>
                </c:pt>
                <c:pt idx="6">
                  <c:v>66150</c:v>
                </c:pt>
                <c:pt idx="7">
                  <c:v>66150</c:v>
                </c:pt>
              </c:numCache>
            </c:numRef>
          </c:val>
          <c:marker>
            <c:symbol val="none"/>
          </c:marker>
          <c:spPr>
            <a:noFill/>
            <a:ln w="19050">
              <a:solidFill>
                <a:srgbClr val="E8272A"/>
              </a:solidFill>
              <a:prstDash val="dash"/>
            </a:ln>
          </c:spPr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875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JSW ONE TMT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489D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Price Positioning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Brand-wise TMT Steel Prices — Distributor &amp; Dealer Level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March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Markets Covered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Delhi  •  Haryana  •  Jaipur (Rajasthan)  •  Kanpur (UP E+C)  •  Chandigarh  •  Ludhiana (Punjab)  •  Dehradun (Uttarakhand)  •  Shimla (H.P.)  •  Jammu (J&amp;K)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743200"/>
            <a:ext cx="292608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Severity Legend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182880" cy="164592"/>
          </a:xfrm>
          <a:prstGeom prst="rect">
            <a:avLst/>
          </a:prstGeom>
          <a:solidFill>
            <a:srgbClr val="05723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4652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Competitive: Gap ≤ ₹2,000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3474720"/>
            <a:ext cx="182880" cy="1645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46520" y="3447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Watch: Gap ₹2,001 – ₹4,000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182880" cy="164592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46520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Needed: Gap &gt; ₹4,000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0/10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Delhi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₹58,500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₹62,100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₹3,550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₹52,400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₹52,650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₹13,000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1/10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Haryana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₹7,000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₹52,400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₹52,650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₹13,000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2/10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Jaipur (Rajasthan)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₹66,150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₹58,750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₹62,600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₹3,550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₹59,250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₹61,500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₹4,650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₹52,400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₹49,550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₹16,600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₹48,550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₹48,550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₹17,600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3/10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Kanpur (UP E+C)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₹65,150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₹2,300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₹58,600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₹61,950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₹3,200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₹51,900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₹52,150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₹13,000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₹51,150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₹51,150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4/10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Chandigarh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₹66,650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₹3,800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₹60,950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₹5,700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₹60,950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₹5,700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₹57,650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₹59,950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₹6,700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₹50,500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₹50,750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₹15,900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₹5,700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₹60,950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₹66,650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2" name="Text 69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₹6,700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₹57,650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₹59,950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₹66,650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5/10</a:t>
            </a:r>
            <a:endParaRPr lang="en-US" sz="800" dirty="0"/>
          </a:p>
        </p:txBody>
      </p:sp>
      <p:graphicFrame>
        <p:nvGraphicFramePr>
          <p:cNvPr id="82" name="Chart 81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Ludhiana (Punjab)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₹59,650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₹58,750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₹62,100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₹3,550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₹51,000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₹51,250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₹14,400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₹15,900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6/10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Dehradun (Uttarakhand)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₹66,150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₹62,250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₹60,250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₹5,900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₹52,150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₹52,150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₹14,500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7/10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Shimla (H.P.)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₹59,650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₹63,350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₹2,300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₹59,600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₹6,200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₹50,500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₹50,650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₹15,000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₹15,900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₹6,200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8/10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Jammu (J&amp;K)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₹66,150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₹60,650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₹64,350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5723A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₹61,500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₹4,650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₹7,250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noFill/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₹51,500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₹51,500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₹14,650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₹16,400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₹3,450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₹60,400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₹62,700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▼ ₹7,250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9/10</a:t>
            </a:r>
            <a:endParaRPr lang="en-US" sz="800" dirty="0"/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617720" y="777240"/>
          <a:ext cx="429768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Trebuchet MS" pitchFamily="34" charset="-122"/>
                <a:cs typeface="Trebuchet MS" pitchFamily="34" charset="-120"/>
              </a:rPr>
              <a:t>Market × Brand Gap Heatmap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Dealer Level Gap vs TISCON (in ₹ thousands)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86868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840480"/>
            <a:ext cx="420624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3840480"/>
            <a:ext cx="54864" cy="914400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3886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489D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MARKETS NEEDING IMMEDIATE REALIGNMENT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Delhi, Haryana, Jaipur (Rajasthan), Kanpur (UP E+C), Chandigarh, Ludhiana (Punjab), Dehradun (Uttarakhand), Shimla (H.P.), Jammu (J&amp;K)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434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brands with &gt; ₹4,000 gap vs TISCON at dealer level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709160" y="3840480"/>
            <a:ext cx="420624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709160" y="3840480"/>
            <a:ext cx="54864" cy="914400"/>
          </a:xfrm>
          <a:prstGeom prst="rect">
            <a:avLst/>
          </a:prstGeom>
          <a:solidFill>
            <a:srgbClr val="05723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846320" y="3886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723A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MARKETS WHERE JSW IS MOST COMPETITIVE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4632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Jammu (J&amp;K)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4434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550D within ₹4,000 of TISCON at dealer level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286000" y="3657600"/>
            <a:ext cx="137160" cy="109728"/>
          </a:xfrm>
          <a:prstGeom prst="rect">
            <a:avLst/>
          </a:prstGeom>
          <a:solidFill>
            <a:srgbClr val="05723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468880" y="3621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Competitive (≤₹2K)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114800" y="3657600"/>
            <a:ext cx="137160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297680" y="3621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Watch (₹2K–₹4K)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943600" y="3657600"/>
            <a:ext cx="137160" cy="109728"/>
          </a:xfrm>
          <a:prstGeom prst="rect">
            <a:avLst/>
          </a:prstGeom>
          <a:solidFill>
            <a:srgbClr val="18489D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126480" y="3621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Action (&gt;₹4K)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JSW ONE TMT  |  Price Positioning  |  9th Mar '26  |  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TMT Price Positioning Dashboard - 9th Mar 2026</dc:title>
  <dc:subject>PptxGenJS Presentation</dc:subject>
  <dc:creator>JSW ONE TMT</dc:creator>
  <cp:lastModifiedBy>JSW ONE TMT</cp:lastModifiedBy>
  <cp:revision>1</cp:revision>
  <dcterms:created xsi:type="dcterms:W3CDTF">2026-03-10T05:33:43Z</dcterms:created>
  <dcterms:modified xsi:type="dcterms:W3CDTF">2026-03-10T05:33:43Z</dcterms:modified>
</cp:coreProperties>
</file>