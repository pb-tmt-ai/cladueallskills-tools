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BA9BEE-D52A-530F-B49F-9B814E0F433C}" name="Kunal Jani" initials="KJ" userId="S::kunal.jani@jsw.in::1a4d6989-6ea7-4c9b-af08-76f41b5aba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89D"/>
    <a:srgbClr val="4E95D9"/>
    <a:srgbClr val="DAF8FA"/>
    <a:srgbClr val="17489F"/>
    <a:srgbClr val="D9D9D9"/>
    <a:srgbClr val="B4E5A2"/>
    <a:srgbClr val="A4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867BB-97D7-A965-CC19-6E06D2544D4B}" v="12" dt="2026-03-09T05:31:59.801"/>
    <p1510:client id="{DEF88FC2-23E0-3B60-120F-9BA44EDD4B4A}" v="5" dt="2026-03-09T05:37:55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</c:v>
                </c:pt>
                <c:pt idx="1">
                  <c:v>59150</c:v>
                </c:pt>
                <c:pt idx="2">
                  <c:v>58500</c:v>
                </c:pt>
                <c:pt idx="3">
                  <c:v>59500</c:v>
                </c:pt>
                <c:pt idx="4">
                  <c:v>58400</c:v>
                </c:pt>
                <c:pt idx="5">
                  <c:v>57400</c:v>
                </c:pt>
                <c:pt idx="6">
                  <c:v>52400</c:v>
                </c:pt>
                <c:pt idx="7">
                  <c:v>51650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65650</c:v>
                </c:pt>
                <c:pt idx="1">
                  <c:v>62850</c:v>
                </c:pt>
                <c:pt idx="2">
                  <c:v>62100</c:v>
                </c:pt>
                <c:pt idx="3">
                  <c:v>61750</c:v>
                </c:pt>
                <c:pt idx="4">
                  <c:v>60700</c:v>
                </c:pt>
                <c:pt idx="5">
                  <c:v>59700</c:v>
                </c:pt>
                <c:pt idx="6">
                  <c:v>52650</c:v>
                </c:pt>
                <c:pt idx="7">
                  <c:v>51650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65650</c:v>
                </c:pt>
                <c:pt idx="1">
                  <c:v>65650</c:v>
                </c:pt>
                <c:pt idx="2">
                  <c:v>65650</c:v>
                </c:pt>
                <c:pt idx="3">
                  <c:v>65650</c:v>
                </c:pt>
                <c:pt idx="4">
                  <c:v>65650</c:v>
                </c:pt>
                <c:pt idx="5">
                  <c:v>65650</c:v>
                </c:pt>
                <c:pt idx="6">
                  <c:v>65650</c:v>
                </c:pt>
                <c:pt idx="7">
                  <c:v>65650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96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01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2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03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19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89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1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84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88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85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13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625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0" y="113917"/>
            <a:ext cx="12192000" cy="6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4038600" y="64928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 t="14568" b="80734"/>
          <a:stretch/>
        </p:blipFill>
        <p:spPr>
          <a:xfrm>
            <a:off x="0" y="712160"/>
            <a:ext cx="12192000" cy="151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66756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453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-section">
  <p:cSld name="Sub-section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57"/>
          <p:cNvPicPr preferRelativeResize="0"/>
          <p:nvPr/>
        </p:nvPicPr>
        <p:blipFill rotWithShape="1">
          <a:blip r:embed="rId2">
            <a:alphaModFix/>
          </a:blip>
          <a:srcRect t="14565" b="80734"/>
          <a:stretch/>
        </p:blipFill>
        <p:spPr>
          <a:xfrm>
            <a:off x="2" y="4160841"/>
            <a:ext cx="12192001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57"/>
          <p:cNvSpPr txBox="1">
            <a:spLocks noGrp="1"/>
          </p:cNvSpPr>
          <p:nvPr>
            <p:ph type="ftr" idx="11"/>
          </p:nvPr>
        </p:nvSpPr>
        <p:spPr>
          <a:xfrm>
            <a:off x="4038600" y="6492876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079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1"/>
          <p:cNvSpPr txBox="1">
            <a:spLocks noGrp="1"/>
          </p:cNvSpPr>
          <p:nvPr>
            <p:ph type="title"/>
          </p:nvPr>
        </p:nvSpPr>
        <p:spPr>
          <a:xfrm>
            <a:off x="335987" y="244243"/>
            <a:ext cx="1152002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sldNum" idx="12"/>
          </p:nvPr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6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25039"/>
            <a:ext cx="12192000" cy="151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53432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98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11" r:id="rId12"/>
    <p:sldLayoutId id="2147484038" r:id="rId13"/>
    <p:sldLayoutId id="2147484039" r:id="rId14"/>
    <p:sldLayoutId id="214748404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00" y="12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F7F7F"/>
                </a:solidFill>
                <a:latin typeface="Calibri"/>
              </a:rPr>
              <a:t>Delhi (DL)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0000" y="180000"/>
            <a:ext cx="3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E293B"/>
                </a:solidFill>
                <a:latin typeface="Calibri"/>
              </a:rPr>
              <a:t>As on 9th Mar'26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000" y="620000"/>
            <a:ext cx="11530000" cy="270000"/>
          </a:xfrm>
          <a:prstGeom prst="roundRect">
            <a:avLst>
              <a:gd name="adj" fmla="val 6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Brand Comparison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0000" y="940000"/>
          <a:ext cx="11530000" cy="202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2500000"/>
                <a:gridCol w="2500000"/>
                <a:gridCol w="3530000"/>
              </a:tblGrid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Distributor (Rs)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Dealer (Rs)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 vs TISCON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TISCON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65,650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05723A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/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Neo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59,150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62,850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Calibri"/>
                        </a:rPr>
                        <a:t>-2,800  Watch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JSPL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58,500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62,100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Calibri"/>
                        </a:rPr>
                        <a:t>-3,550  Watch</a:t>
                      </a:r>
                    </a:p>
                  </a:txBody>
                  <a:tcPr/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SAIL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59,500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61,750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Calibri"/>
                        </a:rPr>
                        <a:t>-3,900  Watch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JSW One Fe 550D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58,400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60,700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Calibri"/>
                        </a:rPr>
                        <a:t>-4,950  Action Needed</a:t>
                      </a:r>
                    </a:p>
                  </a:txBody>
                  <a:tcPr/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JSW One Fe 550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57,400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59,700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Calibri"/>
                        </a:rPr>
                        <a:t>-5,950  Action Needed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Branded prem sec.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52,400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52,650</a:t>
                      </a:r>
                    </a:p>
                  </a:txBody>
                  <a:tcPr/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Calibri"/>
                        </a:rPr>
                        <a:t>-13,000  Action Needed</a:t>
                      </a:r>
                    </a:p>
                  </a:txBody>
                  <a:tcPr/>
                </a:tc>
              </a:tr>
              <a:tr h="225000"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Steelmint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51,650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51,650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Calibri"/>
                        </a:rPr>
                        <a:t>-14,000  Action Needed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30000" y="3045000"/>
            <a:ext cx="11530000" cy="270000"/>
          </a:xfrm>
          <a:prstGeom prst="roundRect">
            <a:avLst>
              <a:gd name="adj" fmla="val 6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Price Comparison &amp; JSW Spotlight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30000" y="3370000"/>
          <a:ext cx="7200000" cy="25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30000" y="3370000"/>
            <a:ext cx="4130000" cy="270000"/>
          </a:xfrm>
          <a:prstGeom prst="roundRect">
            <a:avLst>
              <a:gd name="adj" fmla="val 6000"/>
            </a:avLst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JSW Brands Spotlight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30000" y="3700000"/>
            <a:ext cx="4130000" cy="10500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50000" rIns="80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 550D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Gap vs TISCON: -4,950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Calibri"/>
              </a:rPr>
              <a:t>Distr: 58,400  |  Dealer: 60,700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STATUS: ACTION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30000" y="4850000"/>
            <a:ext cx="4130000" cy="10500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50000" rIns="80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 550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Gap vs TISCON: -5,950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Calibri"/>
              </a:rPr>
              <a:t>Distr: 57,400  |  Dealer: 59,700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STATUS: ACTION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050000"/>
            <a:ext cx="12192000" cy="420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0" tIns="500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Delhi (DL): Fe 550 at -5,950 vs TISCON  |  ACTION NEEDED — pricing realignment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CC3B6E-CDCE-43D3-BFE2-4E8AB6FE20F3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xmlns=""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585</Words>
  <Application>Microsoft Office PowerPoint</Application>
  <PresentationFormat>Widescreen</PresentationFormat>
  <Paragraphs>102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AOP Building blocks: Private brands</dc:title>
  <dc:creator/>
  <cp:lastModifiedBy>Siddharth Jain</cp:lastModifiedBy>
  <cp:revision>5</cp:revision>
  <dcterms:created xsi:type="dcterms:W3CDTF">2026-02-23T14:26:52Z</dcterms:created>
  <dcterms:modified xsi:type="dcterms:W3CDTF">2026-03-09T13:42:30Z</dcterms:modified>
</cp:coreProperties>
</file>